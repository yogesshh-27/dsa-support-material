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257" r:id="rId3"/>
    <p:sldId id="280" r:id="rId4"/>
    <p:sldId id="279" r:id="rId5"/>
    <p:sldId id="277" r:id="rId6"/>
    <p:sldId id="258" r:id="rId7"/>
    <p:sldId id="272" r:id="rId8"/>
    <p:sldId id="276" r:id="rId9"/>
    <p:sldId id="282" r:id="rId10"/>
    <p:sldId id="287" r:id="rId11"/>
    <p:sldId id="288" r:id="rId12"/>
    <p:sldId id="289" r:id="rId13"/>
    <p:sldId id="290" r:id="rId14"/>
    <p:sldId id="291" r:id="rId15"/>
    <p:sldId id="308" r:id="rId16"/>
    <p:sldId id="309" r:id="rId17"/>
    <p:sldId id="292" r:id="rId18"/>
    <p:sldId id="283" r:id="rId19"/>
    <p:sldId id="286" r:id="rId20"/>
    <p:sldId id="285" r:id="rId21"/>
    <p:sldId id="284" r:id="rId22"/>
    <p:sldId id="275" r:id="rId23"/>
    <p:sldId id="281" r:id="rId24"/>
    <p:sldId id="278" r:id="rId25"/>
    <p:sldId id="274" r:id="rId26"/>
    <p:sldId id="273" r:id="rId27"/>
    <p:sldId id="271" r:id="rId28"/>
    <p:sldId id="270" r:id="rId29"/>
    <p:sldId id="269" r:id="rId30"/>
    <p:sldId id="268" r:id="rId31"/>
    <p:sldId id="263" r:id="rId32"/>
    <p:sldId id="267" r:id="rId33"/>
    <p:sldId id="266" r:id="rId34"/>
    <p:sldId id="306" r:id="rId35"/>
    <p:sldId id="301" r:id="rId36"/>
    <p:sldId id="339" r:id="rId37"/>
    <p:sldId id="293" r:id="rId38"/>
    <p:sldId id="295" r:id="rId39"/>
    <p:sldId id="294" r:id="rId40"/>
    <p:sldId id="262" r:id="rId41"/>
    <p:sldId id="261" r:id="rId42"/>
    <p:sldId id="260" r:id="rId43"/>
    <p:sldId id="307" r:id="rId44"/>
    <p:sldId id="317" r:id="rId45"/>
    <p:sldId id="318" r:id="rId46"/>
    <p:sldId id="320" r:id="rId47"/>
    <p:sldId id="321" r:id="rId48"/>
    <p:sldId id="322" r:id="rId49"/>
    <p:sldId id="325" r:id="rId50"/>
    <p:sldId id="324" r:id="rId51"/>
    <p:sldId id="323" r:id="rId52"/>
    <p:sldId id="328" r:id="rId53"/>
    <p:sldId id="327" r:id="rId54"/>
    <p:sldId id="326" r:id="rId55"/>
    <p:sldId id="329" r:id="rId56"/>
    <p:sldId id="330" r:id="rId57"/>
    <p:sldId id="331" r:id="rId58"/>
    <p:sldId id="340" r:id="rId59"/>
    <p:sldId id="342" r:id="rId60"/>
    <p:sldId id="343" r:id="rId61"/>
    <p:sldId id="332" r:id="rId62"/>
    <p:sldId id="333" r:id="rId63"/>
    <p:sldId id="336" r:id="rId64"/>
    <p:sldId id="335" r:id="rId65"/>
    <p:sldId id="334" r:id="rId66"/>
    <p:sldId id="337" r:id="rId67"/>
    <p:sldId id="344" r:id="rId68"/>
    <p:sldId id="345" r:id="rId69"/>
    <p:sldId id="346" r:id="rId70"/>
    <p:sldId id="338" r:id="rId71"/>
    <p:sldId id="310" r:id="rId72"/>
    <p:sldId id="311" r:id="rId73"/>
    <p:sldId id="312" r:id="rId74"/>
    <p:sldId id="313" r:id="rId75"/>
    <p:sldId id="314" r:id="rId76"/>
    <p:sldId id="315" r:id="rId77"/>
    <p:sldId id="31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4" d="100"/>
          <a:sy n="84" d="100"/>
        </p:scale>
        <p:origin x="4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1" qsCatId="simple" csTypeId="urn:microsoft.com/office/officeart/2005/8/colors/accent1_2#1" csCatId="accent1" phldr="1"/>
      <dgm:spPr/>
      <dgm:t>
        <a:bodyPr/>
        <a:lstStyle/>
        <a:p>
          <a:endParaRPr lang="en-US"/>
        </a:p>
      </dgm:t>
    </dgm:pt>
    <dgm:pt modelId="{2852B10B-00B9-451F-A96F-1537BD3BDF24}">
      <dgm:prSet phldrT="[Text]"/>
      <dgm:spPr/>
      <dgm:t>
        <a:bodyPr/>
        <a:lstStyle/>
        <a:p>
          <a:r>
            <a:rPr lang="en-US" b="1" dirty="0"/>
            <a:t>COMPUTER SCIENCE AND INFORMATION TECHNOLOGY</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OPTIMIZATION:</a:t>
          </a:r>
          <a:r>
            <a:rPr lang="en-US" b="1" dirty="0"/>
            <a:t> Enhancing performance of software and hardware through efficient algorithms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DATABASE MANAGEMENT: </a:t>
          </a:r>
          <a:r>
            <a:rPr lang="en-US" b="1" dirty="0"/>
            <a:t>Use data structure like B-tree and hashing for efficient data storage and retrieval.</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NETWORKING: </a:t>
          </a:r>
          <a:r>
            <a:rPr lang="en-US" b="1" dirty="0"/>
            <a:t>Algorithms for routing, data compression and error detection.</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OPERATING SYSTEM: </a:t>
          </a:r>
          <a:r>
            <a:rPr lang="en-US" b="1" dirty="0"/>
            <a:t>Implementation of scheduling algorithm, memory management and file management. </a:t>
          </a:r>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779741" y="-779741"/>
          <a:ext cx="2364817" cy="3924300"/>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OPTIMIZATION:</a:t>
          </a:r>
          <a:r>
            <a:rPr lang="en-US" sz="1900" b="1" kern="1200" dirty="0"/>
            <a:t> Enhancing performance of software and hardware through efficient algorithms</a:t>
          </a:r>
          <a:endParaRPr lang="en-US" sz="1900" kern="1200" dirty="0"/>
        </a:p>
      </dsp:txBody>
      <dsp:txXfrm rot="5400000">
        <a:off x="-1" y="1"/>
        <a:ext cx="3924300" cy="1773612"/>
      </dsp:txXfrm>
    </dsp:sp>
    <dsp:sp modelId="{5C900078-3CD9-46D7-A69F-4C1815AE860B}">
      <dsp:nvSpPr>
        <dsp:cNvPr id="0" name=""/>
        <dsp:cNvSpPr/>
      </dsp:nvSpPr>
      <dsp:spPr>
        <a:xfrm>
          <a:off x="3924300" y="0"/>
          <a:ext cx="3924300" cy="236481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DATABASE MANAGEMENT: </a:t>
          </a:r>
          <a:r>
            <a:rPr lang="en-US" sz="1900" b="1" kern="1200" dirty="0"/>
            <a:t>Use data structure like B-tree and hashing for efficient data storage and retrieval.</a:t>
          </a:r>
          <a:endParaRPr lang="en-US" sz="1900" kern="1200" dirty="0"/>
        </a:p>
      </dsp:txBody>
      <dsp:txXfrm>
        <a:off x="3924300" y="0"/>
        <a:ext cx="3924300" cy="1773612"/>
      </dsp:txXfrm>
    </dsp:sp>
    <dsp:sp modelId="{4C496C99-D86F-4E04-941C-A5FE406D7FCC}">
      <dsp:nvSpPr>
        <dsp:cNvPr id="0" name=""/>
        <dsp:cNvSpPr/>
      </dsp:nvSpPr>
      <dsp:spPr>
        <a:xfrm rot="10800000">
          <a:off x="0" y="2364817"/>
          <a:ext cx="3924300" cy="236481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NETWORKING: </a:t>
          </a:r>
          <a:r>
            <a:rPr lang="en-US" sz="1900" b="1" kern="1200" dirty="0"/>
            <a:t>Algorithms for routing, data compression and error detection.</a:t>
          </a:r>
        </a:p>
      </dsp:txBody>
      <dsp:txXfrm rot="10800000">
        <a:off x="0" y="2956021"/>
        <a:ext cx="3924300" cy="1773612"/>
      </dsp:txXfrm>
    </dsp:sp>
    <dsp:sp modelId="{93903204-2F7A-4394-A19A-33A5726AFA76}">
      <dsp:nvSpPr>
        <dsp:cNvPr id="0" name=""/>
        <dsp:cNvSpPr/>
      </dsp:nvSpPr>
      <dsp:spPr>
        <a:xfrm rot="5400000">
          <a:off x="4704042" y="1585075"/>
          <a:ext cx="2364817" cy="3924300"/>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OPERATING SYSTEM: </a:t>
          </a:r>
          <a:r>
            <a:rPr lang="en-US" sz="1900" b="1" kern="1200" dirty="0"/>
            <a:t>Implementation of scheduling algorithm, memory management and file management. </a:t>
          </a:r>
        </a:p>
      </dsp:txBody>
      <dsp:txXfrm rot="-5400000">
        <a:off x="3924300" y="2956021"/>
        <a:ext cx="3924300" cy="1773612"/>
      </dsp:txXfrm>
    </dsp:sp>
    <dsp:sp modelId="{63A8F6F2-A05F-43B9-AC56-57482BCE9428}">
      <dsp:nvSpPr>
        <dsp:cNvPr id="0" name=""/>
        <dsp:cNvSpPr/>
      </dsp:nvSpPr>
      <dsp:spPr>
        <a:xfrm>
          <a:off x="2747010" y="1773612"/>
          <a:ext cx="2354580" cy="1182408"/>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COMPUTER SCIENCE AND INFORMATION TECHNOLOGY</a:t>
          </a:r>
        </a:p>
      </dsp:txBody>
      <dsp:txXfrm>
        <a:off x="2804730" y="1831332"/>
        <a:ext cx="2239140" cy="1066968"/>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637D41-3546-4F26-BB51-2CC9B2D2319A}"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55DE4-7432-4002-9AAD-BCE688DBE5DF}" type="slidenum">
              <a:rPr lang="en-US" smtClean="0"/>
              <a:t>‹#›</a:t>
            </a:fld>
            <a:endParaRPr lang="en-US"/>
          </a:p>
        </p:txBody>
      </p:sp>
    </p:spTree>
    <p:extLst>
      <p:ext uri="{BB962C8B-B14F-4D97-AF65-F5344CB8AC3E}">
        <p14:creationId xmlns:p14="http://schemas.microsoft.com/office/powerpoint/2010/main" val="2944290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0912-E82D-425B-4079-8022344B08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ED2A18-96CF-68B9-4AB2-A0FEFA400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B0A067-F504-2F2B-0C5F-E9E0DEB9AFC0}"/>
              </a:ext>
            </a:extLst>
          </p:cNvPr>
          <p:cNvSpPr>
            <a:spLocks noGrp="1"/>
          </p:cNvSpPr>
          <p:nvPr>
            <p:ph type="dt" sz="half" idx="10"/>
          </p:nvPr>
        </p:nvSpPr>
        <p:spPr/>
        <p:txBody>
          <a:bodyPr/>
          <a:lstStyle/>
          <a:p>
            <a:fld id="{732F47BC-0185-4D15-9BF4-F2F5AF20C1F0}" type="datetime1">
              <a:rPr lang="en-US" smtClean="0"/>
              <a:t>9/28/2026</a:t>
            </a:fld>
            <a:endParaRPr lang="en-US"/>
          </a:p>
        </p:txBody>
      </p:sp>
      <p:sp>
        <p:nvSpPr>
          <p:cNvPr id="5" name="Footer Placeholder 4">
            <a:extLst>
              <a:ext uri="{FF2B5EF4-FFF2-40B4-BE49-F238E27FC236}">
                <a16:creationId xmlns:a16="http://schemas.microsoft.com/office/drawing/2014/main" id="{72C30EF4-F2A2-2A42-FAF5-EB6C9F5FA86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9FE23D9-BA67-D970-D1C9-69129DD64CED}"/>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141154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B864B-A132-4A65-B378-E43C49BC9E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A8044D-B643-7B74-37BC-8085A2B2EF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361751-56FC-3AA5-183C-2B737396DE9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D96620BD-0119-4C16-FAE7-E16DF63ED53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B4D90C7-DB87-D2FE-EFEF-2A16EAD20B61}"/>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655134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0AFF-CE33-50AD-8929-92269430B7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A205AF-ACCF-DCF4-A47A-35C39E0D9C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E7001-2C6E-939C-FAA3-4B7C7403A4C5}"/>
              </a:ext>
            </a:extLst>
          </p:cNvPr>
          <p:cNvSpPr>
            <a:spLocks noGrp="1"/>
          </p:cNvSpPr>
          <p:nvPr>
            <p:ph type="dt" sz="half" idx="10"/>
          </p:nvPr>
        </p:nvSpPr>
        <p:spPr/>
        <p:txBody>
          <a:bodyPr/>
          <a:lstStyle/>
          <a:p>
            <a:fld id="{7711B8C2-CD2A-42E8-B205-46F21D5B4847}" type="datetime1">
              <a:rPr lang="en-US" smtClean="0"/>
              <a:t>9/28/2026</a:t>
            </a:fld>
            <a:endParaRPr lang="en-US"/>
          </a:p>
        </p:txBody>
      </p:sp>
      <p:sp>
        <p:nvSpPr>
          <p:cNvPr id="5" name="Footer Placeholder 4">
            <a:extLst>
              <a:ext uri="{FF2B5EF4-FFF2-40B4-BE49-F238E27FC236}">
                <a16:creationId xmlns:a16="http://schemas.microsoft.com/office/drawing/2014/main" id="{19F16C47-DDAF-BFD5-67D7-52C86A35FA9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49D80F8-E454-9D4C-7017-250D383EB6AC}"/>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29899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919A5-93D9-B010-BE35-0BE49B9EB9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AF5D6-367A-3BB9-F54E-88746771FD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1043D8-70B5-F8DE-DF40-89567D0E49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325107-9158-93D6-36A5-33AB86EFB692}"/>
              </a:ext>
            </a:extLst>
          </p:cNvPr>
          <p:cNvSpPr>
            <a:spLocks noGrp="1"/>
          </p:cNvSpPr>
          <p:nvPr>
            <p:ph type="dt" sz="half" idx="10"/>
          </p:nvPr>
        </p:nvSpPr>
        <p:spPr/>
        <p:txBody>
          <a:bodyPr/>
          <a:lstStyle/>
          <a:p>
            <a:fld id="{1D47C878-3475-4307-AEDE-8B05E0050F24}" type="datetime1">
              <a:rPr lang="en-US" smtClean="0"/>
              <a:t>9/28/2026</a:t>
            </a:fld>
            <a:endParaRPr lang="en-US"/>
          </a:p>
        </p:txBody>
      </p:sp>
      <p:sp>
        <p:nvSpPr>
          <p:cNvPr id="6" name="Footer Placeholder 5">
            <a:extLst>
              <a:ext uri="{FF2B5EF4-FFF2-40B4-BE49-F238E27FC236}">
                <a16:creationId xmlns:a16="http://schemas.microsoft.com/office/drawing/2014/main" id="{84CB377E-9DB3-A2C3-A090-DB9E831930AE}"/>
              </a:ext>
            </a:extLst>
          </p:cNvPr>
          <p:cNvSpPr>
            <a:spLocks noGrp="1"/>
          </p:cNvSpPr>
          <p:nvPr>
            <p:ph type="ftr" sz="quarter" idx="11"/>
          </p:nvPr>
        </p:nvSpPr>
        <p:spPr/>
        <p:txBody>
          <a:bodyPr/>
          <a:lstStyle/>
          <a:p>
            <a:r>
              <a:rPr lang="en-US"/>
              <a:t>Dr. Amba Mishra    DSA-II Unit-3</a:t>
            </a:r>
          </a:p>
        </p:txBody>
      </p:sp>
      <p:sp>
        <p:nvSpPr>
          <p:cNvPr id="7" name="Slide Number Placeholder 6">
            <a:extLst>
              <a:ext uri="{FF2B5EF4-FFF2-40B4-BE49-F238E27FC236}">
                <a16:creationId xmlns:a16="http://schemas.microsoft.com/office/drawing/2014/main" id="{3491BC86-819E-6CFB-90CC-A8A1D9CF4753}"/>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2291574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9F92-400A-7DC2-46BE-02864BF039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E66813-D695-6649-055E-9381A9628C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29F328-81C5-13B0-A343-85C08FDA52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069E7E-FCC5-9132-E6F8-DCB2DE61A8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564481-E3BA-33E0-0A0F-9C29AEB5BA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B20774-5628-4380-4681-A80C7B941C32}"/>
              </a:ext>
            </a:extLst>
          </p:cNvPr>
          <p:cNvSpPr>
            <a:spLocks noGrp="1"/>
          </p:cNvSpPr>
          <p:nvPr>
            <p:ph type="dt" sz="half" idx="10"/>
          </p:nvPr>
        </p:nvSpPr>
        <p:spPr/>
        <p:txBody>
          <a:bodyPr/>
          <a:lstStyle/>
          <a:p>
            <a:fld id="{9C6C62B9-A68A-47FE-B0EB-931896D21DB6}" type="datetime1">
              <a:rPr lang="en-US" smtClean="0"/>
              <a:t>9/28/2026</a:t>
            </a:fld>
            <a:endParaRPr lang="en-US"/>
          </a:p>
        </p:txBody>
      </p:sp>
      <p:sp>
        <p:nvSpPr>
          <p:cNvPr id="8" name="Footer Placeholder 7">
            <a:extLst>
              <a:ext uri="{FF2B5EF4-FFF2-40B4-BE49-F238E27FC236}">
                <a16:creationId xmlns:a16="http://schemas.microsoft.com/office/drawing/2014/main" id="{49875F43-F091-84B5-37A6-8258EECFBB03}"/>
              </a:ext>
            </a:extLst>
          </p:cNvPr>
          <p:cNvSpPr>
            <a:spLocks noGrp="1"/>
          </p:cNvSpPr>
          <p:nvPr>
            <p:ph type="ftr" sz="quarter" idx="11"/>
          </p:nvPr>
        </p:nvSpPr>
        <p:spPr/>
        <p:txBody>
          <a:bodyPr/>
          <a:lstStyle/>
          <a:p>
            <a:r>
              <a:rPr lang="en-US"/>
              <a:t>Dr. Amba Mishra    DSA-II Unit-3</a:t>
            </a:r>
          </a:p>
        </p:txBody>
      </p:sp>
      <p:sp>
        <p:nvSpPr>
          <p:cNvPr id="9" name="Slide Number Placeholder 8">
            <a:extLst>
              <a:ext uri="{FF2B5EF4-FFF2-40B4-BE49-F238E27FC236}">
                <a16:creationId xmlns:a16="http://schemas.microsoft.com/office/drawing/2014/main" id="{E1A47861-2C4C-37BB-7F7C-0C1845838C62}"/>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1845127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C4D3-8929-DC3B-40F8-C91F72D9F5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21D64B-E433-B9AC-9322-4F96B85B1170}"/>
              </a:ext>
            </a:extLst>
          </p:cNvPr>
          <p:cNvSpPr>
            <a:spLocks noGrp="1"/>
          </p:cNvSpPr>
          <p:nvPr>
            <p:ph type="dt" sz="half" idx="10"/>
          </p:nvPr>
        </p:nvSpPr>
        <p:spPr/>
        <p:txBody>
          <a:bodyPr/>
          <a:lstStyle/>
          <a:p>
            <a:fld id="{86DD3A16-EE31-43F3-A432-095BD9126CEE}" type="datetime1">
              <a:rPr lang="en-US" smtClean="0"/>
              <a:t>9/28/2026</a:t>
            </a:fld>
            <a:endParaRPr lang="en-US"/>
          </a:p>
        </p:txBody>
      </p:sp>
      <p:sp>
        <p:nvSpPr>
          <p:cNvPr id="4" name="Footer Placeholder 3">
            <a:extLst>
              <a:ext uri="{FF2B5EF4-FFF2-40B4-BE49-F238E27FC236}">
                <a16:creationId xmlns:a16="http://schemas.microsoft.com/office/drawing/2014/main" id="{7F567CF6-8267-78A1-AB31-EA2B317E5044}"/>
              </a:ext>
            </a:extLst>
          </p:cNvPr>
          <p:cNvSpPr>
            <a:spLocks noGrp="1"/>
          </p:cNvSpPr>
          <p:nvPr>
            <p:ph type="ftr" sz="quarter" idx="11"/>
          </p:nvPr>
        </p:nvSpPr>
        <p:spPr/>
        <p:txBody>
          <a:bodyPr/>
          <a:lstStyle/>
          <a:p>
            <a:r>
              <a:rPr lang="en-US"/>
              <a:t>Dr. Amba Mishra    DSA-II Unit-3</a:t>
            </a:r>
          </a:p>
        </p:txBody>
      </p:sp>
      <p:sp>
        <p:nvSpPr>
          <p:cNvPr id="5" name="Slide Number Placeholder 4">
            <a:extLst>
              <a:ext uri="{FF2B5EF4-FFF2-40B4-BE49-F238E27FC236}">
                <a16:creationId xmlns:a16="http://schemas.microsoft.com/office/drawing/2014/main" id="{1CE0D9EB-AFF6-4577-92A1-B09752ADFDEC}"/>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2374367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4F82F7-171E-B609-D320-2EF0B470DE11}"/>
              </a:ext>
            </a:extLst>
          </p:cNvPr>
          <p:cNvSpPr>
            <a:spLocks noGrp="1"/>
          </p:cNvSpPr>
          <p:nvPr>
            <p:ph type="dt" sz="half" idx="10"/>
          </p:nvPr>
        </p:nvSpPr>
        <p:spPr/>
        <p:txBody>
          <a:bodyPr/>
          <a:lstStyle/>
          <a:p>
            <a:fld id="{4ED2935A-3B4F-4182-8BC7-97668405AB88}" type="datetime1">
              <a:rPr lang="en-US" smtClean="0"/>
              <a:t>9/28/2026</a:t>
            </a:fld>
            <a:endParaRPr lang="en-US"/>
          </a:p>
        </p:txBody>
      </p:sp>
      <p:sp>
        <p:nvSpPr>
          <p:cNvPr id="3" name="Footer Placeholder 2">
            <a:extLst>
              <a:ext uri="{FF2B5EF4-FFF2-40B4-BE49-F238E27FC236}">
                <a16:creationId xmlns:a16="http://schemas.microsoft.com/office/drawing/2014/main" id="{0113396A-2273-5DEC-51E8-B2B8D532C534}"/>
              </a:ext>
            </a:extLst>
          </p:cNvPr>
          <p:cNvSpPr>
            <a:spLocks noGrp="1"/>
          </p:cNvSpPr>
          <p:nvPr>
            <p:ph type="ftr" sz="quarter" idx="11"/>
          </p:nvPr>
        </p:nvSpPr>
        <p:spPr/>
        <p:txBody>
          <a:bodyPr/>
          <a:lstStyle/>
          <a:p>
            <a:r>
              <a:rPr lang="en-US"/>
              <a:t>Dr. Amba Mishra    DSA-II Unit-3</a:t>
            </a:r>
          </a:p>
        </p:txBody>
      </p:sp>
      <p:sp>
        <p:nvSpPr>
          <p:cNvPr id="4" name="Slide Number Placeholder 3">
            <a:extLst>
              <a:ext uri="{FF2B5EF4-FFF2-40B4-BE49-F238E27FC236}">
                <a16:creationId xmlns:a16="http://schemas.microsoft.com/office/drawing/2014/main" id="{2393C26C-2683-3385-8DE2-BAF8FF488153}"/>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4011530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6142-4A7E-CAAF-EE9C-6BBBA941B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D13C32-8C94-57A5-C4C5-723DC7AD3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9087A40-B9F6-9877-7FC3-30DDB384F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8F8655-703C-EB99-8410-813C45046956}"/>
              </a:ext>
            </a:extLst>
          </p:cNvPr>
          <p:cNvSpPr>
            <a:spLocks noGrp="1"/>
          </p:cNvSpPr>
          <p:nvPr>
            <p:ph type="dt" sz="half" idx="10"/>
          </p:nvPr>
        </p:nvSpPr>
        <p:spPr/>
        <p:txBody>
          <a:bodyPr/>
          <a:lstStyle/>
          <a:p>
            <a:fld id="{A5826B73-3041-4642-BFCB-C7A533DF2A26}" type="datetime1">
              <a:rPr lang="en-US" smtClean="0"/>
              <a:t>9/28/2026</a:t>
            </a:fld>
            <a:endParaRPr lang="en-US"/>
          </a:p>
        </p:txBody>
      </p:sp>
      <p:sp>
        <p:nvSpPr>
          <p:cNvPr id="6" name="Footer Placeholder 5">
            <a:extLst>
              <a:ext uri="{FF2B5EF4-FFF2-40B4-BE49-F238E27FC236}">
                <a16:creationId xmlns:a16="http://schemas.microsoft.com/office/drawing/2014/main" id="{D065DCA8-1C43-1C66-1213-B1F5EE2C9263}"/>
              </a:ext>
            </a:extLst>
          </p:cNvPr>
          <p:cNvSpPr>
            <a:spLocks noGrp="1"/>
          </p:cNvSpPr>
          <p:nvPr>
            <p:ph type="ftr" sz="quarter" idx="11"/>
          </p:nvPr>
        </p:nvSpPr>
        <p:spPr/>
        <p:txBody>
          <a:bodyPr/>
          <a:lstStyle/>
          <a:p>
            <a:r>
              <a:rPr lang="en-US"/>
              <a:t>Dr. Amba Mishra    DSA-II Unit-3</a:t>
            </a:r>
          </a:p>
        </p:txBody>
      </p:sp>
      <p:sp>
        <p:nvSpPr>
          <p:cNvPr id="7" name="Slide Number Placeholder 6">
            <a:extLst>
              <a:ext uri="{FF2B5EF4-FFF2-40B4-BE49-F238E27FC236}">
                <a16:creationId xmlns:a16="http://schemas.microsoft.com/office/drawing/2014/main" id="{813E925A-4BAC-BB22-DD8B-B71A2A51A20E}"/>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880643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4C2B-26A7-F380-3D3F-C84DC6001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A4B3B1-81E6-FBF7-C648-28926FF5D6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F83BB0-3A45-E026-9F23-184314B041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5572CE-7B08-DD7D-382B-4A0F0540E368}"/>
              </a:ext>
            </a:extLst>
          </p:cNvPr>
          <p:cNvSpPr>
            <a:spLocks noGrp="1"/>
          </p:cNvSpPr>
          <p:nvPr>
            <p:ph type="dt" sz="half" idx="10"/>
          </p:nvPr>
        </p:nvSpPr>
        <p:spPr/>
        <p:txBody>
          <a:bodyPr/>
          <a:lstStyle/>
          <a:p>
            <a:fld id="{D580C7BC-48DA-4F36-8E83-13A84EC5B561}" type="datetime1">
              <a:rPr lang="en-US" smtClean="0"/>
              <a:t>9/28/2026</a:t>
            </a:fld>
            <a:endParaRPr lang="en-US"/>
          </a:p>
        </p:txBody>
      </p:sp>
      <p:sp>
        <p:nvSpPr>
          <p:cNvPr id="6" name="Footer Placeholder 5">
            <a:extLst>
              <a:ext uri="{FF2B5EF4-FFF2-40B4-BE49-F238E27FC236}">
                <a16:creationId xmlns:a16="http://schemas.microsoft.com/office/drawing/2014/main" id="{2D79EEE5-8749-7447-6DFB-3FE22C90080D}"/>
              </a:ext>
            </a:extLst>
          </p:cNvPr>
          <p:cNvSpPr>
            <a:spLocks noGrp="1"/>
          </p:cNvSpPr>
          <p:nvPr>
            <p:ph type="ftr" sz="quarter" idx="11"/>
          </p:nvPr>
        </p:nvSpPr>
        <p:spPr/>
        <p:txBody>
          <a:bodyPr/>
          <a:lstStyle/>
          <a:p>
            <a:r>
              <a:rPr lang="en-US"/>
              <a:t>Dr. Amba Mishra    DSA-II Unit-3</a:t>
            </a:r>
          </a:p>
        </p:txBody>
      </p:sp>
      <p:sp>
        <p:nvSpPr>
          <p:cNvPr id="7" name="Slide Number Placeholder 6">
            <a:extLst>
              <a:ext uri="{FF2B5EF4-FFF2-40B4-BE49-F238E27FC236}">
                <a16:creationId xmlns:a16="http://schemas.microsoft.com/office/drawing/2014/main" id="{2854CF26-1224-9434-1F22-E80C17CF80F0}"/>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76667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C886F-D616-AE3F-9CD7-D58E43BEE1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CFC023-8A84-F831-A5C7-557EE341D6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278EF2-2984-064B-C943-49F6C448E144}"/>
              </a:ext>
            </a:extLst>
          </p:cNvPr>
          <p:cNvSpPr>
            <a:spLocks noGrp="1"/>
          </p:cNvSpPr>
          <p:nvPr>
            <p:ph type="dt" sz="half" idx="10"/>
          </p:nvPr>
        </p:nvSpPr>
        <p:spPr/>
        <p:txBody>
          <a:bodyPr/>
          <a:lstStyle/>
          <a:p>
            <a:fld id="{71E41A34-4596-4AF9-8B88-39774FC9D3B2}" type="datetime1">
              <a:rPr lang="en-US" smtClean="0"/>
              <a:t>9/28/2026</a:t>
            </a:fld>
            <a:endParaRPr lang="en-US"/>
          </a:p>
        </p:txBody>
      </p:sp>
      <p:sp>
        <p:nvSpPr>
          <p:cNvPr id="5" name="Footer Placeholder 4">
            <a:extLst>
              <a:ext uri="{FF2B5EF4-FFF2-40B4-BE49-F238E27FC236}">
                <a16:creationId xmlns:a16="http://schemas.microsoft.com/office/drawing/2014/main" id="{C7C974D2-2EC4-2AAF-5E38-45FD490B1D4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4A60E44-8D88-C27E-DCE3-11356F671535}"/>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1691028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200E78-172E-B3D4-C8D3-286247CE54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FDFF3D-64FA-B16B-928D-D9F64E6F8D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082C2-8102-938E-722E-7DF7721D83C4}"/>
              </a:ext>
            </a:extLst>
          </p:cNvPr>
          <p:cNvSpPr>
            <a:spLocks noGrp="1"/>
          </p:cNvSpPr>
          <p:nvPr>
            <p:ph type="dt" sz="half" idx="10"/>
          </p:nvPr>
        </p:nvSpPr>
        <p:spPr/>
        <p:txBody>
          <a:bodyPr/>
          <a:lstStyle/>
          <a:p>
            <a:fld id="{D5DA657E-FED1-4522-B96B-0F6686CC6D80}" type="datetime1">
              <a:rPr lang="en-US" smtClean="0"/>
              <a:t>9/28/2026</a:t>
            </a:fld>
            <a:endParaRPr lang="en-US"/>
          </a:p>
        </p:txBody>
      </p:sp>
      <p:sp>
        <p:nvSpPr>
          <p:cNvPr id="5" name="Footer Placeholder 4">
            <a:extLst>
              <a:ext uri="{FF2B5EF4-FFF2-40B4-BE49-F238E27FC236}">
                <a16:creationId xmlns:a16="http://schemas.microsoft.com/office/drawing/2014/main" id="{046C2241-41FD-F2A5-76BF-8EE318645F6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3D2733E-2FC8-B8FF-216A-E39204265B0B}"/>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83677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4CE7C-F39D-5919-4A48-8F8C372C4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52BA57-40C7-E814-3923-0BEC1CD350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A1E1C-AB03-FC15-655E-C1D56D206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A6726B-90A2-4B33-9DE5-6E1BBE75063C}" type="datetime1">
              <a:rPr lang="en-US" smtClean="0"/>
              <a:t>9/28/2026</a:t>
            </a:fld>
            <a:endParaRPr lang="en-US"/>
          </a:p>
        </p:txBody>
      </p:sp>
      <p:sp>
        <p:nvSpPr>
          <p:cNvPr id="5" name="Footer Placeholder 4">
            <a:extLst>
              <a:ext uri="{FF2B5EF4-FFF2-40B4-BE49-F238E27FC236}">
                <a16:creationId xmlns:a16="http://schemas.microsoft.com/office/drawing/2014/main" id="{763FF176-F418-AA32-A530-BDF07EF7CB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Amba Mishra    DSA-II Unit-3</a:t>
            </a:r>
          </a:p>
        </p:txBody>
      </p:sp>
      <p:sp>
        <p:nvSpPr>
          <p:cNvPr id="6" name="Slide Number Placeholder 5">
            <a:extLst>
              <a:ext uri="{FF2B5EF4-FFF2-40B4-BE49-F238E27FC236}">
                <a16:creationId xmlns:a16="http://schemas.microsoft.com/office/drawing/2014/main" id="{B2EC8D53-07DF-1802-7041-16D9E3BC60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1E2F89-97C2-4B18-A593-8150592B5005}" type="slidenum">
              <a:rPr lang="en-US" smtClean="0"/>
              <a:t>‹#›</a:t>
            </a:fld>
            <a:endParaRPr lang="en-US"/>
          </a:p>
        </p:txBody>
      </p:sp>
    </p:spTree>
    <p:extLst>
      <p:ext uri="{BB962C8B-B14F-4D97-AF65-F5344CB8AC3E}">
        <p14:creationId xmlns:p14="http://schemas.microsoft.com/office/powerpoint/2010/main" val="2828743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ug7O1lSZyg0&amp;t=558s"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youtube.com/watch?v=6h6Fi6AQiRM&amp;t=21s"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oTTzNMHM05I"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youtube.com/watch?v=sSno9rV8Rhg"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youtube.com/watch?v=P6XopZDtNCM"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youtube.com/watch?v=bXH3qrIbu9E" TargetMode="Externa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436DA6-7937-F77C-70BA-A209958CDC79}"/>
              </a:ext>
            </a:extLst>
          </p:cNvPr>
          <p:cNvSpPr txBox="1">
            <a:spLocks/>
          </p:cNvSpPr>
          <p:nvPr/>
        </p:nvSpPr>
        <p:spPr>
          <a:xfrm>
            <a:off x="1371600" y="1"/>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dirty="0"/>
              <a:t>Noida Institute of Engineering and Technology, Greater Noida</a:t>
            </a:r>
          </a:p>
        </p:txBody>
      </p:sp>
      <p:pic>
        <p:nvPicPr>
          <p:cNvPr id="5" name="Picture 4" descr="A black and red logo&#10;&#10;Description automatically generated">
            <a:extLst>
              <a:ext uri="{FF2B5EF4-FFF2-40B4-BE49-F238E27FC236}">
                <a16:creationId xmlns:a16="http://schemas.microsoft.com/office/drawing/2014/main" id="{1E7CF3FE-05F5-E00D-64EA-4BC533F743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6" name="Date Placeholder 5">
            <a:extLst>
              <a:ext uri="{FF2B5EF4-FFF2-40B4-BE49-F238E27FC236}">
                <a16:creationId xmlns:a16="http://schemas.microsoft.com/office/drawing/2014/main" id="{D8427B33-9E1C-0B49-5551-388B478349A7}"/>
              </a:ext>
            </a:extLst>
          </p:cNvPr>
          <p:cNvSpPr>
            <a:spLocks noGrp="1"/>
          </p:cNvSpPr>
          <p:nvPr>
            <p:ph type="dt" sz="half" idx="10"/>
          </p:nvPr>
        </p:nvSpPr>
        <p:spPr/>
        <p:txBody>
          <a:bodyPr/>
          <a:lstStyle/>
          <a:p>
            <a:fld id="{4E0D8E15-050C-42F9-8940-5A10ED9F549F}" type="datetime1">
              <a:rPr lang="en-US" smtClean="0"/>
              <a:t>9/28/2026</a:t>
            </a:fld>
            <a:endParaRPr lang="en-US"/>
          </a:p>
        </p:txBody>
      </p:sp>
      <p:sp>
        <p:nvSpPr>
          <p:cNvPr id="7" name="Footer Placeholder 6">
            <a:extLst>
              <a:ext uri="{FF2B5EF4-FFF2-40B4-BE49-F238E27FC236}">
                <a16:creationId xmlns:a16="http://schemas.microsoft.com/office/drawing/2014/main" id="{8611ED45-22C9-BE9A-AA41-EF16D9B31FA4}"/>
              </a:ext>
            </a:extLst>
          </p:cNvPr>
          <p:cNvSpPr>
            <a:spLocks noGrp="1"/>
          </p:cNvSpPr>
          <p:nvPr>
            <p:ph type="ftr" sz="quarter" idx="11"/>
          </p:nvPr>
        </p:nvSpPr>
        <p:spPr/>
        <p:txBody>
          <a:bodyPr/>
          <a:lstStyle/>
          <a:p>
            <a:r>
              <a:rPr lang="en-US"/>
              <a:t>Dr. Amba Mishra    DSA-II Unit-3</a:t>
            </a:r>
          </a:p>
        </p:txBody>
      </p:sp>
      <p:sp>
        <p:nvSpPr>
          <p:cNvPr id="8" name="Slide Number Placeholder 7">
            <a:extLst>
              <a:ext uri="{FF2B5EF4-FFF2-40B4-BE49-F238E27FC236}">
                <a16:creationId xmlns:a16="http://schemas.microsoft.com/office/drawing/2014/main" id="{9D85E1E1-84B0-3565-D381-D58DFBDB8081}"/>
              </a:ext>
            </a:extLst>
          </p:cNvPr>
          <p:cNvSpPr>
            <a:spLocks noGrp="1"/>
          </p:cNvSpPr>
          <p:nvPr>
            <p:ph type="sldNum" sz="quarter" idx="12"/>
          </p:nvPr>
        </p:nvSpPr>
        <p:spPr/>
        <p:txBody>
          <a:bodyPr/>
          <a:lstStyle/>
          <a:p>
            <a:fld id="{B41E2F89-97C2-4B18-A593-8150592B5005}" type="slidenum">
              <a:rPr lang="en-US" smtClean="0"/>
              <a:t>1</a:t>
            </a:fld>
            <a:endParaRPr lang="en-US" dirty="0"/>
          </a:p>
        </p:txBody>
      </p:sp>
      <p:sp>
        <p:nvSpPr>
          <p:cNvPr id="11" name="Subtitle 2">
            <a:extLst>
              <a:ext uri="{FF2B5EF4-FFF2-40B4-BE49-F238E27FC236}">
                <a16:creationId xmlns:a16="http://schemas.microsoft.com/office/drawing/2014/main" id="{2E0B0829-B6DE-4E43-04B4-B303BB89240C}"/>
              </a:ext>
            </a:extLst>
          </p:cNvPr>
          <p:cNvSpPr>
            <a:spLocks noGrp="1"/>
          </p:cNvSpPr>
          <p:nvPr>
            <p:ph type="subTitle" idx="1"/>
          </p:nvPr>
        </p:nvSpPr>
        <p:spPr>
          <a:xfrm>
            <a:off x="3034077" y="1215241"/>
            <a:ext cx="6400800" cy="1717253"/>
          </a:xfr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a:solidFill>
                  <a:schemeClr val="tx1"/>
                </a:solidFill>
              </a:rPr>
              <a:t>UNIT 3</a:t>
            </a:r>
          </a:p>
          <a:p>
            <a:pPr>
              <a:defRPr/>
            </a:pPr>
            <a:r>
              <a:rPr lang="en-US" sz="2800" b="1" dirty="0">
                <a:solidFill>
                  <a:schemeClr val="tx1"/>
                </a:solidFill>
              </a:rPr>
              <a:t>Dynamic Programming</a:t>
            </a:r>
          </a:p>
        </p:txBody>
      </p:sp>
      <p:sp>
        <p:nvSpPr>
          <p:cNvPr id="12" name="Subtitle 2">
            <a:extLst>
              <a:ext uri="{FF2B5EF4-FFF2-40B4-BE49-F238E27FC236}">
                <a16:creationId xmlns:a16="http://schemas.microsoft.com/office/drawing/2014/main" id="{F616A21D-D1E9-A38F-86BF-DA984EEA686C}"/>
              </a:ext>
            </a:extLst>
          </p:cNvPr>
          <p:cNvSpPr txBox="1">
            <a:spLocks/>
          </p:cNvSpPr>
          <p:nvPr/>
        </p:nvSpPr>
        <p:spPr>
          <a:xfrm>
            <a:off x="7910877" y="4112408"/>
            <a:ext cx="3048000" cy="1752600"/>
          </a:xfrm>
          <a:prstGeom prst="rect">
            <a:avLst/>
          </a:prstGeo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Dr. Amba Mishra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Associate</a:t>
            </a:r>
            <a:r>
              <a:rPr kumimoji="0" lang="en-US" sz="2400" b="0" i="0" u="none" strike="noStrike" kern="1200" cap="none" spc="0" normalizeH="0" noProof="0" dirty="0">
                <a:ln>
                  <a:noFill/>
                </a:ln>
                <a:solidFill>
                  <a:schemeClr val="tx1"/>
                </a:solidFill>
                <a:effectLst/>
                <a:uLnTx/>
                <a:uFillTx/>
                <a:latin typeface="+mn-lt"/>
                <a:ea typeface="+mn-ea"/>
                <a:cs typeface="+mn-cs"/>
              </a:rPr>
              <a: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IT </a:t>
            </a:r>
            <a:r>
              <a:rPr lang="en-US" sz="2400" dirty="0" err="1">
                <a:solidFill>
                  <a:schemeClr val="tx1"/>
                </a:solidFill>
              </a:rPr>
              <a:t>Deptt</a:t>
            </a:r>
            <a:r>
              <a:rPr lang="en-US" sz="2400" dirty="0">
                <a:solidFill>
                  <a:schemeClr val="tx1"/>
                </a:solidFill>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Subtitle 2">
            <a:extLst>
              <a:ext uri="{FF2B5EF4-FFF2-40B4-BE49-F238E27FC236}">
                <a16:creationId xmlns:a16="http://schemas.microsoft.com/office/drawing/2014/main" id="{767BFEC2-75C3-568E-7E49-F5C8BA23B9C3}"/>
              </a:ext>
            </a:extLst>
          </p:cNvPr>
          <p:cNvSpPr txBox="1">
            <a:spLocks/>
          </p:cNvSpPr>
          <p:nvPr/>
        </p:nvSpPr>
        <p:spPr>
          <a:xfrm>
            <a:off x="1899007" y="3921908"/>
            <a:ext cx="4191000" cy="838200"/>
          </a:xfrm>
          <a:prstGeom prst="rect">
            <a:avLst/>
          </a:prstGeo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tx1"/>
                </a:solidFill>
                <a:effectLst/>
                <a:uLnTx/>
                <a:uFillTx/>
                <a:latin typeface="+mn-lt"/>
                <a:ea typeface="+mn-ea"/>
                <a:cs typeface="+mn-cs"/>
              </a:rPr>
              <a:t>Data Structure and Algorithms-II</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C</a:t>
            </a:r>
            <a:r>
              <a:rPr lang="en-US" sz="2000" b="1">
                <a:solidFill>
                  <a:schemeClr val="tx1"/>
                </a:solidFill>
              </a:rPr>
              <a:t>CSE0301</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a:extLst>
              <a:ext uri="{FF2B5EF4-FFF2-40B4-BE49-F238E27FC236}">
                <a16:creationId xmlns:a16="http://schemas.microsoft.com/office/drawing/2014/main" id="{5919CEB6-DC59-B3D9-DE05-331548EFCBE4}"/>
              </a:ext>
            </a:extLst>
          </p:cNvPr>
          <p:cNvSpPr txBox="1">
            <a:spLocks/>
          </p:cNvSpPr>
          <p:nvPr/>
        </p:nvSpPr>
        <p:spPr>
          <a:xfrm>
            <a:off x="1899007" y="4988708"/>
            <a:ext cx="4191000" cy="838200"/>
          </a:xfrm>
          <a:prstGeom prst="rect">
            <a:avLst/>
          </a:prstGeo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err="1">
                <a:ln>
                  <a:noFill/>
                </a:ln>
                <a:solidFill>
                  <a:schemeClr val="tx1"/>
                </a:solidFill>
                <a:effectLst/>
                <a:uLnTx/>
                <a:uFillTx/>
                <a:latin typeface="+mn-lt"/>
                <a:ea typeface="+mn-ea"/>
                <a:cs typeface="+mn-cs"/>
              </a:rPr>
              <a:t>B.Tech</a:t>
            </a:r>
            <a:r>
              <a:rPr kumimoji="0" lang="en-US" sz="2000" b="0" i="0" u="none" strike="noStrike" kern="1200" cap="none" spc="0" normalizeH="0" noProof="0" dirty="0">
                <a:ln>
                  <a:noFill/>
                </a:ln>
                <a:solidFill>
                  <a:schemeClr val="tx1"/>
                </a:solidFill>
                <a:effectLst/>
                <a:uLnTx/>
                <a:uFillTx/>
                <a:latin typeface="+mn-lt"/>
                <a:ea typeface="+mn-ea"/>
                <a:cs typeface="+mn-cs"/>
              </a:rPr>
              <a:t> 3</a:t>
            </a:r>
            <a:r>
              <a:rPr kumimoji="0" lang="en-US" sz="2000" b="0" i="0" u="none" strike="noStrike" kern="1200" cap="none" spc="0" normalizeH="0" baseline="30000" noProof="0" dirty="0">
                <a:ln>
                  <a:noFill/>
                </a:ln>
                <a:solidFill>
                  <a:schemeClr val="tx1"/>
                </a:solidFill>
                <a:effectLst/>
                <a:uLnTx/>
                <a:uFillTx/>
                <a:latin typeface="+mn-lt"/>
                <a:ea typeface="+mn-ea"/>
                <a:cs typeface="+mn-cs"/>
              </a:rPr>
              <a:t>rd</a:t>
            </a:r>
            <a:r>
              <a:rPr lang="en-US" sz="2000" dirty="0">
                <a:solidFill>
                  <a:schemeClr val="tx1"/>
                </a:solidFill>
              </a:rPr>
              <a:t> </a:t>
            </a:r>
            <a:r>
              <a:rPr kumimoji="0" lang="en-US" sz="2000" b="0" i="0" u="none" strike="noStrike" kern="1200" cap="none" spc="0" normalizeH="0" noProof="0" dirty="0">
                <a:ln>
                  <a:noFill/>
                </a:ln>
                <a:solidFill>
                  <a:schemeClr val="tx1"/>
                </a:solidFill>
                <a:effectLst/>
                <a:uLnTx/>
                <a:uFillTx/>
                <a:latin typeface="+mn-lt"/>
                <a:ea typeface="+mn-ea"/>
                <a:cs typeface="+mn-cs"/>
              </a:rPr>
              <a:t> Sem</a:t>
            </a:r>
            <a:br>
              <a:rPr kumimoji="0" lang="en-US" sz="2000" b="0" i="0" u="none" strike="noStrike" kern="1200" cap="none" spc="0" normalizeH="0" noProof="0" dirty="0">
                <a:ln>
                  <a:noFill/>
                </a:ln>
                <a:solidFill>
                  <a:schemeClr val="tx1"/>
                </a:solidFill>
                <a:effectLst/>
                <a:uLnTx/>
                <a:uFillTx/>
                <a:latin typeface="+mn-lt"/>
                <a:ea typeface="+mn-ea"/>
                <a:cs typeface="+mn-cs"/>
              </a:rPr>
            </a:b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a:extLst>
              <a:ext uri="{FF2B5EF4-FFF2-40B4-BE49-F238E27FC236}">
                <a16:creationId xmlns:a16="http://schemas.microsoft.com/office/drawing/2014/main" id="{7DAE1401-02D7-4063-43B2-BE38BC2E06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3718" y="2931666"/>
            <a:ext cx="1242317" cy="1178817"/>
          </a:xfrm>
          <a:prstGeom prst="rect">
            <a:avLst/>
          </a:prstGeom>
        </p:spPr>
      </p:pic>
    </p:spTree>
    <p:extLst>
      <p:ext uri="{BB962C8B-B14F-4D97-AF65-F5344CB8AC3E}">
        <p14:creationId xmlns:p14="http://schemas.microsoft.com/office/powerpoint/2010/main" val="562847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38FD15-CB82-AEE5-1A34-4FC0973AF14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49F93368-4C3B-E136-D160-5246EF3310D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29BC6AF-35D5-67B8-7BDD-1C022CFB00C1}"/>
              </a:ext>
            </a:extLst>
          </p:cNvPr>
          <p:cNvSpPr>
            <a:spLocks noGrp="1"/>
          </p:cNvSpPr>
          <p:nvPr>
            <p:ph type="sldNum" sz="quarter" idx="12"/>
          </p:nvPr>
        </p:nvSpPr>
        <p:spPr/>
        <p:txBody>
          <a:bodyPr/>
          <a:lstStyle/>
          <a:p>
            <a:fld id="{B41E2F89-97C2-4B18-A593-8150592B5005}" type="slidenum">
              <a:rPr lang="en-US" smtClean="0"/>
              <a:t>2</a:t>
            </a:fld>
            <a:endParaRPr lang="en-US" dirty="0"/>
          </a:p>
        </p:txBody>
      </p:sp>
      <p:sp>
        <p:nvSpPr>
          <p:cNvPr id="7" name="Title 1">
            <a:extLst>
              <a:ext uri="{FF2B5EF4-FFF2-40B4-BE49-F238E27FC236}">
                <a16:creationId xmlns:a16="http://schemas.microsoft.com/office/drawing/2014/main" id="{0B819967-A517-06F6-30BC-D53DE0C78324}"/>
              </a:ext>
            </a:extLst>
          </p:cNvPr>
          <p:cNvSpPr txBox="1">
            <a:spLocks/>
          </p:cNvSpPr>
          <p:nvPr/>
        </p:nvSpPr>
        <p:spPr>
          <a:xfrm>
            <a:off x="1371600" y="1"/>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Brief Introduction</a:t>
            </a:r>
          </a:p>
        </p:txBody>
      </p:sp>
      <p:pic>
        <p:nvPicPr>
          <p:cNvPr id="8" name="Picture 7" descr="A black and red logo&#10;&#10;Description automatically generated">
            <a:extLst>
              <a:ext uri="{FF2B5EF4-FFF2-40B4-BE49-F238E27FC236}">
                <a16:creationId xmlns:a16="http://schemas.microsoft.com/office/drawing/2014/main" id="{20C02628-74CE-C5EA-48DD-DEFB97F748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07F8A614-AB46-43F5-7C16-37CB215261CE}"/>
              </a:ext>
            </a:extLst>
          </p:cNvPr>
          <p:cNvSpPr txBox="1"/>
          <p:nvPr/>
        </p:nvSpPr>
        <p:spPr>
          <a:xfrm>
            <a:off x="892139" y="1462703"/>
            <a:ext cx="10820399" cy="4524315"/>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My self Dr. </a:t>
            </a:r>
            <a:r>
              <a:rPr lang="en-US" sz="2400" dirty="0" err="1">
                <a:latin typeface="Times New Roman" panose="02020603050405020304" pitchFamily="18" charset="0"/>
                <a:cs typeface="Times New Roman" panose="02020603050405020304" pitchFamily="18" charset="0"/>
              </a:rPr>
              <a:t>Amba</a:t>
            </a:r>
            <a:r>
              <a:rPr lang="en-US" sz="2400" dirty="0">
                <a:latin typeface="Times New Roman" panose="02020603050405020304" pitchFamily="18" charset="0"/>
                <a:cs typeface="Times New Roman" panose="02020603050405020304" pitchFamily="18" charset="0"/>
              </a:rPr>
              <a:t> Mishra, currently serving as Associate Professor in IT Department of Noida Institute of Engineering &amp; Technology, Greater Noida, Uttar Pradesh.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 have 17yrs of Teaching and 1Yr. Of Industry experience.</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 did my </a:t>
            </a:r>
            <a:r>
              <a:rPr lang="en-US" sz="2400" dirty="0" err="1">
                <a:latin typeface="Times New Roman" panose="02020603050405020304" pitchFamily="18" charset="0"/>
                <a:cs typeface="Times New Roman" panose="02020603050405020304" pitchFamily="18" charset="0"/>
              </a:rPr>
              <a:t>Ph.D</a:t>
            </a:r>
            <a:r>
              <a:rPr lang="en-US" sz="2400" dirty="0">
                <a:latin typeface="Times New Roman" panose="02020603050405020304" pitchFamily="18" charset="0"/>
                <a:cs typeface="Times New Roman" panose="02020603050405020304" pitchFamily="18" charset="0"/>
              </a:rPr>
              <a:t> from NIU Greater Noida and </a:t>
            </a:r>
            <a:r>
              <a:rPr lang="en-US" sz="2400" dirty="0" err="1">
                <a:latin typeface="Times New Roman" panose="02020603050405020304" pitchFamily="18" charset="0"/>
                <a:cs typeface="Times New Roman" panose="02020603050405020304" pitchFamily="18" charset="0"/>
              </a:rPr>
              <a:t>M.Tech</a:t>
            </a:r>
            <a:r>
              <a:rPr lang="en-US" sz="2400" dirty="0">
                <a:latin typeface="Times New Roman" panose="02020603050405020304" pitchFamily="18" charset="0"/>
                <a:cs typeface="Times New Roman" panose="02020603050405020304" pitchFamily="18" charset="0"/>
              </a:rPr>
              <a:t> from CDAC Noida(GGSIP University, Delhi).</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My research area includes Information security and Artificial Intelligence.</a:t>
            </a: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845C948-7B49-AF9E-0FD0-EACF31076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2591" y="1191802"/>
            <a:ext cx="2426995" cy="2062395"/>
          </a:xfrm>
          <a:prstGeom prst="rect">
            <a:avLst/>
          </a:prstGeom>
        </p:spPr>
      </p:pic>
    </p:spTree>
    <p:extLst>
      <p:ext uri="{BB962C8B-B14F-4D97-AF65-F5344CB8AC3E}">
        <p14:creationId xmlns:p14="http://schemas.microsoft.com/office/powerpoint/2010/main" val="2253283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AE9B4-F29F-B51B-8303-C5D808949F4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B0C9E68-9AA1-54D4-5160-18B8C974641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C943F4B0-A5A3-14BC-B331-7043953B0C8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CFF91B6-CB41-2EEA-52EE-BD5A151658BE}"/>
              </a:ext>
            </a:extLst>
          </p:cNvPr>
          <p:cNvSpPr>
            <a:spLocks noGrp="1"/>
          </p:cNvSpPr>
          <p:nvPr>
            <p:ph type="sldNum" sz="quarter" idx="12"/>
          </p:nvPr>
        </p:nvSpPr>
        <p:spPr/>
        <p:txBody>
          <a:bodyPr/>
          <a:lstStyle/>
          <a:p>
            <a:fld id="{B41E2F89-97C2-4B18-A593-8150592B5005}" type="slidenum">
              <a:rPr lang="en-US" smtClean="0"/>
              <a:t>3</a:t>
            </a:fld>
            <a:endParaRPr lang="en-US" dirty="0"/>
          </a:p>
        </p:txBody>
      </p:sp>
      <p:sp>
        <p:nvSpPr>
          <p:cNvPr id="7" name="Title 1">
            <a:extLst>
              <a:ext uri="{FF2B5EF4-FFF2-40B4-BE49-F238E27FC236}">
                <a16:creationId xmlns:a16="http://schemas.microsoft.com/office/drawing/2014/main" id="{D343D6E2-E7FF-2F69-714F-E5E81C6F4E5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Evaluation scheme</a:t>
            </a:r>
          </a:p>
        </p:txBody>
      </p:sp>
      <p:pic>
        <p:nvPicPr>
          <p:cNvPr id="8" name="Picture 7" descr="A black and red logo&#10;&#10;Description automatically generated">
            <a:extLst>
              <a:ext uri="{FF2B5EF4-FFF2-40B4-BE49-F238E27FC236}">
                <a16:creationId xmlns:a16="http://schemas.microsoft.com/office/drawing/2014/main" id="{8715A8A4-2945-A150-5E69-13C3BD37F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A736975A-0952-882E-B6E2-A47FABC2E7FB}"/>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3673B31-20F4-5C98-CCA4-CA292C9A8BFA}"/>
              </a:ext>
            </a:extLst>
          </p:cNvPr>
          <p:cNvPicPr>
            <a:picLocks noChangeAspect="1"/>
          </p:cNvPicPr>
          <p:nvPr/>
        </p:nvPicPr>
        <p:blipFill>
          <a:blip r:embed="rId3"/>
          <a:stretch>
            <a:fillRect/>
          </a:stretch>
        </p:blipFill>
        <p:spPr>
          <a:xfrm>
            <a:off x="976045" y="723901"/>
            <a:ext cx="10243335" cy="5594349"/>
          </a:xfrm>
          <a:prstGeom prst="rect">
            <a:avLst/>
          </a:prstGeom>
        </p:spPr>
      </p:pic>
    </p:spTree>
    <p:extLst>
      <p:ext uri="{BB962C8B-B14F-4D97-AF65-F5344CB8AC3E}">
        <p14:creationId xmlns:p14="http://schemas.microsoft.com/office/powerpoint/2010/main" val="49575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20F92-4FE8-8EB7-5F59-139E5ADBD37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ED034B4-D0B9-E76F-F935-AC148E2500DD}"/>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520ADD8-94B1-9709-661E-C247E78C98B0}"/>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08040E6-5342-EE06-CC49-BC6F7F45E45A}"/>
              </a:ext>
            </a:extLst>
          </p:cNvPr>
          <p:cNvSpPr>
            <a:spLocks noGrp="1"/>
          </p:cNvSpPr>
          <p:nvPr>
            <p:ph type="sldNum" sz="quarter" idx="12"/>
          </p:nvPr>
        </p:nvSpPr>
        <p:spPr/>
        <p:txBody>
          <a:bodyPr/>
          <a:lstStyle/>
          <a:p>
            <a:fld id="{B41E2F89-97C2-4B18-A593-8150592B5005}" type="slidenum">
              <a:rPr lang="en-US" smtClean="0"/>
              <a:t>4</a:t>
            </a:fld>
            <a:endParaRPr lang="en-US" dirty="0"/>
          </a:p>
        </p:txBody>
      </p:sp>
      <p:sp>
        <p:nvSpPr>
          <p:cNvPr id="7" name="Title 1">
            <a:extLst>
              <a:ext uri="{FF2B5EF4-FFF2-40B4-BE49-F238E27FC236}">
                <a16:creationId xmlns:a16="http://schemas.microsoft.com/office/drawing/2014/main" id="{40E2AA6C-B369-8368-8A4C-CEA5B6A9AF3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Subject Syllabus</a:t>
            </a:r>
          </a:p>
        </p:txBody>
      </p:sp>
      <p:pic>
        <p:nvPicPr>
          <p:cNvPr id="8" name="Picture 7" descr="A black and red logo&#10;&#10;Description automatically generated">
            <a:extLst>
              <a:ext uri="{FF2B5EF4-FFF2-40B4-BE49-F238E27FC236}">
                <a16:creationId xmlns:a16="http://schemas.microsoft.com/office/drawing/2014/main" id="{04A207DC-B310-F163-A837-ECDBEBA5ED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7D8DFC84-3011-E2BA-219F-A9D2BAB1D641}"/>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8589782-9C80-0681-62E3-45CE18EB5FAC}"/>
              </a:ext>
            </a:extLst>
          </p:cNvPr>
          <p:cNvPicPr>
            <a:picLocks noChangeAspect="1"/>
          </p:cNvPicPr>
          <p:nvPr/>
        </p:nvPicPr>
        <p:blipFill>
          <a:blip r:embed="rId3"/>
          <a:stretch>
            <a:fillRect/>
          </a:stretch>
        </p:blipFill>
        <p:spPr>
          <a:xfrm>
            <a:off x="479461" y="780836"/>
            <a:ext cx="11346094" cy="5575513"/>
          </a:xfrm>
          <a:prstGeom prst="rect">
            <a:avLst/>
          </a:prstGeom>
        </p:spPr>
      </p:pic>
    </p:spTree>
    <p:extLst>
      <p:ext uri="{BB962C8B-B14F-4D97-AF65-F5344CB8AC3E}">
        <p14:creationId xmlns:p14="http://schemas.microsoft.com/office/powerpoint/2010/main" val="1449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3211A-5861-40D4-EEAB-33EE81F1779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07AAF35-E75B-C512-656C-35A99165B10E}"/>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4A7CB8A0-5523-101B-71FB-A3A74DB8A1C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9EA4E4A-A8A4-18E8-56C2-EC6A1E25BB38}"/>
              </a:ext>
            </a:extLst>
          </p:cNvPr>
          <p:cNvSpPr>
            <a:spLocks noGrp="1"/>
          </p:cNvSpPr>
          <p:nvPr>
            <p:ph type="sldNum" sz="quarter" idx="12"/>
          </p:nvPr>
        </p:nvSpPr>
        <p:spPr/>
        <p:txBody>
          <a:bodyPr/>
          <a:lstStyle/>
          <a:p>
            <a:fld id="{B41E2F89-97C2-4B18-A593-8150592B5005}" type="slidenum">
              <a:rPr lang="en-US" smtClean="0"/>
              <a:t>5</a:t>
            </a:fld>
            <a:endParaRPr lang="en-US" dirty="0"/>
          </a:p>
        </p:txBody>
      </p:sp>
      <p:sp>
        <p:nvSpPr>
          <p:cNvPr id="7" name="Title 1">
            <a:extLst>
              <a:ext uri="{FF2B5EF4-FFF2-40B4-BE49-F238E27FC236}">
                <a16:creationId xmlns:a16="http://schemas.microsoft.com/office/drawing/2014/main" id="{8B7FCEE5-39EA-6890-9397-66DCE5EA954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Branch wise Applications</a:t>
            </a:r>
          </a:p>
        </p:txBody>
      </p:sp>
      <p:pic>
        <p:nvPicPr>
          <p:cNvPr id="8" name="Picture 7" descr="A black and red logo&#10;&#10;Description automatically generated">
            <a:extLst>
              <a:ext uri="{FF2B5EF4-FFF2-40B4-BE49-F238E27FC236}">
                <a16:creationId xmlns:a16="http://schemas.microsoft.com/office/drawing/2014/main" id="{1EAF019E-156E-5FA9-1ECA-4C467FB884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graphicFrame>
        <p:nvGraphicFramePr>
          <p:cNvPr id="12" name="Content Placeholder 6">
            <a:extLst>
              <a:ext uri="{FF2B5EF4-FFF2-40B4-BE49-F238E27FC236}">
                <a16:creationId xmlns:a16="http://schemas.microsoft.com/office/drawing/2014/main" id="{075A7418-33B0-2DDF-BA73-E0BD55F8BE19}"/>
              </a:ext>
            </a:extLst>
          </p:cNvPr>
          <p:cNvGraphicFramePr>
            <a:graphicFrameLocks/>
          </p:cNvGraphicFramePr>
          <p:nvPr>
            <p:extLst>
              <p:ext uri="{D42A27DB-BD31-4B8C-83A1-F6EECF244321}">
                <p14:modId xmlns:p14="http://schemas.microsoft.com/office/powerpoint/2010/main" val="787513886"/>
              </p:ext>
            </p:extLst>
          </p:nvPr>
        </p:nvGraphicFramePr>
        <p:xfrm>
          <a:off x="2718369" y="1156258"/>
          <a:ext cx="7848601" cy="47296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2618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7498-3549-79C0-0877-BD62395FA7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94CD150-49E9-41EE-F04C-C4A857D1BFA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6C4B6AD-CB18-73D3-5F65-7972EDEA7BF4}"/>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8795DD8-BB67-FD3F-D15B-CCAA2E4DEE93}"/>
              </a:ext>
            </a:extLst>
          </p:cNvPr>
          <p:cNvSpPr>
            <a:spLocks noGrp="1"/>
          </p:cNvSpPr>
          <p:nvPr>
            <p:ph type="sldNum" sz="quarter" idx="12"/>
          </p:nvPr>
        </p:nvSpPr>
        <p:spPr/>
        <p:txBody>
          <a:bodyPr/>
          <a:lstStyle/>
          <a:p>
            <a:fld id="{B41E2F89-97C2-4B18-A593-8150592B5005}" type="slidenum">
              <a:rPr lang="en-US" smtClean="0"/>
              <a:t>6</a:t>
            </a:fld>
            <a:endParaRPr lang="en-US" dirty="0"/>
          </a:p>
        </p:txBody>
      </p:sp>
      <p:sp>
        <p:nvSpPr>
          <p:cNvPr id="7" name="Title 1">
            <a:extLst>
              <a:ext uri="{FF2B5EF4-FFF2-40B4-BE49-F238E27FC236}">
                <a16:creationId xmlns:a16="http://schemas.microsoft.com/office/drawing/2014/main" id="{1D721877-AD5C-0D27-4F90-EC1C5ADE31A8}"/>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Course Objective</a:t>
            </a:r>
          </a:p>
        </p:txBody>
      </p:sp>
      <p:pic>
        <p:nvPicPr>
          <p:cNvPr id="8" name="Picture 7" descr="A black and red logo&#10;&#10;Description automatically generated">
            <a:extLst>
              <a:ext uri="{FF2B5EF4-FFF2-40B4-BE49-F238E27FC236}">
                <a16:creationId xmlns:a16="http://schemas.microsoft.com/office/drawing/2014/main" id="{B39C8E27-ADD4-DC25-55BE-D0502B39D4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5E60F86-3C88-4BB2-96EE-8172B34B3A24}"/>
              </a:ext>
            </a:extLst>
          </p:cNvPr>
          <p:cNvSpPr txBox="1"/>
          <p:nvPr/>
        </p:nvSpPr>
        <p:spPr>
          <a:xfrm>
            <a:off x="892139" y="1462703"/>
            <a:ext cx="10820399" cy="2677656"/>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t>The objective of the course is to learn the basic concepts of algorithm analysis, along with the implementation of non-linear data structures.</a:t>
            </a: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159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4C3C-2C05-542B-8EBF-6E85AC4665C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3252E0A-36C1-7FF9-709B-650A9E3E512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8C9CD29-D964-969E-1F70-847B1285D85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54A0EDC-FB8E-2ACA-9E53-2B7C0D05C647}"/>
              </a:ext>
            </a:extLst>
          </p:cNvPr>
          <p:cNvSpPr>
            <a:spLocks noGrp="1"/>
          </p:cNvSpPr>
          <p:nvPr>
            <p:ph type="sldNum" sz="quarter" idx="12"/>
          </p:nvPr>
        </p:nvSpPr>
        <p:spPr/>
        <p:txBody>
          <a:bodyPr/>
          <a:lstStyle/>
          <a:p>
            <a:fld id="{B41E2F89-97C2-4B18-A593-8150592B5005}" type="slidenum">
              <a:rPr lang="en-US" smtClean="0"/>
              <a:t>7</a:t>
            </a:fld>
            <a:endParaRPr lang="en-US" dirty="0"/>
          </a:p>
        </p:txBody>
      </p:sp>
      <p:sp>
        <p:nvSpPr>
          <p:cNvPr id="7" name="Title 1">
            <a:extLst>
              <a:ext uri="{FF2B5EF4-FFF2-40B4-BE49-F238E27FC236}">
                <a16:creationId xmlns:a16="http://schemas.microsoft.com/office/drawing/2014/main" id="{F521CF0F-546B-F15D-0E28-75F71DCC26D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Course Outcomes</a:t>
            </a:r>
          </a:p>
        </p:txBody>
      </p:sp>
      <p:pic>
        <p:nvPicPr>
          <p:cNvPr id="8" name="Picture 7" descr="A black and red logo&#10;&#10;Description automatically generated">
            <a:extLst>
              <a:ext uri="{FF2B5EF4-FFF2-40B4-BE49-F238E27FC236}">
                <a16:creationId xmlns:a16="http://schemas.microsoft.com/office/drawing/2014/main" id="{A0FEB955-D0DF-3496-7587-4BD732C14E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774586E2-053A-D8EB-B2CC-A39564567232}"/>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EBC4EE6C-99A1-C678-43A8-3EFE551D827A}"/>
              </a:ext>
            </a:extLst>
          </p:cNvPr>
          <p:cNvGraphicFramePr>
            <a:graphicFrameLocks noGrp="1"/>
          </p:cNvGraphicFramePr>
          <p:nvPr>
            <p:extLst>
              <p:ext uri="{D42A27DB-BD31-4B8C-83A1-F6EECF244321}">
                <p14:modId xmlns:p14="http://schemas.microsoft.com/office/powerpoint/2010/main" val="4014481297"/>
              </p:ext>
            </p:extLst>
          </p:nvPr>
        </p:nvGraphicFramePr>
        <p:xfrm>
          <a:off x="838201" y="1212351"/>
          <a:ext cx="10461660" cy="4964612"/>
        </p:xfrm>
        <a:graphic>
          <a:graphicData uri="http://schemas.openxmlformats.org/drawingml/2006/table">
            <a:tbl>
              <a:tblPr firstRow="1" firstCol="1" lastRow="1" lastCol="1" bandRow="1" bandCol="1">
                <a:tableStyleId>{5C22544A-7EE6-4342-B048-85BDC9FD1C3A}</a:tableStyleId>
              </a:tblPr>
              <a:tblGrid>
                <a:gridCol w="938106">
                  <a:extLst>
                    <a:ext uri="{9D8B030D-6E8A-4147-A177-3AD203B41FA5}">
                      <a16:colId xmlns:a16="http://schemas.microsoft.com/office/drawing/2014/main" val="1703982282"/>
                    </a:ext>
                  </a:extLst>
                </a:gridCol>
                <a:gridCol w="7544378">
                  <a:extLst>
                    <a:ext uri="{9D8B030D-6E8A-4147-A177-3AD203B41FA5}">
                      <a16:colId xmlns:a16="http://schemas.microsoft.com/office/drawing/2014/main" val="3628568941"/>
                    </a:ext>
                  </a:extLst>
                </a:gridCol>
                <a:gridCol w="1979176">
                  <a:extLst>
                    <a:ext uri="{9D8B030D-6E8A-4147-A177-3AD203B41FA5}">
                      <a16:colId xmlns:a16="http://schemas.microsoft.com/office/drawing/2014/main" val="1695412033"/>
                    </a:ext>
                  </a:extLst>
                </a:gridCol>
              </a:tblGrid>
              <a:tr h="826908">
                <a:tc gridSpan="2">
                  <a:txBody>
                    <a:bodyPr/>
                    <a:lstStyle/>
                    <a:p>
                      <a:pPr marL="0" marR="0" algn="l">
                        <a:lnSpc>
                          <a:spcPts val="1280"/>
                        </a:lnSpc>
                        <a:spcBef>
                          <a:spcPts val="590"/>
                        </a:spcBef>
                        <a:buNone/>
                      </a:pPr>
                      <a:r>
                        <a:rPr lang="en-US" sz="1600" dirty="0">
                          <a:effectLst/>
                        </a:rPr>
                        <a:t> </a:t>
                      </a:r>
                    </a:p>
                    <a:p>
                      <a:pPr marL="1270" marR="0" algn="ctr">
                        <a:lnSpc>
                          <a:spcPts val="1280"/>
                        </a:lnSpc>
                        <a:buNone/>
                      </a:pPr>
                      <a:r>
                        <a:rPr lang="en-US" sz="1600" dirty="0">
                          <a:effectLst/>
                        </a:rPr>
                        <a:t>Course</a:t>
                      </a:r>
                      <a:r>
                        <a:rPr lang="en-US" sz="1600" spc="-75" dirty="0">
                          <a:effectLst/>
                        </a:rPr>
                        <a:t> </a:t>
                      </a:r>
                      <a:r>
                        <a:rPr lang="en-US" sz="1600" dirty="0">
                          <a:effectLst/>
                        </a:rPr>
                        <a:t>Outcomes</a:t>
                      </a:r>
                      <a:r>
                        <a:rPr lang="en-US" sz="1600" spc="-30" dirty="0">
                          <a:effectLst/>
                        </a:rPr>
                        <a:t> </a:t>
                      </a:r>
                      <a:r>
                        <a:rPr lang="en-US" sz="1600" spc="-20" dirty="0">
                          <a:effectLst/>
                        </a:rPr>
                        <a:t>(CO)</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a:txBody>
                    <a:bodyPr/>
                    <a:lstStyle/>
                    <a:p>
                      <a:pPr marL="133350" marR="635" algn="ctr">
                        <a:lnSpc>
                          <a:spcPts val="1375"/>
                        </a:lnSpc>
                        <a:buNone/>
                      </a:pPr>
                      <a:r>
                        <a:rPr lang="en-US" sz="1600" spc="-10" dirty="0">
                          <a:effectLst/>
                        </a:rPr>
                        <a:t>Bloom’s</a:t>
                      </a:r>
                      <a:endParaRPr lang="en-US" sz="1600" dirty="0">
                        <a:effectLst/>
                      </a:endParaRPr>
                    </a:p>
                    <a:p>
                      <a:pPr marL="133350" marR="6985" algn="ctr">
                        <a:lnSpc>
                          <a:spcPts val="1280"/>
                        </a:lnSpc>
                        <a:buNone/>
                      </a:pPr>
                      <a:r>
                        <a:rPr lang="en-US" sz="1600" spc="-10" dirty="0">
                          <a:effectLst/>
                        </a:rPr>
                        <a:t>Knowledge</a:t>
                      </a:r>
                      <a:endParaRPr lang="en-US" sz="1600" dirty="0">
                        <a:effectLst/>
                      </a:endParaRPr>
                    </a:p>
                    <a:p>
                      <a:pPr marL="133350" marR="0" algn="ctr">
                        <a:lnSpc>
                          <a:spcPts val="1280"/>
                        </a:lnSpc>
                        <a:spcBef>
                          <a:spcPts val="1200"/>
                        </a:spcBef>
                        <a:buNone/>
                      </a:pPr>
                      <a:r>
                        <a:rPr lang="en-US" sz="1600" spc="-10" dirty="0">
                          <a:effectLst/>
                        </a:rPr>
                        <a:t>Level(KL)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60917939"/>
                  </a:ext>
                </a:extLst>
              </a:tr>
              <a:tr h="826908">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CO1</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190"/>
                        </a:spcBef>
                        <a:buNone/>
                      </a:pPr>
                      <a:r>
                        <a:rPr lang="en-US" sz="1600" dirty="0">
                          <a:effectLst/>
                        </a:rPr>
                        <a:t>Apply</a:t>
                      </a:r>
                      <a:r>
                        <a:rPr lang="en-US" sz="1600" spc="400" dirty="0">
                          <a:effectLst/>
                        </a:rPr>
                        <a:t> </a:t>
                      </a:r>
                      <a:r>
                        <a:rPr lang="en-US" sz="1600" dirty="0">
                          <a:effectLst/>
                        </a:rPr>
                        <a:t>tree</a:t>
                      </a:r>
                      <a:r>
                        <a:rPr lang="en-US" sz="1600" spc="400" dirty="0">
                          <a:effectLst/>
                        </a:rPr>
                        <a:t> </a:t>
                      </a:r>
                      <a:r>
                        <a:rPr lang="en-US" sz="1600" dirty="0">
                          <a:effectLst/>
                        </a:rPr>
                        <a:t>structures</a:t>
                      </a:r>
                      <a:r>
                        <a:rPr lang="en-US" sz="1600" spc="400" dirty="0">
                          <a:effectLst/>
                        </a:rPr>
                        <a:t> </a:t>
                      </a:r>
                      <a:r>
                        <a:rPr lang="en-US" sz="1600" dirty="0">
                          <a:effectLst/>
                        </a:rPr>
                        <a:t>to</a:t>
                      </a:r>
                      <a:r>
                        <a:rPr lang="en-US" sz="1600" spc="400" dirty="0">
                          <a:effectLst/>
                        </a:rPr>
                        <a:t> </a:t>
                      </a:r>
                      <a:r>
                        <a:rPr lang="en-US" sz="1600" dirty="0">
                          <a:effectLst/>
                        </a:rPr>
                        <a:t>solve</a:t>
                      </a:r>
                      <a:r>
                        <a:rPr lang="en-US" sz="1600" spc="400" dirty="0">
                          <a:effectLst/>
                        </a:rPr>
                        <a:t> </a:t>
                      </a:r>
                      <a:r>
                        <a:rPr lang="en-US" sz="1600" dirty="0">
                          <a:effectLst/>
                        </a:rPr>
                        <a:t>specific</a:t>
                      </a:r>
                      <a:r>
                        <a:rPr lang="en-US" sz="1600" spc="400" dirty="0">
                          <a:effectLst/>
                        </a:rPr>
                        <a:t> </a:t>
                      </a:r>
                      <a:r>
                        <a:rPr lang="en-US" sz="1600" dirty="0">
                          <a:effectLst/>
                        </a:rPr>
                        <a:t>problems</a:t>
                      </a:r>
                      <a:r>
                        <a:rPr lang="en-US" sz="1600" spc="400" dirty="0">
                          <a:effectLst/>
                        </a:rPr>
                        <a:t> </a:t>
                      </a:r>
                      <a:r>
                        <a:rPr lang="en-US" sz="1600" dirty="0">
                          <a:effectLst/>
                        </a:rPr>
                        <a:t>using</a:t>
                      </a:r>
                      <a:r>
                        <a:rPr lang="en-US" sz="1600" spc="400" dirty="0">
                          <a:effectLst/>
                        </a:rPr>
                        <a:t> </a:t>
                      </a:r>
                      <a:r>
                        <a:rPr lang="en-US" sz="1600" dirty="0">
                          <a:effectLst/>
                        </a:rPr>
                        <a:t>various</a:t>
                      </a:r>
                      <a:r>
                        <a:rPr lang="en-US" sz="1600" spc="400" dirty="0">
                          <a:effectLst/>
                        </a:rPr>
                        <a:t> </a:t>
                      </a:r>
                      <a:r>
                        <a:rPr lang="en-US" sz="1600" dirty="0">
                          <a:effectLst/>
                        </a:rPr>
                        <a:t>tree operations and algorithms.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a:effectLst/>
                        </a:rPr>
                        <a:t> </a:t>
                      </a:r>
                    </a:p>
                    <a:p>
                      <a:pPr marL="133350" marR="104140" algn="ctr">
                        <a:lnSpc>
                          <a:spcPts val="1280"/>
                        </a:lnSpc>
                        <a:buNone/>
                      </a:pPr>
                      <a:r>
                        <a:rPr lang="en-US" sz="1600" spc="-25">
                          <a:effectLst/>
                        </a:rPr>
                        <a:t>K3</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27528818"/>
                  </a:ext>
                </a:extLst>
              </a:tr>
              <a:tr h="828174">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205"/>
                        </a:spcBef>
                        <a:buNone/>
                      </a:pPr>
                      <a:r>
                        <a:rPr lang="en-US" sz="1600" dirty="0" err="1">
                          <a:effectLst/>
                        </a:rPr>
                        <a:t>Analyse</a:t>
                      </a:r>
                      <a:r>
                        <a:rPr lang="en-US" sz="1600" spc="-75" dirty="0">
                          <a:effectLst/>
                        </a:rPr>
                        <a:t> </a:t>
                      </a:r>
                      <a:r>
                        <a:rPr lang="en-US" sz="1600" dirty="0">
                          <a:effectLst/>
                        </a:rPr>
                        <a:t>the</a:t>
                      </a:r>
                      <a:r>
                        <a:rPr lang="en-US" sz="1600" spc="-75" dirty="0">
                          <a:effectLst/>
                        </a:rPr>
                        <a:t> </a:t>
                      </a:r>
                      <a:r>
                        <a:rPr lang="en-US" sz="1600" dirty="0">
                          <a:effectLst/>
                        </a:rPr>
                        <a:t>graph</a:t>
                      </a:r>
                      <a:r>
                        <a:rPr lang="en-US" sz="1600" spc="-70" dirty="0">
                          <a:effectLst/>
                        </a:rPr>
                        <a:t> </a:t>
                      </a:r>
                      <a:r>
                        <a:rPr lang="en-US" sz="1600" dirty="0">
                          <a:effectLst/>
                        </a:rPr>
                        <a:t>data</a:t>
                      </a:r>
                      <a:r>
                        <a:rPr lang="en-US" sz="1600" spc="-75" dirty="0">
                          <a:effectLst/>
                        </a:rPr>
                        <a:t> </a:t>
                      </a:r>
                      <a:r>
                        <a:rPr lang="en-US" sz="1600" dirty="0">
                          <a:effectLst/>
                        </a:rPr>
                        <a:t>structure</a:t>
                      </a:r>
                      <a:r>
                        <a:rPr lang="en-US" sz="1600" spc="-75" dirty="0">
                          <a:effectLst/>
                        </a:rPr>
                        <a:t> </a:t>
                      </a:r>
                      <a:r>
                        <a:rPr lang="en-US" sz="1600" dirty="0">
                          <a:effectLst/>
                        </a:rPr>
                        <a:t>and</a:t>
                      </a:r>
                      <a:r>
                        <a:rPr lang="en-US" sz="1600" spc="-70" dirty="0">
                          <a:effectLst/>
                        </a:rPr>
                        <a:t> </a:t>
                      </a:r>
                      <a:r>
                        <a:rPr lang="en-US" sz="1600" dirty="0">
                          <a:effectLst/>
                        </a:rPr>
                        <a:t>evaluate</a:t>
                      </a:r>
                      <a:r>
                        <a:rPr lang="en-US" sz="1600" spc="-75" dirty="0">
                          <a:effectLst/>
                        </a:rPr>
                        <a:t> </a:t>
                      </a:r>
                      <a:r>
                        <a:rPr lang="en-US" sz="1600" dirty="0">
                          <a:effectLst/>
                        </a:rPr>
                        <a:t>the</a:t>
                      </a:r>
                      <a:r>
                        <a:rPr lang="en-US" sz="1600" spc="-75" dirty="0">
                          <a:effectLst/>
                        </a:rPr>
                        <a:t> </a:t>
                      </a:r>
                      <a:r>
                        <a:rPr lang="en-US" sz="1600" dirty="0">
                          <a:effectLst/>
                        </a:rPr>
                        <a:t>efficiency</a:t>
                      </a:r>
                      <a:r>
                        <a:rPr lang="en-US" sz="1600" spc="-70" dirty="0">
                          <a:effectLst/>
                        </a:rPr>
                        <a:t> </a:t>
                      </a:r>
                      <a:r>
                        <a:rPr lang="en-US" sz="1600" dirty="0">
                          <a:effectLst/>
                        </a:rPr>
                        <a:t>of</a:t>
                      </a:r>
                      <a:r>
                        <a:rPr lang="en-US" sz="1600" spc="-75" dirty="0">
                          <a:effectLst/>
                        </a:rPr>
                        <a:t> </a:t>
                      </a:r>
                      <a:r>
                        <a:rPr lang="en-US" sz="1600" dirty="0">
                          <a:effectLst/>
                        </a:rPr>
                        <a:t>its</a:t>
                      </a:r>
                      <a:r>
                        <a:rPr lang="en-US" sz="1600" spc="-70" dirty="0">
                          <a:effectLst/>
                        </a:rPr>
                        <a:t> </a:t>
                      </a:r>
                      <a:r>
                        <a:rPr lang="en-US" sz="1600" dirty="0">
                          <a:effectLst/>
                        </a:rPr>
                        <a:t>operations for problem solving.</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a:effectLst/>
                        </a:rPr>
                        <a:t> </a:t>
                      </a:r>
                    </a:p>
                    <a:p>
                      <a:pPr marL="133350" marR="104140" algn="ctr">
                        <a:lnSpc>
                          <a:spcPts val="1280"/>
                        </a:lnSpc>
                        <a:buNone/>
                      </a:pPr>
                      <a:r>
                        <a:rPr lang="en-US" sz="1600" spc="-25">
                          <a:effectLst/>
                        </a:rPr>
                        <a:t>K4</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97641174"/>
                  </a:ext>
                </a:extLst>
              </a:tr>
              <a:tr h="826908">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195"/>
                        </a:spcBef>
                        <a:buNone/>
                      </a:pPr>
                      <a:r>
                        <a:rPr lang="en-US" sz="1600" dirty="0">
                          <a:effectLst/>
                        </a:rPr>
                        <a:t>Evaluate</a:t>
                      </a:r>
                      <a:r>
                        <a:rPr lang="en-US" sz="1600" spc="200" dirty="0">
                          <a:effectLst/>
                        </a:rPr>
                        <a:t> </a:t>
                      </a:r>
                      <a:r>
                        <a:rPr lang="en-US" sz="1600" dirty="0">
                          <a:effectLst/>
                        </a:rPr>
                        <a:t>dynamic</a:t>
                      </a:r>
                      <a:r>
                        <a:rPr lang="en-US" sz="1600" spc="200" dirty="0">
                          <a:effectLst/>
                        </a:rPr>
                        <a:t> </a:t>
                      </a:r>
                      <a:r>
                        <a:rPr lang="en-US" sz="1600" dirty="0">
                          <a:effectLst/>
                        </a:rPr>
                        <a:t>programming</a:t>
                      </a:r>
                      <a:r>
                        <a:rPr lang="en-US" sz="1600" spc="200" dirty="0">
                          <a:effectLst/>
                        </a:rPr>
                        <a:t> </a:t>
                      </a:r>
                      <a:r>
                        <a:rPr lang="en-US" sz="1600" dirty="0">
                          <a:effectLst/>
                        </a:rPr>
                        <a:t>solutions</a:t>
                      </a:r>
                      <a:r>
                        <a:rPr lang="en-US" sz="1600" spc="200" dirty="0">
                          <a:effectLst/>
                        </a:rPr>
                        <a:t> </a:t>
                      </a:r>
                      <a:r>
                        <a:rPr lang="en-US" sz="1600" dirty="0">
                          <a:effectLst/>
                        </a:rPr>
                        <a:t>for</a:t>
                      </a:r>
                      <a:r>
                        <a:rPr lang="en-US" sz="1600" spc="200" dirty="0">
                          <a:effectLst/>
                        </a:rPr>
                        <a:t> </a:t>
                      </a:r>
                      <a:r>
                        <a:rPr lang="en-US" sz="1600" dirty="0">
                          <a:effectLst/>
                        </a:rPr>
                        <a:t>efficient</a:t>
                      </a:r>
                      <a:r>
                        <a:rPr lang="en-US" sz="1600" spc="200" dirty="0">
                          <a:effectLst/>
                        </a:rPr>
                        <a:t> </a:t>
                      </a:r>
                      <a:r>
                        <a:rPr lang="en-US" sz="1600" dirty="0">
                          <a:effectLst/>
                        </a:rPr>
                        <a:t>problem-solving across diverse contexts.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a:effectLst/>
                        </a:rPr>
                        <a:t> </a:t>
                      </a:r>
                    </a:p>
                    <a:p>
                      <a:pPr marL="133350" marR="104140" algn="ctr">
                        <a:lnSpc>
                          <a:spcPts val="1280"/>
                        </a:lnSpc>
                        <a:buNone/>
                      </a:pPr>
                      <a:r>
                        <a:rPr lang="en-US" sz="1600" spc="-25">
                          <a:effectLst/>
                        </a:rPr>
                        <a:t>K4</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44428601"/>
                  </a:ext>
                </a:extLst>
              </a:tr>
              <a:tr h="826908">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CO4</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190"/>
                        </a:spcBef>
                        <a:buNone/>
                      </a:pPr>
                      <a:r>
                        <a:rPr lang="en-US" sz="1600" dirty="0">
                          <a:effectLst/>
                        </a:rPr>
                        <a:t>Apply</a:t>
                      </a:r>
                      <a:r>
                        <a:rPr lang="en-US" sz="1600" spc="165" dirty="0">
                          <a:effectLst/>
                        </a:rPr>
                        <a:t> </a:t>
                      </a:r>
                      <a:r>
                        <a:rPr lang="en-US" sz="1600" dirty="0">
                          <a:effectLst/>
                        </a:rPr>
                        <a:t>efficient</a:t>
                      </a:r>
                      <a:r>
                        <a:rPr lang="en-US" sz="1600" spc="165" dirty="0">
                          <a:effectLst/>
                        </a:rPr>
                        <a:t> </a:t>
                      </a:r>
                      <a:r>
                        <a:rPr lang="en-US" sz="1600" dirty="0">
                          <a:effectLst/>
                        </a:rPr>
                        <a:t>backtracking</a:t>
                      </a:r>
                      <a:r>
                        <a:rPr lang="en-US" sz="1600" spc="165" dirty="0">
                          <a:effectLst/>
                        </a:rPr>
                        <a:t> </a:t>
                      </a:r>
                      <a:r>
                        <a:rPr lang="en-US" sz="1600" dirty="0">
                          <a:effectLst/>
                        </a:rPr>
                        <a:t>and</a:t>
                      </a:r>
                      <a:r>
                        <a:rPr lang="en-US" sz="1600" spc="165" dirty="0">
                          <a:effectLst/>
                        </a:rPr>
                        <a:t> </a:t>
                      </a:r>
                      <a:r>
                        <a:rPr lang="en-US" sz="1600" dirty="0">
                          <a:effectLst/>
                        </a:rPr>
                        <a:t>branch</a:t>
                      </a:r>
                      <a:r>
                        <a:rPr lang="en-US" sz="1600" spc="175" dirty="0">
                          <a:effectLst/>
                        </a:rPr>
                        <a:t> </a:t>
                      </a:r>
                      <a:r>
                        <a:rPr lang="en-US" sz="1600" dirty="0">
                          <a:effectLst/>
                        </a:rPr>
                        <a:t>–and</a:t>
                      </a:r>
                      <a:r>
                        <a:rPr lang="en-US" sz="1600" spc="165" dirty="0">
                          <a:effectLst/>
                        </a:rPr>
                        <a:t> </a:t>
                      </a:r>
                      <a:r>
                        <a:rPr lang="en-US" sz="1600" dirty="0">
                          <a:effectLst/>
                        </a:rPr>
                        <a:t>–bound</a:t>
                      </a:r>
                      <a:r>
                        <a:rPr lang="en-US" sz="1600" spc="165" dirty="0">
                          <a:effectLst/>
                        </a:rPr>
                        <a:t> </a:t>
                      </a:r>
                      <a:r>
                        <a:rPr lang="en-US" sz="1600" dirty="0">
                          <a:effectLst/>
                        </a:rPr>
                        <a:t>techniques</a:t>
                      </a:r>
                      <a:r>
                        <a:rPr lang="en-US" sz="1600" spc="160" dirty="0">
                          <a:effectLst/>
                        </a:rPr>
                        <a:t> </a:t>
                      </a:r>
                      <a:r>
                        <a:rPr lang="en-US" sz="1600" dirty="0">
                          <a:effectLst/>
                        </a:rPr>
                        <a:t>across diverse problem-solving scenarios.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dirty="0">
                          <a:effectLst/>
                        </a:rPr>
                        <a:t> </a:t>
                      </a:r>
                    </a:p>
                    <a:p>
                      <a:pPr marL="133350" marR="104140" algn="ctr">
                        <a:lnSpc>
                          <a:spcPts val="1280"/>
                        </a:lnSpc>
                        <a:buNone/>
                      </a:pPr>
                      <a:r>
                        <a:rPr lang="en-US" sz="1600" spc="-25" dirty="0">
                          <a:effectLst/>
                        </a:rPr>
                        <a:t>K3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68211408"/>
                  </a:ext>
                </a:extLst>
              </a:tr>
              <a:tr h="828806">
                <a:tc>
                  <a:txBody>
                    <a:bodyPr/>
                    <a:lstStyle/>
                    <a:p>
                      <a:pPr marL="0" marR="0" algn="l">
                        <a:lnSpc>
                          <a:spcPts val="1280"/>
                        </a:lnSpc>
                        <a:spcBef>
                          <a:spcPts val="1190"/>
                        </a:spcBef>
                        <a:buNone/>
                      </a:pPr>
                      <a:r>
                        <a:rPr lang="en-US" sz="1600" dirty="0">
                          <a:effectLst/>
                        </a:rPr>
                        <a:t> </a:t>
                      </a:r>
                    </a:p>
                    <a:p>
                      <a:pPr marL="29210" marR="0" algn="ctr">
                        <a:lnSpc>
                          <a:spcPts val="1280"/>
                        </a:lnSpc>
                        <a:buNone/>
                      </a:pPr>
                      <a:r>
                        <a:rPr lang="en-US" sz="1600" spc="-25" dirty="0">
                          <a:effectLst/>
                        </a:rPr>
                        <a:t>CO5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205"/>
                        </a:spcBef>
                        <a:buNone/>
                      </a:pPr>
                      <a:r>
                        <a:rPr lang="en-US" sz="1600">
                          <a:effectLst/>
                        </a:rPr>
                        <a:t>Understand</a:t>
                      </a:r>
                      <a:r>
                        <a:rPr lang="en-US" sz="1600" spc="400">
                          <a:effectLst/>
                        </a:rPr>
                        <a:t> </a:t>
                      </a:r>
                      <a:r>
                        <a:rPr lang="en-US" sz="1600">
                          <a:effectLst/>
                        </a:rPr>
                        <a:t>principles</a:t>
                      </a:r>
                      <a:r>
                        <a:rPr lang="en-US" sz="1600" spc="400">
                          <a:effectLst/>
                        </a:rPr>
                        <a:t> </a:t>
                      </a:r>
                      <a:r>
                        <a:rPr lang="en-US" sz="1600">
                          <a:effectLst/>
                        </a:rPr>
                        <a:t>of</a:t>
                      </a:r>
                      <a:r>
                        <a:rPr lang="en-US" sz="1600" spc="400">
                          <a:effectLst/>
                        </a:rPr>
                        <a:t> </a:t>
                      </a:r>
                      <a:r>
                        <a:rPr lang="en-US" sz="1600">
                          <a:effectLst/>
                        </a:rPr>
                        <a:t>advanced</a:t>
                      </a:r>
                      <a:r>
                        <a:rPr lang="en-US" sz="1600" spc="400">
                          <a:effectLst/>
                        </a:rPr>
                        <a:t> </a:t>
                      </a:r>
                      <a:r>
                        <a:rPr lang="en-US" sz="1600">
                          <a:effectLst/>
                        </a:rPr>
                        <a:t>data</a:t>
                      </a:r>
                      <a:r>
                        <a:rPr lang="en-US" sz="1600" spc="400">
                          <a:effectLst/>
                        </a:rPr>
                        <a:t> </a:t>
                      </a:r>
                      <a:r>
                        <a:rPr lang="en-US" sz="1600">
                          <a:effectLst/>
                        </a:rPr>
                        <a:t>structures,</a:t>
                      </a:r>
                      <a:r>
                        <a:rPr lang="en-US" sz="1600" spc="400">
                          <a:effectLst/>
                        </a:rPr>
                        <a:t> </a:t>
                      </a:r>
                      <a:r>
                        <a:rPr lang="en-US" sz="1600">
                          <a:effectLst/>
                        </a:rPr>
                        <a:t>including</a:t>
                      </a:r>
                      <a:r>
                        <a:rPr lang="en-US" sz="1600" spc="400">
                          <a:effectLst/>
                        </a:rPr>
                        <a:t> </a:t>
                      </a:r>
                      <a:r>
                        <a:rPr lang="en-US" sz="1600">
                          <a:effectLst/>
                        </a:rPr>
                        <a:t>their implementation and applications.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90"/>
                        </a:spcBef>
                        <a:buNone/>
                      </a:pPr>
                      <a:r>
                        <a:rPr lang="en-US" sz="1600" dirty="0">
                          <a:effectLst/>
                        </a:rPr>
                        <a:t> </a:t>
                      </a:r>
                    </a:p>
                    <a:p>
                      <a:pPr marL="133350" marR="104140" algn="ctr">
                        <a:lnSpc>
                          <a:spcPts val="1280"/>
                        </a:lnSpc>
                        <a:buNone/>
                      </a:pPr>
                      <a:r>
                        <a:rPr lang="en-US" sz="1600" spc="-25" dirty="0">
                          <a:effectLst/>
                        </a:rPr>
                        <a:t>K2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34223863"/>
                  </a:ext>
                </a:extLst>
              </a:tr>
            </a:tbl>
          </a:graphicData>
        </a:graphic>
      </p:graphicFrame>
    </p:spTree>
    <p:extLst>
      <p:ext uri="{BB962C8B-B14F-4D97-AF65-F5344CB8AC3E}">
        <p14:creationId xmlns:p14="http://schemas.microsoft.com/office/powerpoint/2010/main" val="2444643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61E34-23D3-6773-F946-4F190403753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DC81BBC-A1B4-58CE-8855-FB363EFF086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329FF371-BD76-D185-FFD0-054AFF78C21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2321467-C372-3A65-BE98-77743BCDDB16}"/>
              </a:ext>
            </a:extLst>
          </p:cNvPr>
          <p:cNvSpPr>
            <a:spLocks noGrp="1"/>
          </p:cNvSpPr>
          <p:nvPr>
            <p:ph type="sldNum" sz="quarter" idx="12"/>
          </p:nvPr>
        </p:nvSpPr>
        <p:spPr/>
        <p:txBody>
          <a:bodyPr/>
          <a:lstStyle/>
          <a:p>
            <a:fld id="{B41E2F89-97C2-4B18-A593-8150592B5005}" type="slidenum">
              <a:rPr lang="en-US" smtClean="0"/>
              <a:t>8</a:t>
            </a:fld>
            <a:endParaRPr lang="en-US" dirty="0"/>
          </a:p>
        </p:txBody>
      </p:sp>
      <p:sp>
        <p:nvSpPr>
          <p:cNvPr id="7" name="Title 1">
            <a:extLst>
              <a:ext uri="{FF2B5EF4-FFF2-40B4-BE49-F238E27FC236}">
                <a16:creationId xmlns:a16="http://schemas.microsoft.com/office/drawing/2014/main" id="{2DFEBA67-939A-0F4D-DAD8-C7E828AF62F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Program Outcomes (POs)</a:t>
            </a:r>
          </a:p>
        </p:txBody>
      </p:sp>
      <p:pic>
        <p:nvPicPr>
          <p:cNvPr id="8" name="Picture 7" descr="A black and red logo&#10;&#10;Description automatically generated">
            <a:extLst>
              <a:ext uri="{FF2B5EF4-FFF2-40B4-BE49-F238E27FC236}">
                <a16:creationId xmlns:a16="http://schemas.microsoft.com/office/drawing/2014/main" id="{8420D6DF-74A5-9289-8A8D-757B402CA0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E9AEA95-96C0-DA40-DCFC-BC37942E3C97}"/>
              </a:ext>
            </a:extLst>
          </p:cNvPr>
          <p:cNvSpPr txBox="1"/>
          <p:nvPr/>
        </p:nvSpPr>
        <p:spPr>
          <a:xfrm>
            <a:off x="892139" y="1472977"/>
            <a:ext cx="10820399" cy="4524315"/>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dirty="0"/>
              <a:t>Engineering Knowledge</a:t>
            </a:r>
          </a:p>
          <a:p>
            <a:pPr marL="457200" indent="-457200" algn="just">
              <a:buFont typeface="+mj-lt"/>
              <a:buAutoNum type="arabicPeriod"/>
            </a:pPr>
            <a:r>
              <a:rPr lang="en-US" sz="2400" b="1" dirty="0"/>
              <a:t>Problem Analysis</a:t>
            </a:r>
          </a:p>
          <a:p>
            <a:pPr marL="457200" indent="-457200" algn="just">
              <a:buFont typeface="+mj-lt"/>
              <a:buAutoNum type="arabicPeriod"/>
            </a:pPr>
            <a:r>
              <a:rPr lang="en-US" sz="2400" b="1" dirty="0"/>
              <a:t>Design/Development of Solutions</a:t>
            </a:r>
          </a:p>
          <a:p>
            <a:pPr marL="457200" indent="-457200" algn="just">
              <a:buFont typeface="+mj-lt"/>
              <a:buAutoNum type="arabicPeriod"/>
            </a:pPr>
            <a:r>
              <a:rPr lang="en-US" sz="2400" b="1" dirty="0"/>
              <a:t>Conduct Investigations of Complex Problems</a:t>
            </a:r>
            <a:endParaRPr lang="en-US" sz="2400" b="1" dirty="0">
              <a:cs typeface="Times New Roman" panose="02020603050405020304" pitchFamily="18" charset="0"/>
            </a:endParaRPr>
          </a:p>
          <a:p>
            <a:pPr marL="457200" indent="-457200" algn="just">
              <a:buFont typeface="+mj-lt"/>
              <a:buAutoNum type="arabicPeriod"/>
            </a:pPr>
            <a:r>
              <a:rPr lang="en-US" sz="2400" b="1" dirty="0"/>
              <a:t>Engineering Tool Usage</a:t>
            </a:r>
          </a:p>
          <a:p>
            <a:pPr marL="457200" indent="-457200" algn="just">
              <a:buFont typeface="+mj-lt"/>
              <a:buAutoNum type="arabicPeriod"/>
            </a:pPr>
            <a:r>
              <a:rPr lang="en-US" sz="2400" b="1" dirty="0"/>
              <a:t>The Engineer and The World</a:t>
            </a:r>
          </a:p>
          <a:p>
            <a:pPr marL="457200" indent="-457200" algn="just">
              <a:buFont typeface="+mj-lt"/>
              <a:buAutoNum type="arabicPeriod"/>
            </a:pPr>
            <a:r>
              <a:rPr lang="en-US" sz="2400" b="1" dirty="0"/>
              <a:t>Ethics</a:t>
            </a:r>
          </a:p>
          <a:p>
            <a:pPr marL="457200" indent="-457200" algn="just">
              <a:buFont typeface="+mj-lt"/>
              <a:buAutoNum type="arabicPeriod"/>
            </a:pPr>
            <a:r>
              <a:rPr lang="en-US" sz="2400" b="1" dirty="0"/>
              <a:t>Individual and Collaborative Team work</a:t>
            </a:r>
          </a:p>
          <a:p>
            <a:pPr marL="457200" indent="-457200" algn="just">
              <a:buFont typeface="+mj-lt"/>
              <a:buAutoNum type="arabicPeriod"/>
            </a:pPr>
            <a:r>
              <a:rPr lang="en-US" sz="2400" b="1" dirty="0"/>
              <a:t>Communication</a:t>
            </a:r>
          </a:p>
          <a:p>
            <a:pPr marL="457200" indent="-457200" algn="just">
              <a:buFont typeface="+mj-lt"/>
              <a:buAutoNum type="arabicPeriod"/>
            </a:pPr>
            <a:r>
              <a:rPr lang="en-US" sz="2400" b="1" dirty="0"/>
              <a:t>Project Management and Finance</a:t>
            </a:r>
          </a:p>
          <a:p>
            <a:pPr marL="457200" indent="-457200" algn="just">
              <a:buFont typeface="+mj-lt"/>
              <a:buAutoNum type="arabicPeriod"/>
            </a:pPr>
            <a:r>
              <a:rPr lang="en-US" sz="2400" b="1" dirty="0"/>
              <a:t>Life-Long Learning</a:t>
            </a:r>
            <a:endParaRPr lang="en-US" sz="2400" dirty="0">
              <a:cs typeface="Times New Roman" panose="02020603050405020304" pitchFamily="18" charset="0"/>
            </a:endParaRPr>
          </a:p>
        </p:txBody>
      </p:sp>
    </p:spTree>
    <p:extLst>
      <p:ext uri="{BB962C8B-B14F-4D97-AF65-F5344CB8AC3E}">
        <p14:creationId xmlns:p14="http://schemas.microsoft.com/office/powerpoint/2010/main" val="285929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E2B3-F540-F781-1EB2-D77C636FFA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FCBED0-1773-2402-5B36-DB3DEC2F441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CF8E7C2-0C7A-49C7-F389-A9ED190B7DC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E674E8DF-DB2A-5F70-0D08-1CB526CAAEDA}"/>
              </a:ext>
            </a:extLst>
          </p:cNvPr>
          <p:cNvSpPr>
            <a:spLocks noGrp="1"/>
          </p:cNvSpPr>
          <p:nvPr>
            <p:ph type="sldNum" sz="quarter" idx="12"/>
          </p:nvPr>
        </p:nvSpPr>
        <p:spPr/>
        <p:txBody>
          <a:bodyPr/>
          <a:lstStyle/>
          <a:p>
            <a:fld id="{B41E2F89-97C2-4B18-A593-8150592B5005}" type="slidenum">
              <a:rPr lang="en-US" smtClean="0"/>
              <a:t>9</a:t>
            </a:fld>
            <a:endParaRPr lang="en-US" dirty="0"/>
          </a:p>
        </p:txBody>
      </p:sp>
      <p:sp>
        <p:nvSpPr>
          <p:cNvPr id="7" name="Title 1">
            <a:extLst>
              <a:ext uri="{FF2B5EF4-FFF2-40B4-BE49-F238E27FC236}">
                <a16:creationId xmlns:a16="http://schemas.microsoft.com/office/drawing/2014/main" id="{9192F65A-4688-AA10-AD0B-4EF951749EB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COs and POs Mapping</a:t>
            </a:r>
          </a:p>
        </p:txBody>
      </p:sp>
      <p:pic>
        <p:nvPicPr>
          <p:cNvPr id="8" name="Picture 7" descr="A black and red logo&#10;&#10;Description automatically generated">
            <a:extLst>
              <a:ext uri="{FF2B5EF4-FFF2-40B4-BE49-F238E27FC236}">
                <a16:creationId xmlns:a16="http://schemas.microsoft.com/office/drawing/2014/main" id="{FC2862C2-9E98-37EE-B7A8-E6E5120CA3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5BB6DE2F-A945-91C5-4EE3-E71B5C55BFCF}"/>
              </a:ext>
            </a:extLst>
          </p:cNvPr>
          <p:cNvSpPr txBox="1"/>
          <p:nvPr/>
        </p:nvSpPr>
        <p:spPr>
          <a:xfrm>
            <a:off x="892139" y="1483251"/>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63CC7C21-739D-2E5E-7707-84D6B5D1C46B}"/>
              </a:ext>
            </a:extLst>
          </p:cNvPr>
          <p:cNvGraphicFramePr>
            <a:graphicFrameLocks noGrp="1"/>
          </p:cNvGraphicFramePr>
          <p:nvPr>
            <p:extLst>
              <p:ext uri="{D42A27DB-BD31-4B8C-83A1-F6EECF244321}">
                <p14:modId xmlns:p14="http://schemas.microsoft.com/office/powerpoint/2010/main" val="2629749562"/>
              </p:ext>
            </p:extLst>
          </p:nvPr>
        </p:nvGraphicFramePr>
        <p:xfrm>
          <a:off x="479462" y="893852"/>
          <a:ext cx="11233075" cy="4707036"/>
        </p:xfrm>
        <a:graphic>
          <a:graphicData uri="http://schemas.openxmlformats.org/drawingml/2006/table">
            <a:tbl>
              <a:tblPr firstRow="1" firstCol="1" lastRow="1" lastCol="1" bandRow="1" bandCol="1">
                <a:tableStyleId>{5C22544A-7EE6-4342-B048-85BDC9FD1C3A}</a:tableStyleId>
              </a:tblPr>
              <a:tblGrid>
                <a:gridCol w="991523">
                  <a:extLst>
                    <a:ext uri="{9D8B030D-6E8A-4147-A177-3AD203B41FA5}">
                      <a16:colId xmlns:a16="http://schemas.microsoft.com/office/drawing/2014/main" val="1446934377"/>
                    </a:ext>
                  </a:extLst>
                </a:gridCol>
                <a:gridCol w="563786">
                  <a:extLst>
                    <a:ext uri="{9D8B030D-6E8A-4147-A177-3AD203B41FA5}">
                      <a16:colId xmlns:a16="http://schemas.microsoft.com/office/drawing/2014/main" val="2604557165"/>
                    </a:ext>
                  </a:extLst>
                </a:gridCol>
                <a:gridCol w="853503">
                  <a:extLst>
                    <a:ext uri="{9D8B030D-6E8A-4147-A177-3AD203B41FA5}">
                      <a16:colId xmlns:a16="http://schemas.microsoft.com/office/drawing/2014/main" val="1003676258"/>
                    </a:ext>
                  </a:extLst>
                </a:gridCol>
                <a:gridCol w="853503">
                  <a:extLst>
                    <a:ext uri="{9D8B030D-6E8A-4147-A177-3AD203B41FA5}">
                      <a16:colId xmlns:a16="http://schemas.microsoft.com/office/drawing/2014/main" val="2801106223"/>
                    </a:ext>
                  </a:extLst>
                </a:gridCol>
                <a:gridCol w="854923">
                  <a:extLst>
                    <a:ext uri="{9D8B030D-6E8A-4147-A177-3AD203B41FA5}">
                      <a16:colId xmlns:a16="http://schemas.microsoft.com/office/drawing/2014/main" val="494161096"/>
                    </a:ext>
                  </a:extLst>
                </a:gridCol>
                <a:gridCol w="853503">
                  <a:extLst>
                    <a:ext uri="{9D8B030D-6E8A-4147-A177-3AD203B41FA5}">
                      <a16:colId xmlns:a16="http://schemas.microsoft.com/office/drawing/2014/main" val="1088583638"/>
                    </a:ext>
                  </a:extLst>
                </a:gridCol>
                <a:gridCol w="853503">
                  <a:extLst>
                    <a:ext uri="{9D8B030D-6E8A-4147-A177-3AD203B41FA5}">
                      <a16:colId xmlns:a16="http://schemas.microsoft.com/office/drawing/2014/main" val="518240915"/>
                    </a:ext>
                  </a:extLst>
                </a:gridCol>
                <a:gridCol w="853503">
                  <a:extLst>
                    <a:ext uri="{9D8B030D-6E8A-4147-A177-3AD203B41FA5}">
                      <a16:colId xmlns:a16="http://schemas.microsoft.com/office/drawing/2014/main" val="1060739048"/>
                    </a:ext>
                  </a:extLst>
                </a:gridCol>
                <a:gridCol w="850668">
                  <a:extLst>
                    <a:ext uri="{9D8B030D-6E8A-4147-A177-3AD203B41FA5}">
                      <a16:colId xmlns:a16="http://schemas.microsoft.com/office/drawing/2014/main" val="4194201301"/>
                    </a:ext>
                  </a:extLst>
                </a:gridCol>
                <a:gridCol w="853503">
                  <a:extLst>
                    <a:ext uri="{9D8B030D-6E8A-4147-A177-3AD203B41FA5}">
                      <a16:colId xmlns:a16="http://schemas.microsoft.com/office/drawing/2014/main" val="3796029021"/>
                    </a:ext>
                  </a:extLst>
                </a:gridCol>
                <a:gridCol w="853503">
                  <a:extLst>
                    <a:ext uri="{9D8B030D-6E8A-4147-A177-3AD203B41FA5}">
                      <a16:colId xmlns:a16="http://schemas.microsoft.com/office/drawing/2014/main" val="2318301553"/>
                    </a:ext>
                  </a:extLst>
                </a:gridCol>
                <a:gridCol w="996700">
                  <a:extLst>
                    <a:ext uri="{9D8B030D-6E8A-4147-A177-3AD203B41FA5}">
                      <a16:colId xmlns:a16="http://schemas.microsoft.com/office/drawing/2014/main" val="2897721908"/>
                    </a:ext>
                  </a:extLst>
                </a:gridCol>
                <a:gridCol w="1000954">
                  <a:extLst>
                    <a:ext uri="{9D8B030D-6E8A-4147-A177-3AD203B41FA5}">
                      <a16:colId xmlns:a16="http://schemas.microsoft.com/office/drawing/2014/main" val="1375559645"/>
                    </a:ext>
                  </a:extLst>
                </a:gridCol>
              </a:tblGrid>
              <a:tr h="441788">
                <a:tc>
                  <a:txBody>
                    <a:bodyPr/>
                    <a:lstStyle/>
                    <a:p>
                      <a:pPr marL="5080" marR="0" algn="ctr">
                        <a:lnSpc>
                          <a:spcPts val="1280"/>
                        </a:lnSpc>
                        <a:spcBef>
                          <a:spcPts val="1195"/>
                        </a:spcBef>
                        <a:buNone/>
                      </a:pPr>
                      <a:endParaRPr lang="en-US" sz="1600" spc="-25" dirty="0">
                        <a:solidFill>
                          <a:schemeClr val="tx1"/>
                        </a:solidFill>
                        <a:effectLst/>
                      </a:endParaRPr>
                    </a:p>
                    <a:p>
                      <a:pPr marL="5080" marR="0" algn="ctr">
                        <a:lnSpc>
                          <a:spcPts val="1280"/>
                        </a:lnSpc>
                        <a:spcBef>
                          <a:spcPts val="1195"/>
                        </a:spcBef>
                        <a:buNone/>
                      </a:pPr>
                      <a:r>
                        <a:rPr lang="en-US" sz="1600" spc="-25" dirty="0">
                          <a:solidFill>
                            <a:schemeClr val="tx1"/>
                          </a:solidFill>
                          <a:effectLst/>
                        </a:rPr>
                        <a:t>Sr</a:t>
                      </a:r>
                      <a:r>
                        <a:rPr lang="en-US" sz="1600" spc="-50" dirty="0">
                          <a:solidFill>
                            <a:schemeClr val="tx1"/>
                          </a:solidFill>
                          <a:effectLst/>
                        </a:rPr>
                        <a:t>. No</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l">
                        <a:lnSpc>
                          <a:spcPts val="1280"/>
                        </a:lnSpc>
                        <a:buNone/>
                      </a:pPr>
                      <a:r>
                        <a:rPr lang="en-US" sz="1600" dirty="0">
                          <a:solidFill>
                            <a:schemeClr val="tx1"/>
                          </a:solidFill>
                          <a:effectLst/>
                        </a:rPr>
                        <a:t> </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1765" marR="7429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1765" marR="74295" indent="-67310" algn="l">
                        <a:lnSpc>
                          <a:spcPct val="150000"/>
                        </a:lnSpc>
                        <a:spcBef>
                          <a:spcPts val="1195"/>
                        </a:spcBef>
                        <a:buNone/>
                      </a:pPr>
                      <a:r>
                        <a:rPr lang="en-US" sz="1600" spc="-30" dirty="0">
                          <a:solidFill>
                            <a:schemeClr val="tx1"/>
                          </a:solidFill>
                          <a:effectLst/>
                        </a:rPr>
                        <a:t>PO </a:t>
                      </a: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2400" marR="7747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2400" marR="7366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2400" marR="7366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5</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02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6</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175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7</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02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8</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670" marR="7239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9</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86055" marR="69850" indent="-105410" algn="l">
                        <a:lnSpc>
                          <a:spcPct val="150000"/>
                        </a:lnSpc>
                        <a:spcBef>
                          <a:spcPts val="1195"/>
                        </a:spcBef>
                        <a:buNone/>
                      </a:pPr>
                      <a:r>
                        <a:rPr lang="en-US" sz="1600" spc="-20">
                          <a:solidFill>
                            <a:schemeClr val="tx1"/>
                          </a:solidFill>
                          <a:effectLst/>
                        </a:rPr>
                        <a:t>PO1 </a:t>
                      </a:r>
                      <a:r>
                        <a:rPr lang="en-US" sz="1600" spc="-50">
                          <a:solidFill>
                            <a:schemeClr val="tx1"/>
                          </a:solidFill>
                          <a:effectLst/>
                        </a:rPr>
                        <a:t>0</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86055" marR="68580" indent="-106045" algn="l">
                        <a:lnSpc>
                          <a:spcPct val="150000"/>
                        </a:lnSpc>
                        <a:spcBef>
                          <a:spcPts val="1195"/>
                        </a:spcBef>
                        <a:buNone/>
                      </a:pPr>
                      <a:r>
                        <a:rPr lang="en-US" sz="1600" spc="-20">
                          <a:solidFill>
                            <a:schemeClr val="tx1"/>
                          </a:solidFill>
                          <a:effectLst/>
                        </a:rPr>
                        <a:t>PO1 </a:t>
                      </a: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3034453738"/>
                  </a:ext>
                </a:extLst>
              </a:tr>
              <a:tr h="738811">
                <a:tc>
                  <a:txBody>
                    <a:bodyPr/>
                    <a:lstStyle/>
                    <a:p>
                      <a:pPr marL="5080" marR="635" algn="ctr">
                        <a:lnSpc>
                          <a:spcPts val="1280"/>
                        </a:lnSpc>
                        <a:spcBef>
                          <a:spcPts val="119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9385" marR="73025" indent="-76200" algn="l">
                        <a:lnSpc>
                          <a:spcPts val="2050"/>
                        </a:lnSpc>
                        <a:spcBef>
                          <a:spcPts val="525"/>
                        </a:spcBef>
                        <a:buNone/>
                      </a:pPr>
                      <a:r>
                        <a:rPr lang="en-US" sz="1600" spc="-30">
                          <a:solidFill>
                            <a:schemeClr val="tx1"/>
                          </a:solidFill>
                          <a:effectLst/>
                        </a:rPr>
                        <a:t>CO </a:t>
                      </a: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dirty="0">
                          <a:solidFill>
                            <a:schemeClr val="tx1"/>
                          </a:solidFill>
                          <a:effectLst/>
                        </a:rPr>
                        <a:t>3</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3774923347"/>
                  </a:ext>
                </a:extLst>
              </a:tr>
              <a:tr h="740888">
                <a:tc>
                  <a:txBody>
                    <a:bodyPr/>
                    <a:lstStyle/>
                    <a:p>
                      <a:pPr marL="5080" marR="635" algn="ctr">
                        <a:lnSpc>
                          <a:spcPts val="1280"/>
                        </a:lnSpc>
                        <a:spcBef>
                          <a:spcPts val="1205"/>
                        </a:spcBef>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9385" marR="73025" indent="-76200" algn="l">
                        <a:lnSpc>
                          <a:spcPts val="2050"/>
                        </a:lnSpc>
                        <a:spcBef>
                          <a:spcPts val="535"/>
                        </a:spcBef>
                        <a:buNone/>
                      </a:pPr>
                      <a:r>
                        <a:rPr lang="en-US" sz="1600" spc="-30">
                          <a:solidFill>
                            <a:schemeClr val="tx1"/>
                          </a:solidFill>
                          <a:effectLst/>
                        </a:rPr>
                        <a:t>CO </a:t>
                      </a: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280"/>
                        </a:lnSpc>
                        <a:spcBef>
                          <a:spcPts val="5"/>
                        </a:spcBef>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280"/>
                        </a:lnSpc>
                        <a:spcBef>
                          <a:spcPts val="5"/>
                        </a:spcBef>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280"/>
                        </a:lnSpc>
                        <a:spcBef>
                          <a:spcPts val="5"/>
                        </a:spcBef>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280"/>
                        </a:lnSpc>
                        <a:spcBef>
                          <a:spcPts val="5"/>
                        </a:spcBef>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280"/>
                        </a:lnSpc>
                        <a:spcBef>
                          <a:spcPts val="5"/>
                        </a:spcBef>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280"/>
                        </a:lnSpc>
                        <a:spcBef>
                          <a:spcPts val="5"/>
                        </a:spcBef>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4187566053"/>
                  </a:ext>
                </a:extLst>
              </a:tr>
              <a:tr h="738811">
                <a:tc>
                  <a:txBody>
                    <a:bodyPr/>
                    <a:lstStyle/>
                    <a:p>
                      <a:pPr marL="5080" marR="635" algn="ctr">
                        <a:lnSpc>
                          <a:spcPts val="1280"/>
                        </a:lnSpc>
                        <a:spcBef>
                          <a:spcPts val="1195"/>
                        </a:spcBef>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660" indent="-70485" algn="l">
                        <a:lnSpc>
                          <a:spcPts val="2050"/>
                        </a:lnSpc>
                        <a:spcBef>
                          <a:spcPts val="525"/>
                        </a:spcBef>
                        <a:buNone/>
                      </a:pPr>
                      <a:r>
                        <a:rPr lang="en-US" sz="1600" spc="-30">
                          <a:solidFill>
                            <a:schemeClr val="tx1"/>
                          </a:solidFill>
                          <a:effectLst/>
                        </a:rPr>
                        <a:t>CO </a:t>
                      </a: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1528649301"/>
                  </a:ext>
                </a:extLst>
              </a:tr>
              <a:tr h="738811">
                <a:tc>
                  <a:txBody>
                    <a:bodyPr/>
                    <a:lstStyle/>
                    <a:p>
                      <a:pPr marL="5080" marR="635" algn="ctr">
                        <a:lnSpc>
                          <a:spcPts val="1280"/>
                        </a:lnSpc>
                        <a:spcBef>
                          <a:spcPts val="1195"/>
                        </a:spcBef>
                        <a:buNone/>
                      </a:pPr>
                      <a:r>
                        <a:rPr lang="en-US" sz="1600" spc="-50">
                          <a:solidFill>
                            <a:schemeClr val="tx1"/>
                          </a:solidFill>
                          <a:effectLst/>
                        </a:rPr>
                        <a:t>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660" indent="-70485" algn="l">
                        <a:lnSpc>
                          <a:spcPts val="2050"/>
                        </a:lnSpc>
                        <a:spcBef>
                          <a:spcPts val="525"/>
                        </a:spcBef>
                        <a:buNone/>
                      </a:pPr>
                      <a:r>
                        <a:rPr lang="en-US" sz="1600" spc="-30">
                          <a:solidFill>
                            <a:schemeClr val="tx1"/>
                          </a:solidFill>
                          <a:effectLst/>
                        </a:rPr>
                        <a:t>CO </a:t>
                      </a:r>
                      <a:r>
                        <a:rPr lang="en-US" sz="1600" spc="-50">
                          <a:solidFill>
                            <a:schemeClr val="tx1"/>
                          </a:solidFill>
                          <a:effectLst/>
                        </a:rPr>
                        <a:t>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rPr>
                        <a:t>-3</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3679214875"/>
                  </a:ext>
                </a:extLst>
              </a:tr>
              <a:tr h="802531">
                <a:tc>
                  <a:txBody>
                    <a:bodyPr/>
                    <a:lstStyle/>
                    <a:p>
                      <a:pPr marL="5080" marR="635" algn="ctr">
                        <a:lnSpc>
                          <a:spcPts val="1280"/>
                        </a:lnSpc>
                        <a:spcBef>
                          <a:spcPts val="1195"/>
                        </a:spcBef>
                        <a:buNone/>
                      </a:pPr>
                      <a:r>
                        <a:rPr lang="en-US" sz="1600" spc="-50">
                          <a:solidFill>
                            <a:schemeClr val="tx1"/>
                          </a:solidFill>
                          <a:effectLst/>
                        </a:rPr>
                        <a:t>5</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660" indent="-70485" algn="l">
                        <a:lnSpc>
                          <a:spcPts val="2050"/>
                        </a:lnSpc>
                        <a:spcBef>
                          <a:spcPts val="525"/>
                        </a:spcBef>
                        <a:buNone/>
                      </a:pPr>
                      <a:r>
                        <a:rPr lang="en-US" sz="1600" spc="-30">
                          <a:solidFill>
                            <a:schemeClr val="tx1"/>
                          </a:solidFill>
                          <a:effectLst/>
                        </a:rPr>
                        <a:t>CO </a:t>
                      </a:r>
                      <a:r>
                        <a:rPr lang="en-US" sz="1600" spc="-50">
                          <a:solidFill>
                            <a:schemeClr val="tx1"/>
                          </a:solidFill>
                          <a:effectLst/>
                        </a:rPr>
                        <a:t>5</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1365572954"/>
                  </a:ext>
                </a:extLst>
              </a:tr>
              <a:tr h="453535">
                <a:tc gridSpan="2">
                  <a:txBody>
                    <a:bodyPr/>
                    <a:lstStyle/>
                    <a:p>
                      <a:pPr marL="77470" marR="0" algn="l">
                        <a:lnSpc>
                          <a:spcPts val="1280"/>
                        </a:lnSpc>
                        <a:spcBef>
                          <a:spcPts val="1195"/>
                        </a:spcBef>
                        <a:buNone/>
                      </a:pPr>
                      <a:r>
                        <a:rPr lang="en-US" sz="1600" spc="-10" dirty="0">
                          <a:solidFill>
                            <a:schemeClr val="tx1"/>
                          </a:solidFill>
                          <a:effectLst/>
                        </a:rPr>
                        <a:t>Average</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hMerge="1">
                  <a:txBody>
                    <a:bodyPr/>
                    <a:lstStyle/>
                    <a:p>
                      <a:endParaRPr lang="en-US"/>
                    </a:p>
                  </a:txBody>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0" algn="ctr">
                        <a:lnSpc>
                          <a:spcPts val="1375"/>
                        </a:lnSpc>
                        <a:buNone/>
                      </a:pPr>
                      <a:r>
                        <a:rPr lang="en-US" sz="1600" spc="-25">
                          <a:solidFill>
                            <a:schemeClr val="tx1"/>
                          </a:solidFill>
                          <a:effectLst/>
                        </a:rPr>
                        <a:t>2.4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25">
                          <a:solidFill>
                            <a:schemeClr val="tx1"/>
                          </a:solidFill>
                          <a:effectLst/>
                        </a:rPr>
                        <a:t>1.6</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25">
                          <a:solidFill>
                            <a:schemeClr val="tx1"/>
                          </a:solidFill>
                          <a:effectLst/>
                        </a:rPr>
                        <a:t>1.6</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0" algn="ctr">
                        <a:lnSpc>
                          <a:spcPts val="1375"/>
                        </a:lnSpc>
                        <a:buNone/>
                      </a:pPr>
                      <a:r>
                        <a:rPr lang="en-US" sz="1600" spc="-25">
                          <a:solidFill>
                            <a:schemeClr val="tx1"/>
                          </a:solidFill>
                          <a:effectLst/>
                        </a:rPr>
                        <a:t>1.4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204320009"/>
                  </a:ext>
                </a:extLst>
              </a:tr>
            </a:tbl>
          </a:graphicData>
        </a:graphic>
      </p:graphicFrame>
    </p:spTree>
    <p:extLst>
      <p:ext uri="{BB962C8B-B14F-4D97-AF65-F5344CB8AC3E}">
        <p14:creationId xmlns:p14="http://schemas.microsoft.com/office/powerpoint/2010/main" val="1244179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E9A0-7DA1-E9CF-C96B-351902F30E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94A060F-7172-6EB1-A49F-CD65BD42BC1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5E7A9632-20AC-BAD6-5BC3-766749EF164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8EDD00C-EE64-C294-750A-0F95CACDA831}"/>
              </a:ext>
            </a:extLst>
          </p:cNvPr>
          <p:cNvSpPr>
            <a:spLocks noGrp="1"/>
          </p:cNvSpPr>
          <p:nvPr>
            <p:ph type="sldNum" sz="quarter" idx="12"/>
          </p:nvPr>
        </p:nvSpPr>
        <p:spPr/>
        <p:txBody>
          <a:bodyPr/>
          <a:lstStyle/>
          <a:p>
            <a:fld id="{B41E2F89-97C2-4B18-A593-8150592B5005}" type="slidenum">
              <a:rPr lang="en-US" smtClean="0"/>
              <a:t>10</a:t>
            </a:fld>
            <a:endParaRPr lang="en-US" dirty="0"/>
          </a:p>
        </p:txBody>
      </p:sp>
      <p:sp>
        <p:nvSpPr>
          <p:cNvPr id="7" name="Title 1">
            <a:extLst>
              <a:ext uri="{FF2B5EF4-FFF2-40B4-BE49-F238E27FC236}">
                <a16:creationId xmlns:a16="http://schemas.microsoft.com/office/drawing/2014/main" id="{AE920461-1554-2DE8-3811-85D92083973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Program Specific Outcomes (PSOs)</a:t>
            </a:r>
          </a:p>
        </p:txBody>
      </p:sp>
      <p:pic>
        <p:nvPicPr>
          <p:cNvPr id="8" name="Picture 7" descr="A black and red logo&#10;&#10;Description automatically generated">
            <a:extLst>
              <a:ext uri="{FF2B5EF4-FFF2-40B4-BE49-F238E27FC236}">
                <a16:creationId xmlns:a16="http://schemas.microsoft.com/office/drawing/2014/main" id="{6A99F1E4-1B92-99CB-748A-5822567AED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01AC5F22-52B8-246D-62CD-A0AE65B81DF8}"/>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71D4A4F-BB52-E408-3321-C1E71D129130}"/>
              </a:ext>
            </a:extLst>
          </p:cNvPr>
          <p:cNvGraphicFramePr>
            <a:graphicFrameLocks noGrp="1"/>
          </p:cNvGraphicFramePr>
          <p:nvPr>
            <p:extLst>
              <p:ext uri="{D42A27DB-BD31-4B8C-83A1-F6EECF244321}">
                <p14:modId xmlns:p14="http://schemas.microsoft.com/office/powerpoint/2010/main" val="1616889386"/>
              </p:ext>
            </p:extLst>
          </p:nvPr>
        </p:nvGraphicFramePr>
        <p:xfrm>
          <a:off x="892139" y="1376738"/>
          <a:ext cx="10676562" cy="4582274"/>
        </p:xfrm>
        <a:graphic>
          <a:graphicData uri="http://schemas.openxmlformats.org/drawingml/2006/table">
            <a:tbl>
              <a:tblPr firstRow="1" firstCol="1" lastRow="1" lastCol="1" bandRow="1" bandCol="1">
                <a:tableStyleId>{5C22544A-7EE6-4342-B048-85BDC9FD1C3A}</a:tableStyleId>
              </a:tblPr>
              <a:tblGrid>
                <a:gridCol w="1339606">
                  <a:extLst>
                    <a:ext uri="{9D8B030D-6E8A-4147-A177-3AD203B41FA5}">
                      <a16:colId xmlns:a16="http://schemas.microsoft.com/office/drawing/2014/main" val="2545702966"/>
                    </a:ext>
                  </a:extLst>
                </a:gridCol>
                <a:gridCol w="1569253">
                  <a:extLst>
                    <a:ext uri="{9D8B030D-6E8A-4147-A177-3AD203B41FA5}">
                      <a16:colId xmlns:a16="http://schemas.microsoft.com/office/drawing/2014/main" val="318655469"/>
                    </a:ext>
                  </a:extLst>
                </a:gridCol>
                <a:gridCol w="7767703">
                  <a:extLst>
                    <a:ext uri="{9D8B030D-6E8A-4147-A177-3AD203B41FA5}">
                      <a16:colId xmlns:a16="http://schemas.microsoft.com/office/drawing/2014/main" val="143553510"/>
                    </a:ext>
                  </a:extLst>
                </a:gridCol>
              </a:tblGrid>
              <a:tr h="1221473">
                <a:tc>
                  <a:txBody>
                    <a:bodyPr/>
                    <a:lstStyle/>
                    <a:p>
                      <a:pPr marL="0" marR="0" algn="l">
                        <a:lnSpc>
                          <a:spcPts val="1280"/>
                        </a:lnSpc>
                        <a:spcBef>
                          <a:spcPts val="195"/>
                        </a:spcBef>
                        <a:buNone/>
                      </a:pPr>
                      <a:r>
                        <a:rPr lang="en-US" sz="1800" dirty="0">
                          <a:solidFill>
                            <a:schemeClr val="tx1"/>
                          </a:solidFill>
                          <a:effectLst/>
                        </a:rPr>
                        <a:t> </a:t>
                      </a:r>
                    </a:p>
                    <a:p>
                      <a:pPr marL="6350" marR="635" algn="ctr">
                        <a:lnSpc>
                          <a:spcPts val="1280"/>
                        </a:lnSpc>
                        <a:buNone/>
                      </a:pPr>
                      <a:r>
                        <a:rPr lang="en-US" sz="1800" spc="-10" dirty="0">
                          <a:solidFill>
                            <a:schemeClr val="tx1"/>
                          </a:solidFill>
                          <a:effectLst/>
                        </a:rPr>
                        <a:t>S.NO.</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68910" marR="160655" indent="33020" algn="just">
                        <a:lnSpc>
                          <a:spcPct val="115000"/>
                        </a:lnSpc>
                        <a:buNone/>
                      </a:pPr>
                      <a:r>
                        <a:rPr lang="en-US" sz="1800" spc="-10" dirty="0">
                          <a:solidFill>
                            <a:schemeClr val="tx1"/>
                          </a:solidFill>
                          <a:effectLst/>
                        </a:rPr>
                        <a:t>Program Specific Outcomes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l">
                        <a:lnSpc>
                          <a:spcPts val="1280"/>
                        </a:lnSpc>
                        <a:spcBef>
                          <a:spcPts val="195"/>
                        </a:spcBef>
                        <a:buNone/>
                      </a:pPr>
                      <a:r>
                        <a:rPr lang="en-US" sz="1800" dirty="0">
                          <a:solidFill>
                            <a:schemeClr val="tx1"/>
                          </a:solidFill>
                          <a:effectLst/>
                        </a:rPr>
                        <a:t> </a:t>
                      </a:r>
                    </a:p>
                    <a:p>
                      <a:pPr marL="3810" marR="0" algn="ctr">
                        <a:lnSpc>
                          <a:spcPts val="1280"/>
                        </a:lnSpc>
                        <a:buNone/>
                      </a:pPr>
                      <a:r>
                        <a:rPr lang="en-US" sz="1800" dirty="0">
                          <a:solidFill>
                            <a:schemeClr val="tx1"/>
                          </a:solidFill>
                          <a:effectLst/>
                        </a:rPr>
                        <a:t>PSO</a:t>
                      </a:r>
                      <a:r>
                        <a:rPr lang="en-US" sz="1800" spc="-5" dirty="0">
                          <a:solidFill>
                            <a:schemeClr val="tx1"/>
                          </a:solidFill>
                          <a:effectLst/>
                        </a:rPr>
                        <a:t> </a:t>
                      </a:r>
                      <a:r>
                        <a:rPr lang="en-US" sz="1800" spc="-10" dirty="0">
                          <a:solidFill>
                            <a:schemeClr val="tx1"/>
                          </a:solidFill>
                          <a:effectLst/>
                        </a:rPr>
                        <a:t>Description</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1227111057"/>
                  </a:ext>
                </a:extLst>
              </a:tr>
              <a:tr h="1254265">
                <a:tc>
                  <a:txBody>
                    <a:bodyPr/>
                    <a:lstStyle/>
                    <a:p>
                      <a:pPr marL="6350" marR="0" algn="ctr">
                        <a:lnSpc>
                          <a:spcPts val="1280"/>
                        </a:lnSpc>
                        <a:spcBef>
                          <a:spcPts val="1085"/>
                        </a:spcBef>
                        <a:buNone/>
                      </a:pPr>
                      <a:r>
                        <a:rPr lang="en-US" sz="1800" spc="-50">
                          <a:solidFill>
                            <a:schemeClr val="tx1"/>
                          </a:solidFill>
                          <a:effectLst/>
                        </a:rPr>
                        <a:t>1</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5080" marR="0" algn="ctr">
                        <a:lnSpc>
                          <a:spcPts val="1280"/>
                        </a:lnSpc>
                        <a:spcBef>
                          <a:spcPts val="845"/>
                        </a:spcBef>
                        <a:buNone/>
                      </a:pPr>
                      <a:r>
                        <a:rPr lang="en-US" sz="1800" spc="-20">
                          <a:solidFill>
                            <a:schemeClr val="tx1"/>
                          </a:solidFill>
                          <a:effectLst/>
                        </a:rPr>
                        <a:t>PSO1</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7945" marR="0" algn="l">
                        <a:lnSpc>
                          <a:spcPts val="1375"/>
                        </a:lnSpc>
                        <a:buNone/>
                      </a:pPr>
                      <a:r>
                        <a:rPr lang="en-US" sz="1800" dirty="0">
                          <a:solidFill>
                            <a:schemeClr val="tx1"/>
                          </a:solidFill>
                          <a:effectLst/>
                        </a:rPr>
                        <a:t>Work</a:t>
                      </a:r>
                      <a:r>
                        <a:rPr lang="en-US" sz="1800" spc="-70" dirty="0">
                          <a:solidFill>
                            <a:schemeClr val="tx1"/>
                          </a:solidFill>
                          <a:effectLst/>
                        </a:rPr>
                        <a:t> </a:t>
                      </a:r>
                      <a:r>
                        <a:rPr lang="en-US" sz="1800" dirty="0">
                          <a:solidFill>
                            <a:schemeClr val="tx1"/>
                          </a:solidFill>
                          <a:effectLst/>
                        </a:rPr>
                        <a:t>as</a:t>
                      </a:r>
                      <a:r>
                        <a:rPr lang="en-US" sz="1800" spc="-55" dirty="0">
                          <a:solidFill>
                            <a:schemeClr val="tx1"/>
                          </a:solidFill>
                          <a:effectLst/>
                        </a:rPr>
                        <a:t> </a:t>
                      </a:r>
                      <a:r>
                        <a:rPr lang="en-US" sz="1800" dirty="0">
                          <a:solidFill>
                            <a:schemeClr val="tx1"/>
                          </a:solidFill>
                          <a:effectLst/>
                        </a:rPr>
                        <a:t>a</a:t>
                      </a:r>
                      <a:r>
                        <a:rPr lang="en-US" sz="1800" spc="-70" dirty="0">
                          <a:solidFill>
                            <a:schemeClr val="tx1"/>
                          </a:solidFill>
                          <a:effectLst/>
                        </a:rPr>
                        <a:t> </a:t>
                      </a:r>
                      <a:r>
                        <a:rPr lang="en-US" sz="1800" dirty="0">
                          <a:solidFill>
                            <a:schemeClr val="tx1"/>
                          </a:solidFill>
                          <a:effectLst/>
                        </a:rPr>
                        <a:t>software</a:t>
                      </a:r>
                      <a:r>
                        <a:rPr lang="en-US" sz="1800" spc="-65" dirty="0">
                          <a:solidFill>
                            <a:schemeClr val="tx1"/>
                          </a:solidFill>
                          <a:effectLst/>
                        </a:rPr>
                        <a:t> </a:t>
                      </a:r>
                      <a:r>
                        <a:rPr lang="en-US" sz="1800" dirty="0">
                          <a:solidFill>
                            <a:schemeClr val="tx1"/>
                          </a:solidFill>
                          <a:effectLst/>
                        </a:rPr>
                        <a:t>engineer</a:t>
                      </a:r>
                      <a:r>
                        <a:rPr lang="en-US" sz="1800" spc="-65" dirty="0">
                          <a:solidFill>
                            <a:schemeClr val="tx1"/>
                          </a:solidFill>
                          <a:effectLst/>
                        </a:rPr>
                        <a:t> </a:t>
                      </a:r>
                      <a:r>
                        <a:rPr lang="en-US" sz="1800" dirty="0">
                          <a:solidFill>
                            <a:schemeClr val="tx1"/>
                          </a:solidFill>
                          <a:effectLst/>
                        </a:rPr>
                        <a:t>in</a:t>
                      </a:r>
                      <a:r>
                        <a:rPr lang="en-US" sz="1800" spc="-65" dirty="0">
                          <a:solidFill>
                            <a:schemeClr val="tx1"/>
                          </a:solidFill>
                          <a:effectLst/>
                        </a:rPr>
                        <a:t> </a:t>
                      </a:r>
                      <a:r>
                        <a:rPr lang="en-US" sz="1800" dirty="0">
                          <a:solidFill>
                            <a:schemeClr val="tx1"/>
                          </a:solidFill>
                          <a:effectLst/>
                        </a:rPr>
                        <a:t>different</a:t>
                      </a:r>
                      <a:r>
                        <a:rPr lang="en-US" sz="1800" spc="-65" dirty="0">
                          <a:solidFill>
                            <a:schemeClr val="tx1"/>
                          </a:solidFill>
                          <a:effectLst/>
                        </a:rPr>
                        <a:t> </a:t>
                      </a:r>
                      <a:r>
                        <a:rPr lang="en-US" sz="1800" dirty="0">
                          <a:solidFill>
                            <a:schemeClr val="tx1"/>
                          </a:solidFill>
                          <a:effectLst/>
                        </a:rPr>
                        <a:t>dimensions</a:t>
                      </a:r>
                      <a:r>
                        <a:rPr lang="en-US" sz="1800" spc="-65" dirty="0">
                          <a:solidFill>
                            <a:schemeClr val="tx1"/>
                          </a:solidFill>
                          <a:effectLst/>
                        </a:rPr>
                        <a:t> </a:t>
                      </a:r>
                      <a:r>
                        <a:rPr lang="en-US" sz="1800" dirty="0">
                          <a:solidFill>
                            <a:schemeClr val="tx1"/>
                          </a:solidFill>
                          <a:effectLst/>
                        </a:rPr>
                        <a:t>of</a:t>
                      </a:r>
                      <a:r>
                        <a:rPr lang="en-US" sz="1800" spc="-70" dirty="0">
                          <a:solidFill>
                            <a:schemeClr val="tx1"/>
                          </a:solidFill>
                          <a:effectLst/>
                        </a:rPr>
                        <a:t> </a:t>
                      </a:r>
                      <a:r>
                        <a:rPr lang="en-US" sz="1800" dirty="0">
                          <a:solidFill>
                            <a:schemeClr val="tx1"/>
                          </a:solidFill>
                          <a:effectLst/>
                        </a:rPr>
                        <a:t>information</a:t>
                      </a:r>
                      <a:r>
                        <a:rPr lang="en-US" sz="1800" spc="-60" dirty="0">
                          <a:solidFill>
                            <a:schemeClr val="tx1"/>
                          </a:solidFill>
                          <a:effectLst/>
                        </a:rPr>
                        <a:t> </a:t>
                      </a:r>
                      <a:r>
                        <a:rPr lang="en-US" sz="1800" spc="-10" dirty="0">
                          <a:solidFill>
                            <a:schemeClr val="tx1"/>
                          </a:solidFill>
                          <a:effectLst/>
                        </a:rPr>
                        <a:t>technology</a:t>
                      </a:r>
                      <a:endParaRPr lang="en-US" sz="1800" dirty="0">
                        <a:solidFill>
                          <a:schemeClr val="tx1"/>
                        </a:solidFill>
                        <a:effectLst/>
                      </a:endParaRPr>
                    </a:p>
                    <a:p>
                      <a:pPr marL="67945" marR="0" algn="l">
                        <a:lnSpc>
                          <a:spcPts val="1550"/>
                        </a:lnSpc>
                        <a:spcBef>
                          <a:spcPts val="45"/>
                        </a:spcBef>
                        <a:buNone/>
                      </a:pPr>
                      <a:r>
                        <a:rPr lang="en-US" sz="1800" dirty="0">
                          <a:solidFill>
                            <a:schemeClr val="tx1"/>
                          </a:solidFill>
                          <a:effectLst/>
                        </a:rPr>
                        <a:t>to provide solutions to real-world and industrial problems in an eco-friendly </a:t>
                      </a:r>
                      <a:r>
                        <a:rPr lang="en-US" sz="1800" spc="-10" dirty="0">
                          <a:solidFill>
                            <a:schemeClr val="tx1"/>
                          </a:solidFill>
                          <a:effectLst/>
                        </a:rPr>
                        <a:t>manner</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21715533"/>
                  </a:ext>
                </a:extLst>
              </a:tr>
              <a:tr h="885063">
                <a:tc>
                  <a:txBody>
                    <a:bodyPr/>
                    <a:lstStyle/>
                    <a:p>
                      <a:pPr marL="6350" marR="0" algn="ctr">
                        <a:lnSpc>
                          <a:spcPts val="1280"/>
                        </a:lnSpc>
                        <a:spcBef>
                          <a:spcPts val="785"/>
                        </a:spcBef>
                        <a:buNone/>
                      </a:pPr>
                      <a:r>
                        <a:rPr lang="en-US" sz="1800" spc="-50">
                          <a:solidFill>
                            <a:schemeClr val="tx1"/>
                          </a:solidFill>
                          <a:effectLst/>
                        </a:rPr>
                        <a:t>2</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5080" marR="0" algn="ctr">
                        <a:lnSpc>
                          <a:spcPts val="1280"/>
                        </a:lnSpc>
                        <a:spcBef>
                          <a:spcPts val="785"/>
                        </a:spcBef>
                        <a:buNone/>
                      </a:pPr>
                      <a:r>
                        <a:rPr lang="en-US" sz="1800" spc="-20">
                          <a:solidFill>
                            <a:schemeClr val="tx1"/>
                          </a:solidFill>
                          <a:effectLst/>
                        </a:rPr>
                        <a:t>PSO2</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7945" marR="0" algn="l">
                        <a:lnSpc>
                          <a:spcPct val="115000"/>
                        </a:lnSpc>
                        <a:buNone/>
                      </a:pPr>
                      <a:r>
                        <a:rPr lang="en-US" sz="1800" dirty="0">
                          <a:solidFill>
                            <a:schemeClr val="tx1"/>
                          </a:solidFill>
                          <a:effectLst/>
                        </a:rPr>
                        <a:t>Apply</a:t>
                      </a:r>
                      <a:r>
                        <a:rPr lang="en-US" sz="1800" spc="400" dirty="0">
                          <a:solidFill>
                            <a:schemeClr val="tx1"/>
                          </a:solidFill>
                          <a:effectLst/>
                        </a:rPr>
                        <a:t> </a:t>
                      </a:r>
                      <a:r>
                        <a:rPr lang="en-US" sz="1800" dirty="0">
                          <a:solidFill>
                            <a:schemeClr val="tx1"/>
                          </a:solidFill>
                          <a:effectLst/>
                        </a:rPr>
                        <a:t>knowledge</a:t>
                      </a:r>
                      <a:r>
                        <a:rPr lang="en-US" sz="1800" spc="400" dirty="0">
                          <a:solidFill>
                            <a:schemeClr val="tx1"/>
                          </a:solidFill>
                          <a:effectLst/>
                        </a:rPr>
                        <a:t> </a:t>
                      </a:r>
                      <a:r>
                        <a:rPr lang="en-US" sz="1800" dirty="0">
                          <a:solidFill>
                            <a:schemeClr val="tx1"/>
                          </a:solidFill>
                          <a:effectLst/>
                        </a:rPr>
                        <a:t>of</a:t>
                      </a:r>
                      <a:r>
                        <a:rPr lang="en-US" sz="1800" spc="400" dirty="0">
                          <a:solidFill>
                            <a:schemeClr val="tx1"/>
                          </a:solidFill>
                          <a:effectLst/>
                        </a:rPr>
                        <a:t> </a:t>
                      </a:r>
                      <a:r>
                        <a:rPr lang="en-US" sz="1800" dirty="0">
                          <a:solidFill>
                            <a:schemeClr val="tx1"/>
                          </a:solidFill>
                          <a:effectLst/>
                        </a:rPr>
                        <a:t>core</a:t>
                      </a:r>
                      <a:r>
                        <a:rPr lang="en-US" sz="1800" spc="400" dirty="0">
                          <a:solidFill>
                            <a:schemeClr val="tx1"/>
                          </a:solidFill>
                          <a:effectLst/>
                        </a:rPr>
                        <a:t> </a:t>
                      </a:r>
                      <a:r>
                        <a:rPr lang="en-US" sz="1800" dirty="0">
                          <a:solidFill>
                            <a:schemeClr val="tx1"/>
                          </a:solidFill>
                          <a:effectLst/>
                        </a:rPr>
                        <a:t>subjects</a:t>
                      </a:r>
                      <a:r>
                        <a:rPr lang="en-US" sz="1800" spc="400" dirty="0">
                          <a:solidFill>
                            <a:schemeClr val="tx1"/>
                          </a:solidFill>
                          <a:effectLst/>
                        </a:rPr>
                        <a:t> </a:t>
                      </a:r>
                      <a:r>
                        <a:rPr lang="en-US" sz="1800" dirty="0">
                          <a:solidFill>
                            <a:schemeClr val="tx1"/>
                          </a:solidFill>
                          <a:effectLst/>
                        </a:rPr>
                        <a:t>with</a:t>
                      </a:r>
                      <a:r>
                        <a:rPr lang="en-US" sz="1800" spc="400" dirty="0">
                          <a:solidFill>
                            <a:schemeClr val="tx1"/>
                          </a:solidFill>
                          <a:effectLst/>
                        </a:rPr>
                        <a:t> </a:t>
                      </a:r>
                      <a:r>
                        <a:rPr lang="en-US" sz="1800" dirty="0">
                          <a:solidFill>
                            <a:schemeClr val="tx1"/>
                          </a:solidFill>
                          <a:effectLst/>
                        </a:rPr>
                        <a:t>multi-disciplinary</a:t>
                      </a:r>
                      <a:r>
                        <a:rPr lang="en-US" sz="1800" spc="400" dirty="0">
                          <a:solidFill>
                            <a:schemeClr val="tx1"/>
                          </a:solidFill>
                          <a:effectLst/>
                        </a:rPr>
                        <a:t> </a:t>
                      </a:r>
                      <a:r>
                        <a:rPr lang="en-US" sz="1800" dirty="0">
                          <a:solidFill>
                            <a:schemeClr val="tx1"/>
                          </a:solidFill>
                          <a:effectLst/>
                        </a:rPr>
                        <a:t>and</a:t>
                      </a:r>
                      <a:r>
                        <a:rPr lang="en-US" sz="1800" spc="400" dirty="0">
                          <a:solidFill>
                            <a:schemeClr val="tx1"/>
                          </a:solidFill>
                          <a:effectLst/>
                        </a:rPr>
                        <a:t> </a:t>
                      </a:r>
                      <a:r>
                        <a:rPr lang="en-US" sz="1800" dirty="0">
                          <a:solidFill>
                            <a:schemeClr val="tx1"/>
                          </a:solidFill>
                          <a:effectLst/>
                        </a:rPr>
                        <a:t>modern computing techniques to solve complex IT problems.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382565225"/>
                  </a:ext>
                </a:extLst>
              </a:tr>
              <a:tr h="1221473">
                <a:tc>
                  <a:txBody>
                    <a:bodyPr/>
                    <a:lstStyle/>
                    <a:p>
                      <a:pPr marL="0" marR="0" algn="l">
                        <a:lnSpc>
                          <a:spcPts val="1280"/>
                        </a:lnSpc>
                        <a:spcBef>
                          <a:spcPts val="195"/>
                        </a:spcBef>
                        <a:buNone/>
                      </a:pPr>
                      <a:r>
                        <a:rPr lang="en-US" sz="1800">
                          <a:solidFill>
                            <a:schemeClr val="tx1"/>
                          </a:solidFill>
                          <a:effectLst/>
                        </a:rPr>
                        <a:t> </a:t>
                      </a:r>
                    </a:p>
                    <a:p>
                      <a:pPr marL="6350" marR="0" algn="ctr">
                        <a:lnSpc>
                          <a:spcPts val="1280"/>
                        </a:lnSpc>
                        <a:buNone/>
                      </a:pPr>
                      <a:r>
                        <a:rPr lang="en-US" sz="1800" spc="-50">
                          <a:solidFill>
                            <a:schemeClr val="tx1"/>
                          </a:solidFill>
                          <a:effectLst/>
                        </a:rPr>
                        <a:t>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l">
                        <a:lnSpc>
                          <a:spcPts val="1280"/>
                        </a:lnSpc>
                        <a:spcBef>
                          <a:spcPts val="195"/>
                        </a:spcBef>
                        <a:buNone/>
                      </a:pPr>
                      <a:r>
                        <a:rPr lang="en-US" sz="1800">
                          <a:solidFill>
                            <a:schemeClr val="tx1"/>
                          </a:solidFill>
                          <a:effectLst/>
                        </a:rPr>
                        <a:t> </a:t>
                      </a:r>
                    </a:p>
                    <a:p>
                      <a:pPr marL="5080" marR="0" algn="ctr">
                        <a:lnSpc>
                          <a:spcPts val="1280"/>
                        </a:lnSpc>
                        <a:buNone/>
                      </a:pPr>
                      <a:r>
                        <a:rPr lang="en-US" sz="1800" spc="-20">
                          <a:solidFill>
                            <a:schemeClr val="tx1"/>
                          </a:solidFill>
                          <a:effectLst/>
                        </a:rPr>
                        <a:t>PSO3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7945" marR="77470" algn="l">
                        <a:lnSpc>
                          <a:spcPct val="115000"/>
                        </a:lnSpc>
                        <a:buNone/>
                      </a:pPr>
                      <a:r>
                        <a:rPr lang="en-US" sz="1800" dirty="0">
                          <a:solidFill>
                            <a:schemeClr val="tx1"/>
                          </a:solidFill>
                          <a:effectLst/>
                        </a:rPr>
                        <a:t>Establish</a:t>
                      </a:r>
                      <a:r>
                        <a:rPr lang="en-US" sz="1800" spc="-25" dirty="0">
                          <a:solidFill>
                            <a:schemeClr val="tx1"/>
                          </a:solidFill>
                          <a:effectLst/>
                        </a:rPr>
                        <a:t> </a:t>
                      </a:r>
                      <a:r>
                        <a:rPr lang="en-US" sz="1800" dirty="0">
                          <a:solidFill>
                            <a:schemeClr val="tx1"/>
                          </a:solidFill>
                          <a:effectLst/>
                        </a:rPr>
                        <a:t>a</a:t>
                      </a:r>
                      <a:r>
                        <a:rPr lang="en-US" sz="1800" spc="-25" dirty="0">
                          <a:solidFill>
                            <a:schemeClr val="tx1"/>
                          </a:solidFill>
                          <a:effectLst/>
                        </a:rPr>
                        <a:t> </a:t>
                      </a:r>
                      <a:r>
                        <a:rPr lang="en-US" sz="1800" dirty="0">
                          <a:solidFill>
                            <a:schemeClr val="tx1"/>
                          </a:solidFill>
                          <a:effectLst/>
                        </a:rPr>
                        <a:t>successful</a:t>
                      </a:r>
                      <a:r>
                        <a:rPr lang="en-US" sz="1800" spc="-25" dirty="0">
                          <a:solidFill>
                            <a:schemeClr val="tx1"/>
                          </a:solidFill>
                          <a:effectLst/>
                        </a:rPr>
                        <a:t> </a:t>
                      </a:r>
                      <a:r>
                        <a:rPr lang="en-US" sz="1800" dirty="0">
                          <a:solidFill>
                            <a:schemeClr val="tx1"/>
                          </a:solidFill>
                          <a:effectLst/>
                        </a:rPr>
                        <a:t>and</a:t>
                      </a:r>
                      <a:r>
                        <a:rPr lang="en-US" sz="1800" spc="-25" dirty="0">
                          <a:solidFill>
                            <a:schemeClr val="tx1"/>
                          </a:solidFill>
                          <a:effectLst/>
                        </a:rPr>
                        <a:t> </a:t>
                      </a:r>
                      <a:r>
                        <a:rPr lang="en-US" sz="1800" dirty="0">
                          <a:solidFill>
                            <a:schemeClr val="tx1"/>
                          </a:solidFill>
                          <a:effectLst/>
                        </a:rPr>
                        <a:t>innovative</a:t>
                      </a:r>
                      <a:r>
                        <a:rPr lang="en-US" sz="1800" spc="-25" dirty="0">
                          <a:solidFill>
                            <a:schemeClr val="tx1"/>
                          </a:solidFill>
                          <a:effectLst/>
                        </a:rPr>
                        <a:t> </a:t>
                      </a:r>
                      <a:r>
                        <a:rPr lang="en-US" sz="1800" dirty="0">
                          <a:solidFill>
                            <a:schemeClr val="tx1"/>
                          </a:solidFill>
                          <a:effectLst/>
                        </a:rPr>
                        <a:t>career</a:t>
                      </a:r>
                      <a:r>
                        <a:rPr lang="en-US" sz="1800" spc="-25" dirty="0">
                          <a:solidFill>
                            <a:schemeClr val="tx1"/>
                          </a:solidFill>
                          <a:effectLst/>
                        </a:rPr>
                        <a:t> </a:t>
                      </a:r>
                      <a:r>
                        <a:rPr lang="en-US" sz="1800" dirty="0">
                          <a:solidFill>
                            <a:schemeClr val="tx1"/>
                          </a:solidFill>
                          <a:effectLst/>
                        </a:rPr>
                        <a:t>by</a:t>
                      </a:r>
                      <a:r>
                        <a:rPr lang="en-US" sz="1800" spc="-25" dirty="0">
                          <a:solidFill>
                            <a:schemeClr val="tx1"/>
                          </a:solidFill>
                          <a:effectLst/>
                        </a:rPr>
                        <a:t> </a:t>
                      </a:r>
                      <a:r>
                        <a:rPr lang="en-US" sz="1800" dirty="0">
                          <a:solidFill>
                            <a:schemeClr val="tx1"/>
                          </a:solidFill>
                          <a:effectLst/>
                        </a:rPr>
                        <a:t>practicing</a:t>
                      </a:r>
                      <a:r>
                        <a:rPr lang="en-US" sz="1800" spc="-25" dirty="0">
                          <a:solidFill>
                            <a:schemeClr val="tx1"/>
                          </a:solidFill>
                          <a:effectLst/>
                        </a:rPr>
                        <a:t> </a:t>
                      </a:r>
                      <a:r>
                        <a:rPr lang="en-US" sz="1800" dirty="0">
                          <a:solidFill>
                            <a:schemeClr val="tx1"/>
                          </a:solidFill>
                          <a:effectLst/>
                        </a:rPr>
                        <a:t>lifelong</a:t>
                      </a:r>
                      <a:r>
                        <a:rPr lang="en-US" sz="1800" spc="-25" dirty="0">
                          <a:solidFill>
                            <a:schemeClr val="tx1"/>
                          </a:solidFill>
                          <a:effectLst/>
                        </a:rPr>
                        <a:t> </a:t>
                      </a:r>
                      <a:r>
                        <a:rPr lang="en-US" sz="1800" dirty="0">
                          <a:solidFill>
                            <a:schemeClr val="tx1"/>
                          </a:solidFill>
                          <a:effectLst/>
                        </a:rPr>
                        <a:t>learning and communicating in a team or as an individual to manage projects with ethical concerns.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208093146"/>
                  </a:ext>
                </a:extLst>
              </a:tr>
            </a:tbl>
          </a:graphicData>
        </a:graphic>
      </p:graphicFrame>
    </p:spTree>
    <p:extLst>
      <p:ext uri="{BB962C8B-B14F-4D97-AF65-F5344CB8AC3E}">
        <p14:creationId xmlns:p14="http://schemas.microsoft.com/office/powerpoint/2010/main" val="1765481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79533-4D43-694A-C896-55D8FDBB07C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67016D-16DB-0FB5-26EC-91530616A0B1}"/>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4C3F57DE-66D9-93F4-8B27-0EDDCB0CC10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DE66521-B7D0-D0FF-D95F-424DE1CE66FE}"/>
              </a:ext>
            </a:extLst>
          </p:cNvPr>
          <p:cNvSpPr>
            <a:spLocks noGrp="1"/>
          </p:cNvSpPr>
          <p:nvPr>
            <p:ph type="sldNum" sz="quarter" idx="12"/>
          </p:nvPr>
        </p:nvSpPr>
        <p:spPr/>
        <p:txBody>
          <a:bodyPr/>
          <a:lstStyle/>
          <a:p>
            <a:fld id="{B41E2F89-97C2-4B18-A593-8150592B5005}" type="slidenum">
              <a:rPr lang="en-US" smtClean="0"/>
              <a:t>11</a:t>
            </a:fld>
            <a:endParaRPr lang="en-US" dirty="0"/>
          </a:p>
        </p:txBody>
      </p:sp>
      <p:sp>
        <p:nvSpPr>
          <p:cNvPr id="7" name="Title 1">
            <a:extLst>
              <a:ext uri="{FF2B5EF4-FFF2-40B4-BE49-F238E27FC236}">
                <a16:creationId xmlns:a16="http://schemas.microsoft.com/office/drawing/2014/main" id="{6CD5670E-610A-04B9-0027-4A4CA74A999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COs and PSOs Mapping</a:t>
            </a:r>
          </a:p>
        </p:txBody>
      </p:sp>
      <p:pic>
        <p:nvPicPr>
          <p:cNvPr id="8" name="Picture 7" descr="A black and red logo&#10;&#10;Description automatically generated">
            <a:extLst>
              <a:ext uri="{FF2B5EF4-FFF2-40B4-BE49-F238E27FC236}">
                <a16:creationId xmlns:a16="http://schemas.microsoft.com/office/drawing/2014/main" id="{36416EE7-2BAC-7177-EE19-4B775A565A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7045181-5107-4A54-7AF2-331504F0D37A}"/>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C70A7B1-6136-81C6-71C6-5B9473F9B42B}"/>
              </a:ext>
            </a:extLst>
          </p:cNvPr>
          <p:cNvGraphicFramePr>
            <a:graphicFrameLocks noGrp="1"/>
          </p:cNvGraphicFramePr>
          <p:nvPr>
            <p:extLst>
              <p:ext uri="{D42A27DB-BD31-4B8C-83A1-F6EECF244321}">
                <p14:modId xmlns:p14="http://schemas.microsoft.com/office/powerpoint/2010/main" val="189709203"/>
              </p:ext>
            </p:extLst>
          </p:nvPr>
        </p:nvGraphicFramePr>
        <p:xfrm>
          <a:off x="1854200" y="1860097"/>
          <a:ext cx="8128000" cy="2865120"/>
        </p:xfrm>
        <a:graphic>
          <a:graphicData uri="http://schemas.openxmlformats.org/drawingml/2006/table">
            <a:tbl>
              <a:tblPr firstRow="1" bandRow="1">
                <a:tableStyleId>{5C22544A-7EE6-4342-B048-85BDC9FD1C3A}</a:tableStyleId>
              </a:tblPr>
              <a:tblGrid>
                <a:gridCol w="991742">
                  <a:extLst>
                    <a:ext uri="{9D8B030D-6E8A-4147-A177-3AD203B41FA5}">
                      <a16:colId xmlns:a16="http://schemas.microsoft.com/office/drawing/2014/main" val="340716626"/>
                    </a:ext>
                  </a:extLst>
                </a:gridCol>
                <a:gridCol w="2280862">
                  <a:extLst>
                    <a:ext uri="{9D8B030D-6E8A-4147-A177-3AD203B41FA5}">
                      <a16:colId xmlns:a16="http://schemas.microsoft.com/office/drawing/2014/main" val="1225602413"/>
                    </a:ext>
                  </a:extLst>
                </a:gridCol>
                <a:gridCol w="2506895">
                  <a:extLst>
                    <a:ext uri="{9D8B030D-6E8A-4147-A177-3AD203B41FA5}">
                      <a16:colId xmlns:a16="http://schemas.microsoft.com/office/drawing/2014/main" val="2846332779"/>
                    </a:ext>
                  </a:extLst>
                </a:gridCol>
                <a:gridCol w="2348501">
                  <a:extLst>
                    <a:ext uri="{9D8B030D-6E8A-4147-A177-3AD203B41FA5}">
                      <a16:colId xmlns:a16="http://schemas.microsoft.com/office/drawing/2014/main" val="3543563804"/>
                    </a:ext>
                  </a:extLst>
                </a:gridCol>
              </a:tblGrid>
              <a:tr h="370840">
                <a:tc>
                  <a:txBody>
                    <a:bodyPr/>
                    <a:lstStyle/>
                    <a:p>
                      <a:r>
                        <a:rPr lang="en-US" dirty="0" err="1"/>
                        <a:t>S.No</a:t>
                      </a:r>
                      <a:endParaRPr lang="en-US" dirty="0"/>
                    </a:p>
                  </a:txBody>
                  <a:tcPr/>
                </a:tc>
                <a:tc>
                  <a:txBody>
                    <a:bodyPr/>
                    <a:lstStyle/>
                    <a:p>
                      <a:r>
                        <a:rPr lang="en-US" dirty="0"/>
                        <a:t>PSO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PSO 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PSO 3</a:t>
                      </a:r>
                    </a:p>
                    <a:p>
                      <a:endParaRPr lang="en-US" dirty="0"/>
                    </a:p>
                  </a:txBody>
                  <a:tcPr/>
                </a:tc>
                <a:extLst>
                  <a:ext uri="{0D108BD9-81ED-4DB2-BD59-A6C34878D82A}">
                    <a16:rowId xmlns:a16="http://schemas.microsoft.com/office/drawing/2014/main" val="4149287585"/>
                  </a:ext>
                </a:extLst>
              </a:tr>
              <a:tr h="370840">
                <a:tc>
                  <a:txBody>
                    <a:bodyPr/>
                    <a:lstStyle/>
                    <a:p>
                      <a:r>
                        <a:rPr lang="en-US" dirty="0"/>
                        <a:t>CO 1</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61755888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2</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3201560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3</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4991382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4</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59684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5</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85989174"/>
                  </a:ext>
                </a:extLst>
              </a:tr>
              <a:tr h="370840">
                <a:tc>
                  <a:txBody>
                    <a:bodyPr/>
                    <a:lstStyle/>
                    <a:p>
                      <a:r>
                        <a:rPr lang="en-US" dirty="0"/>
                        <a:t>Average</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3407544018"/>
                  </a:ext>
                </a:extLst>
              </a:tr>
            </a:tbl>
          </a:graphicData>
        </a:graphic>
      </p:graphicFrame>
    </p:spTree>
    <p:extLst>
      <p:ext uri="{BB962C8B-B14F-4D97-AF65-F5344CB8AC3E}">
        <p14:creationId xmlns:p14="http://schemas.microsoft.com/office/powerpoint/2010/main" val="87823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3D9F3-368A-A424-AB75-FE3498505B6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5369311-9405-38DD-928A-63715A9106E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39649275-CA89-DC56-276D-F5CFF12A67A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C78BC65-19EF-B8E6-2E95-1066B06769A6}"/>
              </a:ext>
            </a:extLst>
          </p:cNvPr>
          <p:cNvSpPr>
            <a:spLocks noGrp="1"/>
          </p:cNvSpPr>
          <p:nvPr>
            <p:ph type="sldNum" sz="quarter" idx="12"/>
          </p:nvPr>
        </p:nvSpPr>
        <p:spPr/>
        <p:txBody>
          <a:bodyPr/>
          <a:lstStyle/>
          <a:p>
            <a:fld id="{B41E2F89-97C2-4B18-A593-8150592B5005}" type="slidenum">
              <a:rPr lang="en-US" smtClean="0"/>
              <a:t>12</a:t>
            </a:fld>
            <a:endParaRPr lang="en-US" dirty="0"/>
          </a:p>
        </p:txBody>
      </p:sp>
      <p:sp>
        <p:nvSpPr>
          <p:cNvPr id="7" name="Title 1">
            <a:extLst>
              <a:ext uri="{FF2B5EF4-FFF2-40B4-BE49-F238E27FC236}">
                <a16:creationId xmlns:a16="http://schemas.microsoft.com/office/drawing/2014/main" id="{866D2BDF-9436-3216-29B0-C6BC122C73F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Program Educational Objectives (PEOs)</a:t>
            </a:r>
          </a:p>
        </p:txBody>
      </p:sp>
      <p:pic>
        <p:nvPicPr>
          <p:cNvPr id="8" name="Picture 7" descr="A black and red logo&#10;&#10;Description automatically generated">
            <a:extLst>
              <a:ext uri="{FF2B5EF4-FFF2-40B4-BE49-F238E27FC236}">
                <a16:creationId xmlns:a16="http://schemas.microsoft.com/office/drawing/2014/main" id="{64E591C3-7581-6642-A914-52FE2BBE35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51BFD7C9-9CEE-27E8-6DC0-6FC3900F133D}"/>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A51ADC-8A99-C150-EBDC-9392852C2BFC}"/>
              </a:ext>
            </a:extLst>
          </p:cNvPr>
          <p:cNvSpPr txBox="1"/>
          <p:nvPr/>
        </p:nvSpPr>
        <p:spPr>
          <a:xfrm>
            <a:off x="479461" y="1462703"/>
            <a:ext cx="10820400" cy="4582280"/>
          </a:xfrm>
          <a:prstGeom prst="rect">
            <a:avLst/>
          </a:prstGeom>
          <a:noFill/>
        </p:spPr>
        <p:txBody>
          <a:bodyPr wrap="square">
            <a:spAutoFit/>
          </a:bodyPr>
          <a:lstStyle/>
          <a:p>
            <a:pPr marL="1885315" marR="355600" indent="-685800" algn="just">
              <a:lnSpc>
                <a:spcPct val="150000"/>
              </a:lnSpc>
              <a:spcBef>
                <a:spcPts val="1200"/>
              </a:spcBef>
              <a:buNone/>
            </a:pPr>
            <a:r>
              <a:rPr lang="en-US" sz="1800" b="1" dirty="0">
                <a:effectLst/>
                <a:latin typeface="Times New Roman" panose="02020603050405020304" pitchFamily="18" charset="0"/>
                <a:ea typeface="Times New Roman" panose="02020603050405020304" pitchFamily="18" charset="0"/>
              </a:rPr>
              <a:t>PEO1:</a:t>
            </a:r>
            <a:r>
              <a:rPr lang="en-US" sz="1800" b="1" spc="4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apply sound knowledge combining technical expertise,</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 problem-solving skills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fulfill</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needs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industry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updated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latest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emerging </a:t>
            </a:r>
            <a:r>
              <a:rPr lang="en-US" sz="1800" spc="-10" dirty="0">
                <a:effectLst/>
                <a:latin typeface="Times New Roman" panose="02020603050405020304" pitchFamily="18" charset="0"/>
                <a:ea typeface="Times New Roman" panose="02020603050405020304" pitchFamily="18" charset="0"/>
              </a:rPr>
              <a:t>trends.</a:t>
            </a:r>
            <a:endParaRPr lang="en-US" sz="1800" dirty="0">
              <a:effectLst/>
              <a:latin typeface="Times New Roman" panose="02020603050405020304" pitchFamily="18" charset="0"/>
              <a:ea typeface="Times New Roman" panose="02020603050405020304" pitchFamily="18" charset="0"/>
            </a:endParaRPr>
          </a:p>
          <a:p>
            <a:pPr marL="1885315" marR="358775" indent="-685800" algn="just">
              <a:lnSpc>
                <a:spcPct val="150000"/>
              </a:lnSpc>
              <a:spcBef>
                <a:spcPts val="1005"/>
              </a:spcBef>
              <a:buNone/>
            </a:pPr>
            <a:r>
              <a:rPr lang="en-US" sz="1800" b="1" dirty="0">
                <a:effectLst/>
                <a:latin typeface="Times New Roman" panose="02020603050405020304" pitchFamily="18" charset="0"/>
                <a:ea typeface="Times New Roman" panose="02020603050405020304" pitchFamily="18" charset="0"/>
              </a:rPr>
              <a:t>PEO2:</a:t>
            </a:r>
            <a:r>
              <a:rPr lang="en-US" sz="1800" b="1"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provide sustainable solutions for real-life problems by designing innovative and interdisciplinary systems using the latest digital technologies for serving academia, industry, and society.</a:t>
            </a:r>
          </a:p>
          <a:p>
            <a:pPr marL="1885315" marR="360045" indent="-685800" algn="just">
              <a:lnSpc>
                <a:spcPct val="150000"/>
              </a:lnSpc>
              <a:spcBef>
                <a:spcPts val="1000"/>
              </a:spcBef>
              <a:buNone/>
            </a:pPr>
            <a:r>
              <a:rPr lang="en-US" sz="1800" b="1" dirty="0">
                <a:effectLst/>
                <a:latin typeface="Times New Roman" panose="02020603050405020304" pitchFamily="18" charset="0"/>
                <a:ea typeface="Times New Roman" panose="02020603050405020304" pitchFamily="18" charset="0"/>
              </a:rPr>
              <a:t>PEO3:</a:t>
            </a:r>
            <a:r>
              <a:rPr lang="en-US" sz="1800" b="1" spc="4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reflect professional attitude, social ethics, communication, teamwork, and leadership skills in research and product development to face global challenges.</a:t>
            </a:r>
          </a:p>
          <a:p>
            <a:pPr marL="1885315" marR="360680" indent="-685800" algn="just">
              <a:lnSpc>
                <a:spcPct val="150000"/>
              </a:lnSpc>
              <a:spcBef>
                <a:spcPts val="1000"/>
              </a:spcBef>
              <a:buNone/>
            </a:pPr>
            <a:r>
              <a:rPr lang="en-US" sz="1800" b="1" dirty="0">
                <a:effectLst/>
                <a:latin typeface="Times New Roman" panose="02020603050405020304" pitchFamily="18" charset="0"/>
                <a:ea typeface="Times New Roman" panose="02020603050405020304" pitchFamily="18" charset="0"/>
              </a:rPr>
              <a:t>PEO4:</a:t>
            </a:r>
            <a:r>
              <a:rPr lang="en-US" sz="1800" b="1"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pursue higher studies and develop their career successfully in the software</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industry and R&amp;D sectors with a lifelong learning frame of mind.</a:t>
            </a: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82894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9DF3-7DA7-C9CF-3FCB-2693CA51EA8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0A5E00-A930-941E-2E5C-A143AD4F750A}"/>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14C5ACD2-1CBF-F96B-5881-ACCF86FDE54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34E1E4D-DA9F-A3F3-985C-E947B2FD5A21}"/>
              </a:ext>
            </a:extLst>
          </p:cNvPr>
          <p:cNvSpPr>
            <a:spLocks noGrp="1"/>
          </p:cNvSpPr>
          <p:nvPr>
            <p:ph type="sldNum" sz="quarter" idx="12"/>
          </p:nvPr>
        </p:nvSpPr>
        <p:spPr/>
        <p:txBody>
          <a:bodyPr/>
          <a:lstStyle/>
          <a:p>
            <a:fld id="{B41E2F89-97C2-4B18-A593-8150592B5005}" type="slidenum">
              <a:rPr lang="en-US" smtClean="0"/>
              <a:t>13</a:t>
            </a:fld>
            <a:endParaRPr lang="en-US" dirty="0"/>
          </a:p>
        </p:txBody>
      </p:sp>
      <p:sp>
        <p:nvSpPr>
          <p:cNvPr id="7" name="Title 1">
            <a:extLst>
              <a:ext uri="{FF2B5EF4-FFF2-40B4-BE49-F238E27FC236}">
                <a16:creationId xmlns:a16="http://schemas.microsoft.com/office/drawing/2014/main" id="{4753F37E-F1EC-49D2-8637-02B3C4D91EE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Result Analysis 2024-25</a:t>
            </a:r>
          </a:p>
        </p:txBody>
      </p:sp>
      <p:pic>
        <p:nvPicPr>
          <p:cNvPr id="8" name="Picture 7" descr="A black and red logo&#10;&#10;Description automatically generated">
            <a:extLst>
              <a:ext uri="{FF2B5EF4-FFF2-40B4-BE49-F238E27FC236}">
                <a16:creationId xmlns:a16="http://schemas.microsoft.com/office/drawing/2014/main" id="{4D7DA10E-379F-96C7-83DC-3E4582DD50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13268DA6-7922-0851-4008-DBAC2B9EB8F9}"/>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B04FAB6-D5F2-D93A-9DE5-D3CF50D056F9}"/>
              </a:ext>
            </a:extLst>
          </p:cNvPr>
          <p:cNvPicPr>
            <a:picLocks noChangeAspect="1"/>
          </p:cNvPicPr>
          <p:nvPr/>
        </p:nvPicPr>
        <p:blipFill>
          <a:blip r:embed="rId3"/>
          <a:stretch>
            <a:fillRect/>
          </a:stretch>
        </p:blipFill>
        <p:spPr>
          <a:xfrm>
            <a:off x="1031576" y="3369924"/>
            <a:ext cx="10091176" cy="1172077"/>
          </a:xfrm>
          <a:prstGeom prst="rect">
            <a:avLst/>
          </a:prstGeom>
        </p:spPr>
      </p:pic>
      <p:pic>
        <p:nvPicPr>
          <p:cNvPr id="11" name="Picture 10">
            <a:extLst>
              <a:ext uri="{FF2B5EF4-FFF2-40B4-BE49-F238E27FC236}">
                <a16:creationId xmlns:a16="http://schemas.microsoft.com/office/drawing/2014/main" id="{95830EE1-2123-0E2E-F2D6-8CB079308DE1}"/>
              </a:ext>
            </a:extLst>
          </p:cNvPr>
          <p:cNvPicPr>
            <a:picLocks noChangeAspect="1"/>
          </p:cNvPicPr>
          <p:nvPr/>
        </p:nvPicPr>
        <p:blipFill>
          <a:blip r:embed="rId4"/>
          <a:stretch>
            <a:fillRect/>
          </a:stretch>
        </p:blipFill>
        <p:spPr>
          <a:xfrm>
            <a:off x="1031575" y="2280863"/>
            <a:ext cx="10109003" cy="1089062"/>
          </a:xfrm>
          <a:prstGeom prst="rect">
            <a:avLst/>
          </a:prstGeom>
        </p:spPr>
      </p:pic>
    </p:spTree>
    <p:extLst>
      <p:ext uri="{BB962C8B-B14F-4D97-AF65-F5344CB8AC3E}">
        <p14:creationId xmlns:p14="http://schemas.microsoft.com/office/powerpoint/2010/main" val="2479085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E937C-7292-4A12-8561-284E8E2879A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A01632F-BCB0-8A22-7C51-3818436B8CE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7B18EA8C-8CFE-D607-A7EF-3BE3E444B4D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91D834C-95DE-39A0-B910-ADDC5FEA3F2C}"/>
              </a:ext>
            </a:extLst>
          </p:cNvPr>
          <p:cNvSpPr>
            <a:spLocks noGrp="1"/>
          </p:cNvSpPr>
          <p:nvPr>
            <p:ph type="sldNum" sz="quarter" idx="12"/>
          </p:nvPr>
        </p:nvSpPr>
        <p:spPr/>
        <p:txBody>
          <a:bodyPr/>
          <a:lstStyle/>
          <a:p>
            <a:fld id="{B41E2F89-97C2-4B18-A593-8150592B5005}" type="slidenum">
              <a:rPr lang="en-US" smtClean="0"/>
              <a:t>14</a:t>
            </a:fld>
            <a:endParaRPr lang="en-US" dirty="0"/>
          </a:p>
        </p:txBody>
      </p:sp>
      <p:sp>
        <p:nvSpPr>
          <p:cNvPr id="7" name="Title 1">
            <a:extLst>
              <a:ext uri="{FF2B5EF4-FFF2-40B4-BE49-F238E27FC236}">
                <a16:creationId xmlns:a16="http://schemas.microsoft.com/office/drawing/2014/main" id="{7A1D5EA9-E711-D15A-A048-336B7724D0C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End Semester Question Paper Templates</a:t>
            </a:r>
          </a:p>
        </p:txBody>
      </p:sp>
      <p:pic>
        <p:nvPicPr>
          <p:cNvPr id="8" name="Picture 7" descr="A black and red logo&#10;&#10;Description automatically generated">
            <a:extLst>
              <a:ext uri="{FF2B5EF4-FFF2-40B4-BE49-F238E27FC236}">
                <a16:creationId xmlns:a16="http://schemas.microsoft.com/office/drawing/2014/main" id="{F5275331-6E21-8F17-13F0-DC4415366D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1">
            <a:extLst>
              <a:ext uri="{FF2B5EF4-FFF2-40B4-BE49-F238E27FC236}">
                <a16:creationId xmlns:a16="http://schemas.microsoft.com/office/drawing/2014/main" id="{81FEE5BB-8574-17BC-8868-4960DFF3A523}"/>
              </a:ext>
            </a:extLst>
          </p:cNvPr>
          <p:cNvSpPr>
            <a:spLocks noGrp="1"/>
          </p:cNvSpPr>
          <p:nvPr>
            <p:ph idx="1"/>
          </p:nvPr>
        </p:nvSpPr>
        <p:spPr>
          <a:xfrm>
            <a:off x="457200" y="1225550"/>
            <a:ext cx="11049856" cy="3223159"/>
          </a:xfrm>
        </p:spPr>
        <p:txBody>
          <a:bodyPr>
            <a:normAutofit fontScale="92500" lnSpcReduction="10000"/>
          </a:bodyPr>
          <a:lstStyle/>
          <a:p>
            <a:pPr marL="0" indent="0" algn="ctr">
              <a:buFont typeface="Arial" panose="020B0604020202020204" pitchFamily="34" charset="0"/>
              <a:buNone/>
              <a:defRPr/>
            </a:pPr>
            <a:r>
              <a:rPr lang="en-IN" dirty="0">
                <a:sym typeface="Arial" charset="0"/>
              </a:rPr>
              <a:t>B TECH </a:t>
            </a:r>
          </a:p>
          <a:p>
            <a:pPr marL="0" indent="0" algn="ctr">
              <a:buFont typeface="Arial" panose="020B0604020202020204" pitchFamily="34" charset="0"/>
              <a:buNone/>
              <a:defRPr/>
            </a:pPr>
            <a:r>
              <a:rPr lang="en-IN" dirty="0">
                <a:sym typeface="Arial" charset="0"/>
              </a:rPr>
              <a:t>(SEM-IV) THEORY EXAMINATION 20__-20__</a:t>
            </a:r>
          </a:p>
          <a:p>
            <a:pPr marL="0" indent="0" algn="ctr">
              <a:buFont typeface="Arial" panose="020B0604020202020204" pitchFamily="34" charset="0"/>
              <a:buNone/>
              <a:defRPr/>
            </a:pPr>
            <a:r>
              <a:rPr lang="en-IN" dirty="0">
                <a:sym typeface="Arial" charset="0"/>
              </a:rPr>
              <a:t>COMPILER DESIGN</a:t>
            </a:r>
          </a:p>
          <a:p>
            <a:pPr marL="0" indent="0">
              <a:buFont typeface="Arial" panose="020B0604020202020204" pitchFamily="34" charset="0"/>
              <a:buNone/>
              <a:defRPr/>
            </a:pPr>
            <a:r>
              <a:rPr lang="en-IN" dirty="0">
                <a:sym typeface="Arial" charset="0"/>
              </a:rPr>
              <a:t>Time: 3 Hours                                                                                    Total Marks: 100 </a:t>
            </a:r>
          </a:p>
          <a:p>
            <a:pPr marL="0" indent="0" algn="just">
              <a:buFont typeface="Arial" panose="020B0604020202020204" pitchFamily="34" charset="0"/>
              <a:buNone/>
              <a:defRPr/>
            </a:pPr>
            <a:r>
              <a:rPr lang="en-IN" dirty="0">
                <a:sym typeface="Arial" charset="0"/>
              </a:rPr>
              <a:t>Note: 1. Attempt all Sections. If require any missing data; then choose suitably.</a:t>
            </a:r>
          </a:p>
          <a:p>
            <a:pPr marL="0" indent="0" algn="ctr">
              <a:buFont typeface="Arial" panose="020B0604020202020204" pitchFamily="34" charset="0"/>
              <a:buNone/>
              <a:defRPr/>
            </a:pPr>
            <a:r>
              <a:rPr lang="en-IN" dirty="0">
                <a:sym typeface="Arial" charset="0"/>
              </a:rPr>
              <a:t>SECTION A </a:t>
            </a:r>
          </a:p>
          <a:p>
            <a:pPr indent="-457200">
              <a:buFont typeface="Arial" panose="020B0604020202020204" pitchFamily="34" charset="0"/>
              <a:buAutoNum type="arabicPeriod"/>
              <a:defRPr/>
            </a:pPr>
            <a:r>
              <a:rPr lang="en-IN" dirty="0">
                <a:sym typeface="Arial" charset="0"/>
              </a:rPr>
              <a:t>Attempt all questions in brief.                                                        2 x 10 = 20</a:t>
            </a:r>
          </a:p>
          <a:p>
            <a:pPr marL="0" indent="0">
              <a:buFont typeface="Arial" panose="020B0604020202020204" pitchFamily="34" charset="0"/>
              <a:buNone/>
              <a:defRPr/>
            </a:pPr>
            <a:endParaRPr lang="en-IN" dirty="0">
              <a:sym typeface="Arial" charset="0"/>
            </a:endParaRPr>
          </a:p>
        </p:txBody>
      </p:sp>
      <p:graphicFrame>
        <p:nvGraphicFramePr>
          <p:cNvPr id="11" name="Table 10">
            <a:extLst>
              <a:ext uri="{FF2B5EF4-FFF2-40B4-BE49-F238E27FC236}">
                <a16:creationId xmlns:a16="http://schemas.microsoft.com/office/drawing/2014/main" id="{BB42A440-31D9-4D3A-D001-C37633A623C2}"/>
              </a:ext>
            </a:extLst>
          </p:cNvPr>
          <p:cNvGraphicFramePr>
            <a:graphicFrameLocks noGrp="1"/>
          </p:cNvGraphicFramePr>
          <p:nvPr>
            <p:extLst>
              <p:ext uri="{D42A27DB-BD31-4B8C-83A1-F6EECF244321}">
                <p14:modId xmlns:p14="http://schemas.microsoft.com/office/powerpoint/2010/main" val="4083900086"/>
              </p:ext>
            </p:extLst>
          </p:nvPr>
        </p:nvGraphicFramePr>
        <p:xfrm>
          <a:off x="457200" y="4527550"/>
          <a:ext cx="10640602" cy="1828800"/>
        </p:xfrm>
        <a:graphic>
          <a:graphicData uri="http://schemas.openxmlformats.org/drawingml/2006/table">
            <a:tbl>
              <a:tblPr firstRow="1" bandRow="1">
                <a:tableStyleId>{5C22544A-7EE6-4342-B048-85BDC9FD1C3A}</a:tableStyleId>
              </a:tblPr>
              <a:tblGrid>
                <a:gridCol w="1227762">
                  <a:extLst>
                    <a:ext uri="{9D8B030D-6E8A-4147-A177-3AD203B41FA5}">
                      <a16:colId xmlns:a16="http://schemas.microsoft.com/office/drawing/2014/main" val="20000"/>
                    </a:ext>
                  </a:extLst>
                </a:gridCol>
                <a:gridCol w="7161944">
                  <a:extLst>
                    <a:ext uri="{9D8B030D-6E8A-4147-A177-3AD203B41FA5}">
                      <a16:colId xmlns:a16="http://schemas.microsoft.com/office/drawing/2014/main" val="20001"/>
                    </a:ext>
                  </a:extLst>
                </a:gridCol>
                <a:gridCol w="1125448">
                  <a:extLst>
                    <a:ext uri="{9D8B030D-6E8A-4147-A177-3AD203B41FA5}">
                      <a16:colId xmlns:a16="http://schemas.microsoft.com/office/drawing/2014/main" val="20002"/>
                    </a:ext>
                  </a:extLst>
                </a:gridCol>
                <a:gridCol w="1125448">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79983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0F87-0830-30D3-46B0-8013715A62C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A5B17CD-2ED8-D446-7FD5-39B9EA9A45A1}"/>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F7294EA-6271-0FD0-8BCB-44745C34544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B712CA3-F9FB-3F2A-A15E-61DE71A92AB2}"/>
              </a:ext>
            </a:extLst>
          </p:cNvPr>
          <p:cNvSpPr>
            <a:spLocks noGrp="1"/>
          </p:cNvSpPr>
          <p:nvPr>
            <p:ph type="sldNum" sz="quarter" idx="12"/>
          </p:nvPr>
        </p:nvSpPr>
        <p:spPr/>
        <p:txBody>
          <a:bodyPr/>
          <a:lstStyle/>
          <a:p>
            <a:fld id="{B41E2F89-97C2-4B18-A593-8150592B5005}" type="slidenum">
              <a:rPr lang="en-US" smtClean="0"/>
              <a:t>15</a:t>
            </a:fld>
            <a:endParaRPr lang="en-US" dirty="0"/>
          </a:p>
        </p:txBody>
      </p:sp>
      <p:sp>
        <p:nvSpPr>
          <p:cNvPr id="7" name="Title 1">
            <a:extLst>
              <a:ext uri="{FF2B5EF4-FFF2-40B4-BE49-F238E27FC236}">
                <a16:creationId xmlns:a16="http://schemas.microsoft.com/office/drawing/2014/main" id="{CF0A606B-B804-CC89-85DD-CEE7BB8B5F8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End Semester Question Paper Templates</a:t>
            </a:r>
          </a:p>
        </p:txBody>
      </p:sp>
      <p:pic>
        <p:nvPicPr>
          <p:cNvPr id="8" name="Picture 7" descr="A black and red logo&#10;&#10;Description automatically generated">
            <a:extLst>
              <a:ext uri="{FF2B5EF4-FFF2-40B4-BE49-F238E27FC236}">
                <a16:creationId xmlns:a16="http://schemas.microsoft.com/office/drawing/2014/main" id="{5A04DC1A-8083-97A7-1FB3-840C14E672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1">
            <a:extLst>
              <a:ext uri="{FF2B5EF4-FFF2-40B4-BE49-F238E27FC236}">
                <a16:creationId xmlns:a16="http://schemas.microsoft.com/office/drawing/2014/main" id="{4C6EDFD7-53EE-42E3-C848-C5A6BFAEE121}"/>
              </a:ext>
            </a:extLst>
          </p:cNvPr>
          <p:cNvSpPr txBox="1">
            <a:spLocks noGrp="1"/>
          </p:cNvSpPr>
          <p:nvPr>
            <p:ph idx="1"/>
          </p:nvPr>
        </p:nvSpPr>
        <p:spPr>
          <a:xfrm>
            <a:off x="457199" y="1225550"/>
            <a:ext cx="10561301" cy="5111040"/>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dirty="0">
                <a:latin typeface="+mj-lt"/>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2. </a:t>
            </a:r>
            <a:r>
              <a:rPr lang="en-IN" altLang="en-US" sz="2000" b="1" dirty="0">
                <a:latin typeface="+mj-lt"/>
                <a:cs typeface="Arial" panose="020B0604020202020204" pitchFamily="34" charset="0"/>
              </a:rPr>
              <a:t>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3. </a:t>
            </a:r>
            <a:r>
              <a:rPr lang="en-IN" altLang="en-US" sz="2000" b="1" dirty="0">
                <a:latin typeface="+mj-lt"/>
                <a:cs typeface="Arial" panose="020B0604020202020204" pitchFamily="34" charset="0"/>
              </a:rPr>
              <a:t>Attempt any one part of the following</a:t>
            </a:r>
            <a:r>
              <a:rPr lang="en-IN" altLang="en-US" sz="2000" b="1" dirty="0">
                <a:latin typeface="Arial" panose="020B0604020202020204" pitchFamily="34" charset="0"/>
                <a:cs typeface="Arial" panose="020B0604020202020204" pitchFamily="34" charset="0"/>
              </a:rPr>
              <a:t>:                          1 x 10 = 10    </a:t>
            </a:r>
            <a:endParaRPr lang="en-IN" altLang="en-US" sz="2000" b="1" i="1"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FDC8E849-6EB1-FB16-CDA5-61D9C833532C}"/>
              </a:ext>
            </a:extLst>
          </p:cNvPr>
          <p:cNvGraphicFramePr>
            <a:graphicFrameLocks noGrp="1"/>
          </p:cNvGraphicFramePr>
          <p:nvPr>
            <p:extLst>
              <p:ext uri="{D42A27DB-BD31-4B8C-83A1-F6EECF244321}">
                <p14:modId xmlns:p14="http://schemas.microsoft.com/office/powerpoint/2010/main" val="3079249190"/>
              </p:ext>
            </p:extLst>
          </p:nvPr>
        </p:nvGraphicFramePr>
        <p:xfrm>
          <a:off x="835025" y="2365375"/>
          <a:ext cx="10249595" cy="1828800"/>
        </p:xfrm>
        <a:graphic>
          <a:graphicData uri="http://schemas.openxmlformats.org/drawingml/2006/table">
            <a:tbl>
              <a:tblPr firstRow="1" bandRow="1">
                <a:tableStyleId>{5C22544A-7EE6-4342-B048-85BDC9FD1C3A}</a:tableStyleId>
              </a:tblPr>
              <a:tblGrid>
                <a:gridCol w="1182646">
                  <a:extLst>
                    <a:ext uri="{9D8B030D-6E8A-4147-A177-3AD203B41FA5}">
                      <a16:colId xmlns:a16="http://schemas.microsoft.com/office/drawing/2014/main" val="20000"/>
                    </a:ext>
                  </a:extLst>
                </a:gridCol>
                <a:gridCol w="6898765">
                  <a:extLst>
                    <a:ext uri="{9D8B030D-6E8A-4147-A177-3AD203B41FA5}">
                      <a16:colId xmlns:a16="http://schemas.microsoft.com/office/drawing/2014/main" val="20001"/>
                    </a:ext>
                  </a:extLst>
                </a:gridCol>
                <a:gridCol w="1084092">
                  <a:extLst>
                    <a:ext uri="{9D8B030D-6E8A-4147-A177-3AD203B41FA5}">
                      <a16:colId xmlns:a16="http://schemas.microsoft.com/office/drawing/2014/main" val="20002"/>
                    </a:ext>
                  </a:extLst>
                </a:gridCol>
                <a:gridCol w="1084092">
                  <a:extLst>
                    <a:ext uri="{9D8B030D-6E8A-4147-A177-3AD203B41FA5}">
                      <a16:colId xmlns:a16="http://schemas.microsoft.com/office/drawing/2014/main" val="20003"/>
                    </a:ext>
                  </a:extLst>
                </a:gridCol>
              </a:tblGrid>
              <a:tr h="363241">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3241">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3241">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3241">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3241">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BDC087A3-62E1-4F7C-DF6A-F9E02DE596E4}"/>
              </a:ext>
            </a:extLst>
          </p:cNvPr>
          <p:cNvGraphicFramePr>
            <a:graphicFrameLocks noGrp="1"/>
          </p:cNvGraphicFramePr>
          <p:nvPr>
            <p:extLst>
              <p:ext uri="{D42A27DB-BD31-4B8C-83A1-F6EECF244321}">
                <p14:modId xmlns:p14="http://schemas.microsoft.com/office/powerpoint/2010/main" val="515770721"/>
              </p:ext>
            </p:extLst>
          </p:nvPr>
        </p:nvGraphicFramePr>
        <p:xfrm>
          <a:off x="835025" y="4845089"/>
          <a:ext cx="10249594" cy="1491501"/>
        </p:xfrm>
        <a:graphic>
          <a:graphicData uri="http://schemas.openxmlformats.org/drawingml/2006/table">
            <a:tbl>
              <a:tblPr firstRow="1" bandRow="1">
                <a:tableStyleId>{5C22544A-7EE6-4342-B048-85BDC9FD1C3A}</a:tableStyleId>
              </a:tblPr>
              <a:tblGrid>
                <a:gridCol w="1182646">
                  <a:extLst>
                    <a:ext uri="{9D8B030D-6E8A-4147-A177-3AD203B41FA5}">
                      <a16:colId xmlns:a16="http://schemas.microsoft.com/office/drawing/2014/main" val="20000"/>
                    </a:ext>
                  </a:extLst>
                </a:gridCol>
                <a:gridCol w="6898766">
                  <a:extLst>
                    <a:ext uri="{9D8B030D-6E8A-4147-A177-3AD203B41FA5}">
                      <a16:colId xmlns:a16="http://schemas.microsoft.com/office/drawing/2014/main" val="20001"/>
                    </a:ext>
                  </a:extLst>
                </a:gridCol>
                <a:gridCol w="1084091">
                  <a:extLst>
                    <a:ext uri="{9D8B030D-6E8A-4147-A177-3AD203B41FA5}">
                      <a16:colId xmlns:a16="http://schemas.microsoft.com/office/drawing/2014/main" val="20002"/>
                    </a:ext>
                  </a:extLst>
                </a:gridCol>
                <a:gridCol w="1084091">
                  <a:extLst>
                    <a:ext uri="{9D8B030D-6E8A-4147-A177-3AD203B41FA5}">
                      <a16:colId xmlns:a16="http://schemas.microsoft.com/office/drawing/2014/main" val="20003"/>
                    </a:ext>
                  </a:extLst>
                </a:gridCol>
              </a:tblGrid>
              <a:tr h="696069">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97716">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7716">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40705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BE88-BD9D-33ED-9A91-E7CCC41ADF3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5872C55-D5BA-1610-1398-E0B244896CB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406E31E-6299-6D14-5B13-83FE768B397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EC430B8-4426-5695-3326-BCBCD44E725E}"/>
              </a:ext>
            </a:extLst>
          </p:cNvPr>
          <p:cNvSpPr>
            <a:spLocks noGrp="1"/>
          </p:cNvSpPr>
          <p:nvPr>
            <p:ph type="sldNum" sz="quarter" idx="12"/>
          </p:nvPr>
        </p:nvSpPr>
        <p:spPr/>
        <p:txBody>
          <a:bodyPr/>
          <a:lstStyle/>
          <a:p>
            <a:fld id="{B41E2F89-97C2-4B18-A593-8150592B5005}" type="slidenum">
              <a:rPr lang="en-US" smtClean="0"/>
              <a:t>16</a:t>
            </a:fld>
            <a:endParaRPr lang="en-US" dirty="0"/>
          </a:p>
        </p:txBody>
      </p:sp>
      <p:sp>
        <p:nvSpPr>
          <p:cNvPr id="7" name="Title 1">
            <a:extLst>
              <a:ext uri="{FF2B5EF4-FFF2-40B4-BE49-F238E27FC236}">
                <a16:creationId xmlns:a16="http://schemas.microsoft.com/office/drawing/2014/main" id="{03AB8BA3-63E3-3574-FA6D-EF9460BF5BA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End Semester Question Paper Templates</a:t>
            </a:r>
          </a:p>
        </p:txBody>
      </p:sp>
      <p:pic>
        <p:nvPicPr>
          <p:cNvPr id="8" name="Picture 7" descr="A black and red logo&#10;&#10;Description automatically generated">
            <a:extLst>
              <a:ext uri="{FF2B5EF4-FFF2-40B4-BE49-F238E27FC236}">
                <a16:creationId xmlns:a16="http://schemas.microsoft.com/office/drawing/2014/main" id="{10819FEA-2842-0CB9-079F-77A2269A3B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1">
            <a:extLst>
              <a:ext uri="{FF2B5EF4-FFF2-40B4-BE49-F238E27FC236}">
                <a16:creationId xmlns:a16="http://schemas.microsoft.com/office/drawing/2014/main" id="{5DAEB6CE-AD1E-EC25-2E8D-1F53580C1084}"/>
              </a:ext>
            </a:extLst>
          </p:cNvPr>
          <p:cNvSpPr txBox="1">
            <a:spLocks noGrp="1"/>
          </p:cNvSpPr>
          <p:nvPr>
            <p:ph idx="1"/>
          </p:nvPr>
        </p:nvSpPr>
        <p:spPr>
          <a:xfrm>
            <a:off x="536575" y="914399"/>
            <a:ext cx="11032151" cy="5311087"/>
          </a:xfrm>
        </p:spPr>
        <p:txBody>
          <a:bodyPr/>
          <a:lstStyle/>
          <a:p>
            <a:pPr marL="0" indent="0">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4</a:t>
            </a:r>
            <a:r>
              <a:rPr lang="en-IN" altLang="en-US" sz="2000" b="1" dirty="0">
                <a:latin typeface="+mj-lt"/>
                <a:cs typeface="Arial" panose="020B0604020202020204" pitchFamily="34" charset="0"/>
              </a:rPr>
              <a:t>.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dirty="0">
                <a:latin typeface="+mj-lt"/>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dirty="0">
                <a:latin typeface="+mj-lt"/>
                <a:cs typeface="Arial" panose="020B0604020202020204" pitchFamily="34" charset="0"/>
              </a:rPr>
              <a:t> 6. Attempt any one part of the following:                        1 x 10 = 10    </a:t>
            </a:r>
            <a:endParaRPr lang="en-IN" altLang="en-US" sz="2000" b="1" i="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7B550096-5E6F-7F27-41C2-00375C699D9A}"/>
              </a:ext>
            </a:extLst>
          </p:cNvPr>
          <p:cNvGraphicFramePr>
            <a:graphicFrameLocks noGrp="1"/>
          </p:cNvGraphicFramePr>
          <p:nvPr>
            <p:extLst>
              <p:ext uri="{D42A27DB-BD31-4B8C-83A1-F6EECF244321}">
                <p14:modId xmlns:p14="http://schemas.microsoft.com/office/powerpoint/2010/main" val="3859796399"/>
              </p:ext>
            </p:extLst>
          </p:nvPr>
        </p:nvGraphicFramePr>
        <p:xfrm>
          <a:off x="769395" y="1409374"/>
          <a:ext cx="10886030" cy="1154764"/>
        </p:xfrm>
        <a:graphic>
          <a:graphicData uri="http://schemas.openxmlformats.org/drawingml/2006/table">
            <a:tbl>
              <a:tblPr firstRow="1" bandRow="1">
                <a:tableStyleId>{5C22544A-7EE6-4342-B048-85BDC9FD1C3A}</a:tableStyleId>
              </a:tblPr>
              <a:tblGrid>
                <a:gridCol w="1256079">
                  <a:extLst>
                    <a:ext uri="{9D8B030D-6E8A-4147-A177-3AD203B41FA5}">
                      <a16:colId xmlns:a16="http://schemas.microsoft.com/office/drawing/2014/main" val="20000"/>
                    </a:ext>
                  </a:extLst>
                </a:gridCol>
                <a:gridCol w="7327137">
                  <a:extLst>
                    <a:ext uri="{9D8B030D-6E8A-4147-A177-3AD203B41FA5}">
                      <a16:colId xmlns:a16="http://schemas.microsoft.com/office/drawing/2014/main" val="20001"/>
                    </a:ext>
                  </a:extLst>
                </a:gridCol>
                <a:gridCol w="1151407">
                  <a:extLst>
                    <a:ext uri="{9D8B030D-6E8A-4147-A177-3AD203B41FA5}">
                      <a16:colId xmlns:a16="http://schemas.microsoft.com/office/drawing/2014/main" val="20002"/>
                    </a:ext>
                  </a:extLst>
                </a:gridCol>
                <a:gridCol w="1151407">
                  <a:extLst>
                    <a:ext uri="{9D8B030D-6E8A-4147-A177-3AD203B41FA5}">
                      <a16:colId xmlns:a16="http://schemas.microsoft.com/office/drawing/2014/main" val="20003"/>
                    </a:ext>
                  </a:extLst>
                </a:gridCol>
              </a:tblGrid>
              <a:tr h="42339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23738">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3738">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9" name="Table 8">
            <a:extLst>
              <a:ext uri="{FF2B5EF4-FFF2-40B4-BE49-F238E27FC236}">
                <a16:creationId xmlns:a16="http://schemas.microsoft.com/office/drawing/2014/main" id="{7C360627-EB0F-275C-C1CF-950A1B42A8BF}"/>
              </a:ext>
            </a:extLst>
          </p:cNvPr>
          <p:cNvGraphicFramePr>
            <a:graphicFrameLocks noGrp="1"/>
          </p:cNvGraphicFramePr>
          <p:nvPr>
            <p:extLst>
              <p:ext uri="{D42A27DB-BD31-4B8C-83A1-F6EECF244321}">
                <p14:modId xmlns:p14="http://schemas.microsoft.com/office/powerpoint/2010/main" val="3952089215"/>
              </p:ext>
            </p:extLst>
          </p:nvPr>
        </p:nvGraphicFramePr>
        <p:xfrm>
          <a:off x="769395" y="2955253"/>
          <a:ext cx="10797927" cy="1097022"/>
        </p:xfrm>
        <a:graphic>
          <a:graphicData uri="http://schemas.openxmlformats.org/drawingml/2006/table">
            <a:tbl>
              <a:tblPr firstRow="1" bandRow="1">
                <a:tableStyleId>{5C22544A-7EE6-4342-B048-85BDC9FD1C3A}</a:tableStyleId>
              </a:tblPr>
              <a:tblGrid>
                <a:gridCol w="1245914">
                  <a:extLst>
                    <a:ext uri="{9D8B030D-6E8A-4147-A177-3AD203B41FA5}">
                      <a16:colId xmlns:a16="http://schemas.microsoft.com/office/drawing/2014/main" val="20000"/>
                    </a:ext>
                  </a:extLst>
                </a:gridCol>
                <a:gridCol w="7267837">
                  <a:extLst>
                    <a:ext uri="{9D8B030D-6E8A-4147-A177-3AD203B41FA5}">
                      <a16:colId xmlns:a16="http://schemas.microsoft.com/office/drawing/2014/main" val="20001"/>
                    </a:ext>
                  </a:extLst>
                </a:gridCol>
                <a:gridCol w="1142088">
                  <a:extLst>
                    <a:ext uri="{9D8B030D-6E8A-4147-A177-3AD203B41FA5}">
                      <a16:colId xmlns:a16="http://schemas.microsoft.com/office/drawing/2014/main" val="20002"/>
                    </a:ext>
                  </a:extLst>
                </a:gridCol>
                <a:gridCol w="1142088">
                  <a:extLst>
                    <a:ext uri="{9D8B030D-6E8A-4147-A177-3AD203B41FA5}">
                      <a16:colId xmlns:a16="http://schemas.microsoft.com/office/drawing/2014/main" val="20003"/>
                    </a:ext>
                  </a:extLst>
                </a:gridCol>
              </a:tblGrid>
              <a:tr h="223469">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23469">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3469">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E0DC24C9-EC2D-FAC7-89F1-21E5666561C1}"/>
              </a:ext>
            </a:extLst>
          </p:cNvPr>
          <p:cNvGraphicFramePr>
            <a:graphicFrameLocks noGrp="1"/>
          </p:cNvGraphicFramePr>
          <p:nvPr>
            <p:extLst>
              <p:ext uri="{D42A27DB-BD31-4B8C-83A1-F6EECF244321}">
                <p14:modId xmlns:p14="http://schemas.microsoft.com/office/powerpoint/2010/main" val="187331719"/>
              </p:ext>
            </p:extLst>
          </p:nvPr>
        </p:nvGraphicFramePr>
        <p:xfrm>
          <a:off x="803275" y="4603750"/>
          <a:ext cx="10797926" cy="1746672"/>
        </p:xfrm>
        <a:graphic>
          <a:graphicData uri="http://schemas.openxmlformats.org/drawingml/2006/table">
            <a:tbl>
              <a:tblPr firstRow="1" bandRow="1">
                <a:tableStyleId>{5C22544A-7EE6-4342-B048-85BDC9FD1C3A}</a:tableStyleId>
              </a:tblPr>
              <a:tblGrid>
                <a:gridCol w="1245914">
                  <a:extLst>
                    <a:ext uri="{9D8B030D-6E8A-4147-A177-3AD203B41FA5}">
                      <a16:colId xmlns:a16="http://schemas.microsoft.com/office/drawing/2014/main" val="20000"/>
                    </a:ext>
                  </a:extLst>
                </a:gridCol>
                <a:gridCol w="7267836">
                  <a:extLst>
                    <a:ext uri="{9D8B030D-6E8A-4147-A177-3AD203B41FA5}">
                      <a16:colId xmlns:a16="http://schemas.microsoft.com/office/drawing/2014/main" val="20001"/>
                    </a:ext>
                  </a:extLst>
                </a:gridCol>
                <a:gridCol w="1142088">
                  <a:extLst>
                    <a:ext uri="{9D8B030D-6E8A-4147-A177-3AD203B41FA5}">
                      <a16:colId xmlns:a16="http://schemas.microsoft.com/office/drawing/2014/main" val="20002"/>
                    </a:ext>
                  </a:extLst>
                </a:gridCol>
                <a:gridCol w="1142088">
                  <a:extLst>
                    <a:ext uri="{9D8B030D-6E8A-4147-A177-3AD203B41FA5}">
                      <a16:colId xmlns:a16="http://schemas.microsoft.com/office/drawing/2014/main" val="20003"/>
                    </a:ext>
                  </a:extLst>
                </a:gridCol>
              </a:tblGrid>
              <a:tr h="815154">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6575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6575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10711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1C8F6-54B6-FC63-5668-B0DC68C0D31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84D0499-FF3B-A894-0217-37BF80F6F26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2DB2DDE1-39FA-0692-BB04-5CE0EEC2D80A}"/>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4C884F9-2163-4A37-CBBF-A719C4F58C70}"/>
              </a:ext>
            </a:extLst>
          </p:cNvPr>
          <p:cNvSpPr>
            <a:spLocks noGrp="1"/>
          </p:cNvSpPr>
          <p:nvPr>
            <p:ph type="sldNum" sz="quarter" idx="12"/>
          </p:nvPr>
        </p:nvSpPr>
        <p:spPr/>
        <p:txBody>
          <a:bodyPr/>
          <a:lstStyle/>
          <a:p>
            <a:fld id="{B41E2F89-97C2-4B18-A593-8150592B5005}" type="slidenum">
              <a:rPr lang="en-US" smtClean="0"/>
              <a:t>17</a:t>
            </a:fld>
            <a:endParaRPr lang="en-US" dirty="0"/>
          </a:p>
        </p:txBody>
      </p:sp>
      <p:sp>
        <p:nvSpPr>
          <p:cNvPr id="7" name="Title 1">
            <a:extLst>
              <a:ext uri="{FF2B5EF4-FFF2-40B4-BE49-F238E27FC236}">
                <a16:creationId xmlns:a16="http://schemas.microsoft.com/office/drawing/2014/main" id="{BB1CCEC1-6157-BDEE-F171-4EED4CE55DC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err="1"/>
              <a:t>Prequisite</a:t>
            </a:r>
            <a:r>
              <a:rPr lang="en-US" sz="2400" dirty="0"/>
              <a:t>/ Recap </a:t>
            </a:r>
          </a:p>
        </p:txBody>
      </p:sp>
      <p:pic>
        <p:nvPicPr>
          <p:cNvPr id="8" name="Picture 7" descr="A black and red logo&#10;&#10;Description automatically generated">
            <a:extLst>
              <a:ext uri="{FF2B5EF4-FFF2-40B4-BE49-F238E27FC236}">
                <a16:creationId xmlns:a16="http://schemas.microsoft.com/office/drawing/2014/main" id="{F97C15EF-3B46-49DB-9599-B4E868D0F8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C989C7A7-8C98-5820-5FFE-CF0E856148DC}"/>
              </a:ext>
            </a:extLst>
          </p:cNvPr>
          <p:cNvSpPr txBox="1"/>
          <p:nvPr/>
        </p:nvSpPr>
        <p:spPr>
          <a:xfrm>
            <a:off x="892139" y="1462703"/>
            <a:ext cx="10820399" cy="3046988"/>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of basic data structures and algorithms.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to design an algorithm.</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of asymptotic notations.</a:t>
            </a: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744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4DB91-C154-5287-4992-12842A4E7DD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D032F12-6D8E-1570-A1EB-64093864E13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A9EF4F04-2334-FB64-8998-681294BB303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CB6FFDF-7ED1-0729-5281-023DFA15CD58}"/>
              </a:ext>
            </a:extLst>
          </p:cNvPr>
          <p:cNvSpPr>
            <a:spLocks noGrp="1"/>
          </p:cNvSpPr>
          <p:nvPr>
            <p:ph type="sldNum" sz="quarter" idx="12"/>
          </p:nvPr>
        </p:nvSpPr>
        <p:spPr/>
        <p:txBody>
          <a:bodyPr/>
          <a:lstStyle/>
          <a:p>
            <a:fld id="{B41E2F89-97C2-4B18-A593-8150592B5005}" type="slidenum">
              <a:rPr lang="en-US" smtClean="0"/>
              <a:t>18</a:t>
            </a:fld>
            <a:endParaRPr lang="en-US" dirty="0"/>
          </a:p>
        </p:txBody>
      </p:sp>
      <p:sp>
        <p:nvSpPr>
          <p:cNvPr id="7" name="Title 1">
            <a:extLst>
              <a:ext uri="{FF2B5EF4-FFF2-40B4-BE49-F238E27FC236}">
                <a16:creationId xmlns:a16="http://schemas.microsoft.com/office/drawing/2014/main" id="{DC13C3DE-D7A7-9327-03DA-A2F5C41A950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Brief Introduction about the Subject with videos</a:t>
            </a:r>
          </a:p>
        </p:txBody>
      </p:sp>
      <p:pic>
        <p:nvPicPr>
          <p:cNvPr id="8" name="Picture 7" descr="A black and red logo&#10;&#10;Description automatically generated">
            <a:extLst>
              <a:ext uri="{FF2B5EF4-FFF2-40B4-BE49-F238E27FC236}">
                <a16:creationId xmlns:a16="http://schemas.microsoft.com/office/drawing/2014/main" id="{05C0090E-7EC7-AC62-4869-5001A0C71C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FA906E61-B20F-EBBC-5603-A9627593C38F}"/>
              </a:ext>
            </a:extLst>
          </p:cNvPr>
          <p:cNvSpPr txBox="1"/>
          <p:nvPr/>
        </p:nvSpPr>
        <p:spPr>
          <a:xfrm>
            <a:off x="892139" y="1462703"/>
            <a:ext cx="10820399" cy="3785652"/>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t>Dynamic Programming is an algorithm design technique that can be used for solving the problem that can be solvable by making sequence of decision.</a:t>
            </a:r>
          </a:p>
          <a:p>
            <a:pPr marL="342900" indent="-342900">
              <a:buFont typeface="Arial" panose="020B0604020202020204" pitchFamily="34" charset="0"/>
              <a:buChar char="•"/>
            </a:pPr>
            <a:r>
              <a:rPr lang="en-US" sz="2400" dirty="0"/>
              <a:t>Used to find optimal solution.</a:t>
            </a:r>
          </a:p>
          <a:p>
            <a:pPr marL="285750" indent="-285750" algn="just">
              <a:buFont typeface="Arial" panose="020B0604020202020204" pitchFamily="34" charset="0"/>
              <a:buChar char="•"/>
            </a:pPr>
            <a:r>
              <a:rPr lang="en-US" sz="2400" dirty="0">
                <a:hlinkClick r:id="rId3"/>
              </a:rPr>
              <a:t>Lec-17 Other Issues - Introduction to Dynamic Programming</a:t>
            </a:r>
            <a:endParaRPr lang="en-US" sz="2400" dirty="0"/>
          </a:p>
          <a:p>
            <a:pPr marL="285750" indent="-285750" algn="just">
              <a:buFont typeface="Arial" panose="020B0604020202020204" pitchFamily="34" charset="0"/>
              <a:buChar char="•"/>
            </a:pPr>
            <a:r>
              <a:rPr lang="en-US" sz="2400" dirty="0">
                <a:hlinkClick r:id="rId4"/>
              </a:rPr>
              <a:t>Lecture -18 Dynamic Programming</a:t>
            </a: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8652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4836-2DC6-D814-ED8B-D11C7FB1E5B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F92EB0F-5647-AE59-A693-DA6FF5C8BCD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A2CA1F7C-EEA9-BA77-EB69-BB46FD4ACF2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3996D286-6A82-E866-8520-DBFF9F9FD312}"/>
              </a:ext>
            </a:extLst>
          </p:cNvPr>
          <p:cNvSpPr>
            <a:spLocks noGrp="1"/>
          </p:cNvSpPr>
          <p:nvPr>
            <p:ph type="sldNum" sz="quarter" idx="12"/>
          </p:nvPr>
        </p:nvSpPr>
        <p:spPr/>
        <p:txBody>
          <a:bodyPr/>
          <a:lstStyle/>
          <a:p>
            <a:fld id="{B41E2F89-97C2-4B18-A593-8150592B5005}" type="slidenum">
              <a:rPr lang="en-US" smtClean="0"/>
              <a:t>19</a:t>
            </a:fld>
            <a:endParaRPr lang="en-US" dirty="0"/>
          </a:p>
        </p:txBody>
      </p:sp>
      <p:sp>
        <p:nvSpPr>
          <p:cNvPr id="7" name="Title 1">
            <a:extLst>
              <a:ext uri="{FF2B5EF4-FFF2-40B4-BE49-F238E27FC236}">
                <a16:creationId xmlns:a16="http://schemas.microsoft.com/office/drawing/2014/main" id="{F7020817-B42B-7FD6-608F-02B67567A33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Unit Content</a:t>
            </a:r>
          </a:p>
        </p:txBody>
      </p:sp>
      <p:pic>
        <p:nvPicPr>
          <p:cNvPr id="8" name="Picture 7" descr="A black and red logo&#10;&#10;Description automatically generated">
            <a:extLst>
              <a:ext uri="{FF2B5EF4-FFF2-40B4-BE49-F238E27FC236}">
                <a16:creationId xmlns:a16="http://schemas.microsoft.com/office/drawing/2014/main" id="{0A03F8E8-FA61-D77F-A2F8-34A565E75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B074E8FC-5DFD-5DE5-3D83-6F983ACE709A}"/>
              </a:ext>
            </a:extLst>
          </p:cNvPr>
          <p:cNvSpPr txBox="1"/>
          <p:nvPr/>
        </p:nvSpPr>
        <p:spPr>
          <a:xfrm>
            <a:off x="912686" y="1533324"/>
            <a:ext cx="10820399" cy="415498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t>Dynamic programming introduction</a:t>
            </a:r>
          </a:p>
          <a:p>
            <a:pPr marL="342900" indent="-342900">
              <a:buFont typeface="Arial" panose="020B0604020202020204" pitchFamily="34" charset="0"/>
              <a:buChar char="•"/>
            </a:pPr>
            <a:r>
              <a:rPr lang="en-US" sz="2400" dirty="0"/>
              <a:t>Key concepts</a:t>
            </a:r>
          </a:p>
          <a:p>
            <a:pPr marL="342900" indent="-342900">
              <a:buFont typeface="Arial" panose="020B0604020202020204" pitchFamily="34" charset="0"/>
              <a:buChar char="•"/>
            </a:pPr>
            <a:r>
              <a:rPr lang="en-US" sz="2400" dirty="0"/>
              <a:t>Advantages of DP</a:t>
            </a:r>
          </a:p>
          <a:p>
            <a:pPr marL="342900" indent="-342900">
              <a:buFont typeface="Arial" panose="020B0604020202020204" pitchFamily="34" charset="0"/>
              <a:buChar char="•"/>
            </a:pPr>
            <a:r>
              <a:rPr lang="en-US" sz="2400" dirty="0"/>
              <a:t>Disadvantages of DP</a:t>
            </a:r>
          </a:p>
          <a:p>
            <a:pPr marL="342900" indent="-342900">
              <a:buFont typeface="Arial" panose="020B0604020202020204" pitchFamily="34" charset="0"/>
              <a:buChar char="•"/>
            </a:pPr>
            <a:r>
              <a:rPr lang="en-US" sz="2400" dirty="0"/>
              <a:t>Applications of DP</a:t>
            </a:r>
          </a:p>
          <a:p>
            <a:pPr marL="342900" indent="-342900">
              <a:buFont typeface="Arial" panose="020B0604020202020204" pitchFamily="34" charset="0"/>
              <a:buChar char="•"/>
            </a:pPr>
            <a:r>
              <a:rPr lang="en-US" sz="2400" dirty="0"/>
              <a:t>0/1 knapsack problem</a:t>
            </a:r>
          </a:p>
          <a:p>
            <a:pPr marL="342900" indent="-342900">
              <a:buFont typeface="Arial" panose="020B0604020202020204" pitchFamily="34" charset="0"/>
              <a:buChar char="•"/>
            </a:pPr>
            <a:r>
              <a:rPr lang="en-US" sz="2400" dirty="0"/>
              <a:t>Longest common subsequence </a:t>
            </a:r>
          </a:p>
          <a:p>
            <a:pPr marL="342900" indent="-342900">
              <a:buFont typeface="Arial" panose="020B0604020202020204" pitchFamily="34" charset="0"/>
              <a:buChar char="•"/>
            </a:pPr>
            <a:r>
              <a:rPr lang="en-US" sz="2400" dirty="0"/>
              <a:t>Matrix chain multiplication</a:t>
            </a:r>
          </a:p>
          <a:p>
            <a:pPr marL="342900" indent="-342900">
              <a:buFont typeface="Arial" panose="020B0604020202020204" pitchFamily="34" charset="0"/>
              <a:buChar char="•"/>
            </a:pPr>
            <a:r>
              <a:rPr lang="en-US" sz="2400" dirty="0"/>
              <a:t>Resource allocation problem</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7005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C4531-5F83-9C76-F17B-CF1C72CB901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06AEE8F-BAE7-823C-DA95-504C54CC650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D063BABF-9185-8BF5-E29B-B689884A739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A4DAC31-583E-95FD-CD44-25033DB6A023}"/>
              </a:ext>
            </a:extLst>
          </p:cNvPr>
          <p:cNvSpPr>
            <a:spLocks noGrp="1"/>
          </p:cNvSpPr>
          <p:nvPr>
            <p:ph type="sldNum" sz="quarter" idx="12"/>
          </p:nvPr>
        </p:nvSpPr>
        <p:spPr/>
        <p:txBody>
          <a:bodyPr/>
          <a:lstStyle/>
          <a:p>
            <a:fld id="{B41E2F89-97C2-4B18-A593-8150592B5005}" type="slidenum">
              <a:rPr lang="en-US" smtClean="0"/>
              <a:t>20</a:t>
            </a:fld>
            <a:endParaRPr lang="en-US" dirty="0"/>
          </a:p>
        </p:txBody>
      </p:sp>
      <p:sp>
        <p:nvSpPr>
          <p:cNvPr id="7" name="Title 1">
            <a:extLst>
              <a:ext uri="{FF2B5EF4-FFF2-40B4-BE49-F238E27FC236}">
                <a16:creationId xmlns:a16="http://schemas.microsoft.com/office/drawing/2014/main" id="{9934A34A-A7F5-1856-1ADA-7D4F1D05EDA0}"/>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Unit Objective</a:t>
            </a:r>
          </a:p>
        </p:txBody>
      </p:sp>
      <p:pic>
        <p:nvPicPr>
          <p:cNvPr id="8" name="Picture 7" descr="A black and red logo&#10;&#10;Description automatically generated">
            <a:extLst>
              <a:ext uri="{FF2B5EF4-FFF2-40B4-BE49-F238E27FC236}">
                <a16:creationId xmlns:a16="http://schemas.microsoft.com/office/drawing/2014/main" id="{C5A4CECD-FD4D-68F0-D5B1-7186928F75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357C968D-D6C0-3625-27E9-C84837A83614}"/>
              </a:ext>
            </a:extLst>
          </p:cNvPr>
          <p:cNvSpPr txBox="1"/>
          <p:nvPr/>
        </p:nvSpPr>
        <p:spPr>
          <a:xfrm>
            <a:off x="892139" y="1462703"/>
            <a:ext cx="10820399" cy="2677656"/>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the concept of Dynamic programming.</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it can be used to get an optimal solution.</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7219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2537-D665-4CEF-DB01-3E2B69281A1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19C5C75-C71F-C93E-F971-94F35720CD5C}"/>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A8B531ED-18E2-95D0-3C59-65A441CC812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6CEB37C-71CD-5359-AC93-539AA1BB154E}"/>
              </a:ext>
            </a:extLst>
          </p:cNvPr>
          <p:cNvSpPr>
            <a:spLocks noGrp="1"/>
          </p:cNvSpPr>
          <p:nvPr>
            <p:ph type="sldNum" sz="quarter" idx="12"/>
          </p:nvPr>
        </p:nvSpPr>
        <p:spPr/>
        <p:txBody>
          <a:bodyPr/>
          <a:lstStyle/>
          <a:p>
            <a:fld id="{B41E2F89-97C2-4B18-A593-8150592B5005}" type="slidenum">
              <a:rPr lang="en-US" smtClean="0"/>
              <a:t>21</a:t>
            </a:fld>
            <a:endParaRPr lang="en-US" dirty="0"/>
          </a:p>
        </p:txBody>
      </p:sp>
      <p:sp>
        <p:nvSpPr>
          <p:cNvPr id="7" name="Title 1">
            <a:extLst>
              <a:ext uri="{FF2B5EF4-FFF2-40B4-BE49-F238E27FC236}">
                <a16:creationId xmlns:a16="http://schemas.microsoft.com/office/drawing/2014/main" id="{6E7D0935-2B7A-B932-256D-3C5D5E80BFB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 Introduction to Dynamic Programming</a:t>
            </a:r>
          </a:p>
        </p:txBody>
      </p:sp>
      <p:pic>
        <p:nvPicPr>
          <p:cNvPr id="8" name="Picture 7" descr="A black and red logo&#10;&#10;Description automatically generated">
            <a:extLst>
              <a:ext uri="{FF2B5EF4-FFF2-40B4-BE49-F238E27FC236}">
                <a16:creationId xmlns:a16="http://schemas.microsoft.com/office/drawing/2014/main" id="{3D4D7D35-75AC-9F82-22CB-B6356B9F98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0B601F1-2A36-A491-FAD9-06B7EF75E382}"/>
              </a:ext>
            </a:extLst>
          </p:cNvPr>
          <p:cNvSpPr txBox="1"/>
          <p:nvPr/>
        </p:nvSpPr>
        <p:spPr>
          <a:xfrm>
            <a:off x="892139" y="1462703"/>
            <a:ext cx="10820399" cy="4154984"/>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Technique by Richard Bellman, 1950s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Breaks problem → overlapping subproblems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Stores results to avoid </a:t>
            </a:r>
            <a:r>
              <a:rPr lang="en-US" sz="2400" dirty="0" err="1">
                <a:latin typeface="Times New Roman" panose="02020603050405020304" pitchFamily="18" charset="0"/>
                <a:cs typeface="Times New Roman" panose="02020603050405020304" pitchFamily="18" charset="0"/>
              </a:rPr>
              <a:t>recomputation</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Two properties needed:  </a:t>
            </a:r>
          </a:p>
          <a:p>
            <a:pPr marL="800100" lvl="1"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Optimal Substructure  </a:t>
            </a:r>
          </a:p>
          <a:p>
            <a:pPr marL="800100" lvl="1"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Overlapping Subproblems  </a:t>
            </a:r>
          </a:p>
          <a:p>
            <a:pPr marL="742950" lvl="1"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Approach:* Top-Down = </a:t>
            </a:r>
            <a:r>
              <a:rPr lang="en-US" sz="2400" dirty="0" err="1">
                <a:latin typeface="Times New Roman" panose="02020603050405020304" pitchFamily="18" charset="0"/>
                <a:cs typeface="Times New Roman" panose="02020603050405020304" pitchFamily="18" charset="0"/>
              </a:rPr>
              <a:t>Memoization</a:t>
            </a:r>
            <a:r>
              <a:rPr lang="en-US" sz="2400" dirty="0">
                <a:latin typeface="Times New Roman" panose="02020603050405020304" pitchFamily="18" charset="0"/>
                <a:cs typeface="Times New Roman" panose="02020603050405020304" pitchFamily="18" charset="0"/>
              </a:rPr>
              <a:t>, Bottom-Up = Tabulation</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2915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B6E2-BFB7-F46B-4C39-CFF8C2D6D60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45C74AF-0DA0-CAC8-BFDE-C4539FAE502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BEE54660-C8DC-F2A6-EDB2-906E0ACB77D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26B4130-3C1A-BFD9-22CA-BE0D18F33B76}"/>
              </a:ext>
            </a:extLst>
          </p:cNvPr>
          <p:cNvSpPr>
            <a:spLocks noGrp="1"/>
          </p:cNvSpPr>
          <p:nvPr>
            <p:ph type="sldNum" sz="quarter" idx="12"/>
          </p:nvPr>
        </p:nvSpPr>
        <p:spPr/>
        <p:txBody>
          <a:bodyPr/>
          <a:lstStyle/>
          <a:p>
            <a:fld id="{B41E2F89-97C2-4B18-A593-8150592B5005}" type="slidenum">
              <a:rPr lang="en-US" smtClean="0"/>
              <a:t>22</a:t>
            </a:fld>
            <a:endParaRPr lang="en-US" dirty="0"/>
          </a:p>
        </p:txBody>
      </p:sp>
      <p:sp>
        <p:nvSpPr>
          <p:cNvPr id="7" name="Title 1">
            <a:extLst>
              <a:ext uri="{FF2B5EF4-FFF2-40B4-BE49-F238E27FC236}">
                <a16:creationId xmlns:a16="http://schemas.microsoft.com/office/drawing/2014/main" id="{25CE5835-0DA3-8AC2-D111-5DCEAD0D32B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Key Concepts of DP</a:t>
            </a:r>
          </a:p>
        </p:txBody>
      </p:sp>
      <p:pic>
        <p:nvPicPr>
          <p:cNvPr id="8" name="Picture 7" descr="A black and red logo&#10;&#10;Description automatically generated">
            <a:extLst>
              <a:ext uri="{FF2B5EF4-FFF2-40B4-BE49-F238E27FC236}">
                <a16:creationId xmlns:a16="http://schemas.microsoft.com/office/drawing/2014/main" id="{DE0FF6F2-4CC8-2794-AABA-22BF877BF4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54CC8C77-0EBC-2270-7319-068BA8BAFE40}"/>
              </a:ext>
            </a:extLst>
          </p:cNvPr>
          <p:cNvSpPr txBox="1"/>
          <p:nvPr/>
        </p:nvSpPr>
        <p:spPr>
          <a:xfrm>
            <a:off x="892139" y="1462703"/>
            <a:ext cx="10820399" cy="3046988"/>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State:</a:t>
            </a:r>
            <a:r>
              <a:rPr lang="en-US" sz="2400" dirty="0">
                <a:latin typeface="Times New Roman" panose="02020603050405020304" pitchFamily="18" charset="0"/>
                <a:cs typeface="Times New Roman" panose="02020603050405020304" pitchFamily="18" charset="0"/>
              </a:rPr>
              <a:t> Parameters defining subproblem </a:t>
            </a:r>
            <a:r>
              <a:rPr lang="en-US" sz="2400" dirty="0" err="1">
                <a:latin typeface="Times New Roman" panose="02020603050405020304" pitchFamily="18" charset="0"/>
                <a:cs typeface="Times New Roman" panose="02020603050405020304" pitchFamily="18" charset="0"/>
              </a:rPr>
              <a:t>dp</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][w]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Transition/Recurrence: </a:t>
            </a:r>
            <a:r>
              <a:rPr lang="en-US" sz="2400" dirty="0">
                <a:latin typeface="Times New Roman" panose="02020603050405020304" pitchFamily="18" charset="0"/>
                <a:cs typeface="Times New Roman" panose="02020603050405020304" pitchFamily="18" charset="0"/>
              </a:rPr>
              <a:t>Relation between states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Base Case: </a:t>
            </a:r>
            <a:r>
              <a:rPr lang="en-US" sz="2400" dirty="0">
                <a:latin typeface="Times New Roman" panose="02020603050405020304" pitchFamily="18" charset="0"/>
                <a:cs typeface="Times New Roman" panose="02020603050405020304" pitchFamily="18" charset="0"/>
              </a:rPr>
              <a:t>Smallest subproblem  </a:t>
            </a:r>
          </a:p>
          <a:p>
            <a:pPr marL="342900" indent="-3429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Memoization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Cache recursive results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Tabulation: </a:t>
            </a:r>
            <a:r>
              <a:rPr lang="en-US" sz="2400" dirty="0">
                <a:latin typeface="Times New Roman" panose="02020603050405020304" pitchFamily="18" charset="0"/>
                <a:cs typeface="Times New Roman" panose="02020603050405020304" pitchFamily="18" charset="0"/>
              </a:rPr>
              <a:t>Fill table iteratively</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8699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5F0CF-034B-5CA5-6A76-4A4FF23C7B7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6984F5-2423-0222-747F-B9320E3CB8C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EAA2FF35-A61D-CA1E-5E24-5B91AA78B63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C01E9B9-AB6A-59F3-7AAB-8AC4B2C89AB8}"/>
              </a:ext>
            </a:extLst>
          </p:cNvPr>
          <p:cNvSpPr>
            <a:spLocks noGrp="1"/>
          </p:cNvSpPr>
          <p:nvPr>
            <p:ph type="sldNum" sz="quarter" idx="12"/>
          </p:nvPr>
        </p:nvSpPr>
        <p:spPr/>
        <p:txBody>
          <a:bodyPr/>
          <a:lstStyle/>
          <a:p>
            <a:fld id="{B41E2F89-97C2-4B18-A593-8150592B5005}" type="slidenum">
              <a:rPr lang="en-US" smtClean="0"/>
              <a:t>23</a:t>
            </a:fld>
            <a:endParaRPr lang="en-US" dirty="0"/>
          </a:p>
        </p:txBody>
      </p:sp>
      <p:sp>
        <p:nvSpPr>
          <p:cNvPr id="7" name="Title 1">
            <a:extLst>
              <a:ext uri="{FF2B5EF4-FFF2-40B4-BE49-F238E27FC236}">
                <a16:creationId xmlns:a16="http://schemas.microsoft.com/office/drawing/2014/main" id="{4BA107DC-997B-632A-3DE8-9A4E28ED070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 Advantages of DP</a:t>
            </a:r>
          </a:p>
        </p:txBody>
      </p:sp>
      <p:pic>
        <p:nvPicPr>
          <p:cNvPr id="8" name="Picture 7" descr="A black and red logo&#10;&#10;Description automatically generated">
            <a:extLst>
              <a:ext uri="{FF2B5EF4-FFF2-40B4-BE49-F238E27FC236}">
                <a16:creationId xmlns:a16="http://schemas.microsoft.com/office/drawing/2014/main" id="{58A9B588-DB03-D995-7480-E2B377AC4E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F1F7A75-DA89-509C-F26E-D790D71B4028}"/>
              </a:ext>
            </a:extLst>
          </p:cNvPr>
          <p:cNvSpPr txBox="1"/>
          <p:nvPr/>
        </p:nvSpPr>
        <p:spPr>
          <a:xfrm>
            <a:off x="892139" y="1462703"/>
            <a:ext cx="10820399"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Time Efficient: Exponential → Polynomial. Ex: Fib O(2ⁿ) → O(n)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Guarantees Optimality for problems with optimal substructure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Solves Complex Problems unsolvable by greedy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Reusable </a:t>
            </a:r>
            <a:r>
              <a:rPr lang="en-US" sz="2400" dirty="0" err="1">
                <a:latin typeface="Times New Roman" panose="02020603050405020304" pitchFamily="18" charset="0"/>
                <a:cs typeface="Times New Roman" panose="02020603050405020304" pitchFamily="18" charset="0"/>
              </a:rPr>
              <a:t>Subsolutions</a:t>
            </a: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49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BCF6-8BE8-8289-B071-63C26AD0CF0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DE77225-21F5-03D6-5474-7BB9DB2A514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ACC8567A-C0A9-A2CF-B3FF-1FFF054C6915}"/>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3865B74-6234-0ABB-A6F5-EDB8476A8AF3}"/>
              </a:ext>
            </a:extLst>
          </p:cNvPr>
          <p:cNvSpPr>
            <a:spLocks noGrp="1"/>
          </p:cNvSpPr>
          <p:nvPr>
            <p:ph type="sldNum" sz="quarter" idx="12"/>
          </p:nvPr>
        </p:nvSpPr>
        <p:spPr/>
        <p:txBody>
          <a:bodyPr/>
          <a:lstStyle/>
          <a:p>
            <a:fld id="{B41E2F89-97C2-4B18-A593-8150592B5005}" type="slidenum">
              <a:rPr lang="en-US" smtClean="0"/>
              <a:t>24</a:t>
            </a:fld>
            <a:endParaRPr lang="en-US" dirty="0"/>
          </a:p>
        </p:txBody>
      </p:sp>
      <p:sp>
        <p:nvSpPr>
          <p:cNvPr id="7" name="Title 1">
            <a:extLst>
              <a:ext uri="{FF2B5EF4-FFF2-40B4-BE49-F238E27FC236}">
                <a16:creationId xmlns:a16="http://schemas.microsoft.com/office/drawing/2014/main" id="{8F26DB2D-FC8E-4A2A-DEA2-1C57D37488E0}"/>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Disadvantages of DP</a:t>
            </a:r>
          </a:p>
        </p:txBody>
      </p:sp>
      <p:pic>
        <p:nvPicPr>
          <p:cNvPr id="8" name="Picture 7" descr="A black and red logo&#10;&#10;Description automatically generated">
            <a:extLst>
              <a:ext uri="{FF2B5EF4-FFF2-40B4-BE49-F238E27FC236}">
                <a16:creationId xmlns:a16="http://schemas.microsoft.com/office/drawing/2014/main" id="{7CBF752D-70EA-D6A6-9AA5-9D76B56581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C75566EF-99F3-3472-3D2C-28B1C1774D36}"/>
              </a:ext>
            </a:extLst>
          </p:cNvPr>
          <p:cNvSpPr txBox="1"/>
          <p:nvPr/>
        </p:nvSpPr>
        <p:spPr>
          <a:xfrm>
            <a:off x="892139" y="1462703"/>
            <a:ext cx="10820399"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 Space Complexity</a:t>
            </a:r>
            <a:r>
              <a:rPr lang="en-US" sz="2400" dirty="0">
                <a:latin typeface="Times New Roman" panose="02020603050405020304" pitchFamily="18" charset="0"/>
                <a:cs typeface="Times New Roman" panose="02020603050405020304" pitchFamily="18" charset="0"/>
              </a:rPr>
              <a:t>: O(n²) tables common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Hard to Formulate</a:t>
            </a:r>
            <a:r>
              <a:rPr lang="en-US" sz="2400" dirty="0">
                <a:latin typeface="Times New Roman" panose="02020603050405020304" pitchFamily="18" charset="0"/>
                <a:cs typeface="Times New Roman" panose="02020603050405020304" pitchFamily="18" charset="0"/>
              </a:rPr>
              <a:t>: Defining state/recurrence is tricky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Overkill for Simple Problems</a:t>
            </a:r>
            <a:r>
              <a:rPr lang="en-US" sz="2400" dirty="0">
                <a:latin typeface="Times New Roman" panose="02020603050405020304" pitchFamily="18" charset="0"/>
                <a:cs typeface="Times New Roman" panose="02020603050405020304" pitchFamily="18" charset="0"/>
              </a:rPr>
              <a:t>: Greedy may be better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Not Always Intuitive</a:t>
            </a:r>
            <a:r>
              <a:rPr lang="en-US" sz="2400" dirty="0">
                <a:latin typeface="Times New Roman" panose="02020603050405020304" pitchFamily="18" charset="0"/>
                <a:cs typeface="Times New Roman" panose="02020603050405020304" pitchFamily="18" charset="0"/>
              </a:rPr>
              <a:t>: Debugging tables is hard</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4096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178D-42D6-FA0A-8A3B-364D615515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B806205-95D2-A4E7-2545-E7BC785B3E4B}"/>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5A88D532-F207-8A9A-D75D-28D0E80E35D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5D2B22C-4D7E-36D4-2ACB-91342DF01E82}"/>
              </a:ext>
            </a:extLst>
          </p:cNvPr>
          <p:cNvSpPr>
            <a:spLocks noGrp="1"/>
          </p:cNvSpPr>
          <p:nvPr>
            <p:ph type="sldNum" sz="quarter" idx="12"/>
          </p:nvPr>
        </p:nvSpPr>
        <p:spPr/>
        <p:txBody>
          <a:bodyPr/>
          <a:lstStyle/>
          <a:p>
            <a:fld id="{B41E2F89-97C2-4B18-A593-8150592B5005}" type="slidenum">
              <a:rPr lang="en-US" smtClean="0"/>
              <a:t>25</a:t>
            </a:fld>
            <a:endParaRPr lang="en-US" dirty="0"/>
          </a:p>
        </p:txBody>
      </p:sp>
      <p:sp>
        <p:nvSpPr>
          <p:cNvPr id="7" name="Title 1">
            <a:extLst>
              <a:ext uri="{FF2B5EF4-FFF2-40B4-BE49-F238E27FC236}">
                <a16:creationId xmlns:a16="http://schemas.microsoft.com/office/drawing/2014/main" id="{F1C43E9B-0C84-E6F5-9119-517558139D4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Applications of DP</a:t>
            </a:r>
          </a:p>
        </p:txBody>
      </p:sp>
      <p:pic>
        <p:nvPicPr>
          <p:cNvPr id="8" name="Picture 7" descr="A black and red logo&#10;&#10;Description automatically generated">
            <a:extLst>
              <a:ext uri="{FF2B5EF4-FFF2-40B4-BE49-F238E27FC236}">
                <a16:creationId xmlns:a16="http://schemas.microsoft.com/office/drawing/2014/main" id="{2EE4526D-8E0B-C8AD-B02E-86CE73AF2C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89E20B74-AC57-AFDF-4437-057A2743BD2B}"/>
              </a:ext>
            </a:extLst>
          </p:cNvPr>
          <p:cNvSpPr txBox="1"/>
          <p:nvPr/>
        </p:nvSpPr>
        <p:spPr>
          <a:xfrm>
            <a:off x="892139" y="1472977"/>
            <a:ext cx="10820399"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Optimization: Knapsack, MCM, Resource Allocation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Strings: LCS, Edit Distance, Palindromes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Graphs: Floyd-</a:t>
            </a:r>
            <a:r>
              <a:rPr lang="en-US" sz="2400" dirty="0" err="1">
                <a:latin typeface="Times New Roman" panose="02020603050405020304" pitchFamily="18" charset="0"/>
                <a:cs typeface="Times New Roman" panose="02020603050405020304" pitchFamily="18" charset="0"/>
              </a:rPr>
              <a:t>Warshall</a:t>
            </a:r>
            <a:r>
              <a:rPr lang="en-US" sz="2400" dirty="0">
                <a:latin typeface="Times New Roman" panose="02020603050405020304" pitchFamily="18" charset="0"/>
                <a:cs typeface="Times New Roman" panose="02020603050405020304" pitchFamily="18" charset="0"/>
              </a:rPr>
              <a:t>, Bellman-Ford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Bioinformatics: Sequence Alignment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Economics: Investment, Production Planning</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534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2F602-26B7-30F8-FDF6-DF958C2FA5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86C47A8-DA04-D344-E3DF-C20F4DD7E6C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752B368-A1D3-EA05-2A44-808C4DD910E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D9F2B10-D7AE-40CA-6688-4C179204172A}"/>
              </a:ext>
            </a:extLst>
          </p:cNvPr>
          <p:cNvSpPr>
            <a:spLocks noGrp="1"/>
          </p:cNvSpPr>
          <p:nvPr>
            <p:ph type="sldNum" sz="quarter" idx="12"/>
          </p:nvPr>
        </p:nvSpPr>
        <p:spPr/>
        <p:txBody>
          <a:bodyPr/>
          <a:lstStyle/>
          <a:p>
            <a:fld id="{B41E2F89-97C2-4B18-A593-8150592B5005}" type="slidenum">
              <a:rPr lang="en-US" smtClean="0"/>
              <a:t>26</a:t>
            </a:fld>
            <a:endParaRPr lang="en-US" dirty="0"/>
          </a:p>
        </p:txBody>
      </p:sp>
      <p:sp>
        <p:nvSpPr>
          <p:cNvPr id="7" name="Title 1">
            <a:extLst>
              <a:ext uri="{FF2B5EF4-FFF2-40B4-BE49-F238E27FC236}">
                <a16:creationId xmlns:a16="http://schemas.microsoft.com/office/drawing/2014/main" id="{141FF2CD-D3A5-CC88-6E0A-A57EDF5C65B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D816A5E6-53B6-0B88-BFBF-8AE18D1D16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FB976B22-25A6-6E92-6D03-104A5D37CD2E}"/>
              </a:ext>
            </a:extLst>
          </p:cNvPr>
          <p:cNvSpPr txBox="1"/>
          <p:nvPr/>
        </p:nvSpPr>
        <p:spPr>
          <a:xfrm>
            <a:off x="892139" y="1462703"/>
            <a:ext cx="10820399" cy="341632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Consider a thief gets into a home to rob and he carries a knapsack. There are fixed number of items in the home — each with its own weight and value — </a:t>
            </a:r>
            <a:r>
              <a:rPr lang="en-IN" sz="2400" dirty="0" err="1"/>
              <a:t>Jewelry</a:t>
            </a:r>
            <a:r>
              <a:rPr lang="en-IN" sz="2400" dirty="0"/>
              <a:t>, with less weight and highest value vs tables, with less value but a lot heavy.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To add fuel to the fire, the thief has an old knapsack which has limited capacity.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Obviously, he can’t split the table into half or </a:t>
            </a:r>
            <a:r>
              <a:rPr lang="en-IN" sz="2400" dirty="0" err="1"/>
              <a:t>jewelry</a:t>
            </a:r>
            <a:r>
              <a:rPr lang="en-IN" sz="2400" dirty="0"/>
              <a:t> into 3/4ths. He either takes it or leaves it.</a:t>
            </a: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04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B0581-9263-22DC-360E-F2AEE3A599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A6F1AA5-DF83-8080-04AF-72640284D1DE}"/>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B55476F-C309-C74C-6018-587E40F8A76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3011C1F8-7482-03D8-B358-29BA422B5327}"/>
              </a:ext>
            </a:extLst>
          </p:cNvPr>
          <p:cNvSpPr>
            <a:spLocks noGrp="1"/>
          </p:cNvSpPr>
          <p:nvPr>
            <p:ph type="sldNum" sz="quarter" idx="12"/>
          </p:nvPr>
        </p:nvSpPr>
        <p:spPr/>
        <p:txBody>
          <a:bodyPr/>
          <a:lstStyle/>
          <a:p>
            <a:fld id="{B41E2F89-97C2-4B18-A593-8150592B5005}" type="slidenum">
              <a:rPr lang="en-US" smtClean="0"/>
              <a:t>27</a:t>
            </a:fld>
            <a:endParaRPr lang="en-US" dirty="0"/>
          </a:p>
        </p:txBody>
      </p:sp>
      <p:sp>
        <p:nvSpPr>
          <p:cNvPr id="7" name="Title 1">
            <a:extLst>
              <a:ext uri="{FF2B5EF4-FFF2-40B4-BE49-F238E27FC236}">
                <a16:creationId xmlns:a16="http://schemas.microsoft.com/office/drawing/2014/main" id="{30F69805-1362-B4A0-5FDF-ACFDDB9A0CE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1769C5C0-81FE-B613-786C-12B82F0D64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6E7E329-F54C-5486-EF9A-D4D435C6A27B}"/>
              </a:ext>
            </a:extLst>
          </p:cNvPr>
          <p:cNvSpPr txBox="1"/>
          <p:nvPr/>
        </p:nvSpPr>
        <p:spPr>
          <a:xfrm>
            <a:off x="892139" y="1462703"/>
            <a:ext cx="10820399" cy="4154984"/>
          </a:xfrm>
          <a:prstGeom prst="rect">
            <a:avLst/>
          </a:prstGeom>
          <a:noFill/>
        </p:spPr>
        <p:txBody>
          <a:bodyPr wrap="square" rtlCol="0">
            <a:spAutoFit/>
          </a:bodyPr>
          <a:lstStyle/>
          <a:p>
            <a:r>
              <a:rPr lang="en-IN" sz="2400" b="1" dirty="0"/>
              <a:t>Dynamic-Programming Approach</a:t>
            </a:r>
          </a:p>
          <a:p>
            <a:endParaRPr lang="en-IN" sz="2400" b="1" dirty="0"/>
          </a:p>
          <a:p>
            <a:pPr marL="342900" indent="-342900" algn="just">
              <a:buFont typeface="Arial" panose="020B0604020202020204" pitchFamily="34" charset="0"/>
              <a:buChar char="•"/>
            </a:pPr>
            <a:r>
              <a:rPr lang="en-IN" sz="2400" dirty="0"/>
              <a:t>Let </a:t>
            </a:r>
            <a:r>
              <a:rPr lang="en-IN" sz="2400" b="1" i="1" dirty="0" err="1"/>
              <a:t>i</a:t>
            </a:r>
            <a:r>
              <a:rPr lang="en-IN" sz="2400" dirty="0"/>
              <a:t> be the highest-numbered item in an optimal solution </a:t>
            </a:r>
            <a:r>
              <a:rPr lang="en-IN" sz="2400" b="1" dirty="0"/>
              <a:t>S</a:t>
            </a:r>
            <a:r>
              <a:rPr lang="en-IN" sz="2400" dirty="0"/>
              <a:t> for </a:t>
            </a:r>
            <a:r>
              <a:rPr lang="en-IN" sz="2400" b="1" dirty="0"/>
              <a:t>W</a:t>
            </a:r>
            <a:r>
              <a:rPr lang="en-IN" sz="2400" dirty="0"/>
              <a:t> dollars. Then </a:t>
            </a:r>
            <a:r>
              <a:rPr lang="en-IN" sz="2400" b="1" i="1" dirty="0"/>
              <a:t>S</a:t>
            </a:r>
            <a:r>
              <a:rPr lang="en-IN" sz="2400" b="1" i="1" baseline="30000" dirty="0"/>
              <a:t>'</a:t>
            </a:r>
            <a:r>
              <a:rPr lang="en-IN" sz="2400" b="1" i="1" dirty="0"/>
              <a:t> = S - {</a:t>
            </a:r>
            <a:r>
              <a:rPr lang="en-IN" sz="2400" b="1" i="1" dirty="0" err="1"/>
              <a:t>i</a:t>
            </a:r>
            <a:r>
              <a:rPr lang="en-IN" sz="2400" b="1" i="1" dirty="0"/>
              <a:t>}</a:t>
            </a:r>
            <a:r>
              <a:rPr lang="en-IN" sz="2400" dirty="0"/>
              <a:t> is an optimal solution for </a:t>
            </a:r>
            <a:r>
              <a:rPr lang="en-IN" sz="2400" b="1" i="1" dirty="0"/>
              <a:t>W - </a:t>
            </a:r>
            <a:r>
              <a:rPr lang="en-IN" sz="2400" b="1" i="1" dirty="0" err="1"/>
              <a:t>w</a:t>
            </a:r>
            <a:r>
              <a:rPr lang="en-IN" sz="2400" b="1" i="1" baseline="-25000" dirty="0" err="1"/>
              <a:t>i</a:t>
            </a:r>
            <a:r>
              <a:rPr lang="en-IN" sz="2400" dirty="0"/>
              <a:t> dollars and the value to the solution </a:t>
            </a:r>
            <a:r>
              <a:rPr lang="en-IN" sz="2400" b="1" i="1" dirty="0"/>
              <a:t>S</a:t>
            </a:r>
            <a:r>
              <a:rPr lang="en-IN" sz="2400" dirty="0"/>
              <a:t> is </a:t>
            </a:r>
            <a:r>
              <a:rPr lang="en-IN" sz="2400" b="1" i="1" dirty="0"/>
              <a:t>V</a:t>
            </a:r>
            <a:r>
              <a:rPr lang="en-IN" sz="2400" b="1" i="1" baseline="-25000" dirty="0"/>
              <a:t>i</a:t>
            </a:r>
            <a:r>
              <a:rPr lang="en-IN" sz="2400" dirty="0"/>
              <a:t> plus the value of the sub-problem.</a:t>
            </a:r>
          </a:p>
          <a:p>
            <a:pPr marL="342900" indent="-342900">
              <a:buFont typeface="Arial" panose="020B0604020202020204" pitchFamily="34" charset="0"/>
              <a:buChar char="•"/>
            </a:pPr>
            <a:r>
              <a:rPr lang="en-IN" sz="2400" dirty="0"/>
              <a:t>We can express this fact in the following formula: define </a:t>
            </a:r>
            <a:r>
              <a:rPr lang="en-IN" sz="2400" b="1" dirty="0"/>
              <a:t>c[</a:t>
            </a:r>
            <a:r>
              <a:rPr lang="en-IN" sz="2400" b="1" dirty="0" err="1"/>
              <a:t>i</a:t>
            </a:r>
            <a:r>
              <a:rPr lang="en-IN" sz="2400" b="1" dirty="0"/>
              <a:t>, w]</a:t>
            </a:r>
            <a:r>
              <a:rPr lang="en-IN" sz="2400" dirty="0"/>
              <a:t> to be the solution for items </a:t>
            </a:r>
            <a:r>
              <a:rPr lang="en-IN" sz="2400" b="1" dirty="0"/>
              <a:t>1,2, … , </a:t>
            </a:r>
            <a:r>
              <a:rPr lang="en-IN" sz="2400" b="1" dirty="0" err="1"/>
              <a:t>i</a:t>
            </a:r>
            <a:r>
              <a:rPr lang="en-IN" sz="2400" dirty="0"/>
              <a:t> and the max</a:t>
            </a:r>
            <a:r>
              <a:rPr lang="en-IN" sz="2400" baseline="-25000" dirty="0"/>
              <a:t>i</a:t>
            </a:r>
            <a:r>
              <a:rPr lang="en-IN" sz="2400" dirty="0"/>
              <a:t>mum weight </a:t>
            </a:r>
            <a:r>
              <a:rPr lang="en-IN" sz="2400" b="1" dirty="0"/>
              <a:t>w</a:t>
            </a:r>
            <a:r>
              <a:rPr lang="en-IN" sz="2400" dirty="0"/>
              <a:t>.</a:t>
            </a:r>
          </a:p>
          <a:p>
            <a:pPr marL="342900" indent="-342900">
              <a:buFont typeface="Arial" panose="020B0604020202020204" pitchFamily="34" charset="0"/>
              <a:buChar char="•"/>
            </a:pPr>
            <a:r>
              <a:rPr lang="en-IN" sz="2400" dirty="0"/>
              <a:t>The algorithm takes the following inputs</a:t>
            </a:r>
          </a:p>
          <a:p>
            <a:pPr marL="342900" indent="-342900">
              <a:buFont typeface="Arial" panose="020B0604020202020204" pitchFamily="34" charset="0"/>
              <a:buChar char="•"/>
            </a:pPr>
            <a:r>
              <a:rPr lang="en-IN" sz="2400" dirty="0"/>
              <a:t>The max</a:t>
            </a:r>
            <a:r>
              <a:rPr lang="en-IN" sz="2400" baseline="-25000" dirty="0"/>
              <a:t>i</a:t>
            </a:r>
            <a:r>
              <a:rPr lang="en-IN" sz="2400" dirty="0"/>
              <a:t>mum weight </a:t>
            </a:r>
            <a:r>
              <a:rPr lang="en-IN" sz="2400" b="1" dirty="0"/>
              <a:t>W</a:t>
            </a:r>
            <a:endParaRPr lang="en-IN" sz="2400" dirty="0"/>
          </a:p>
          <a:p>
            <a:pPr marL="342900" indent="-342900">
              <a:buFont typeface="Arial" panose="020B0604020202020204" pitchFamily="34" charset="0"/>
              <a:buChar char="•"/>
            </a:pPr>
            <a:r>
              <a:rPr lang="en-IN" sz="2400" dirty="0"/>
              <a:t>The number of items </a:t>
            </a:r>
            <a:r>
              <a:rPr lang="en-IN" sz="2400" b="1" dirty="0"/>
              <a:t>n</a:t>
            </a:r>
            <a:endParaRPr lang="en-IN" sz="2400" dirty="0"/>
          </a:p>
          <a:p>
            <a:pPr marL="342900" indent="-342900">
              <a:buFont typeface="Arial" panose="020B0604020202020204" pitchFamily="34" charset="0"/>
              <a:buChar char="•"/>
            </a:pPr>
            <a:r>
              <a:rPr lang="en-IN" sz="2400" dirty="0"/>
              <a:t>The two sequences </a:t>
            </a:r>
            <a:r>
              <a:rPr lang="en-IN" sz="2400" b="1" dirty="0"/>
              <a:t>v = &lt;v</a:t>
            </a:r>
            <a:r>
              <a:rPr lang="en-IN" sz="2400" b="1" baseline="-25000" dirty="0"/>
              <a:t>1</a:t>
            </a:r>
            <a:r>
              <a:rPr lang="en-IN" sz="2400" b="1" dirty="0"/>
              <a:t>, v</a:t>
            </a:r>
            <a:r>
              <a:rPr lang="en-IN" sz="2400" b="1" baseline="-25000" dirty="0"/>
              <a:t>2</a:t>
            </a:r>
            <a:r>
              <a:rPr lang="en-IN" sz="2400" b="1" dirty="0"/>
              <a:t>, …, </a:t>
            </a:r>
            <a:r>
              <a:rPr lang="en-IN" sz="2400" b="1" dirty="0" err="1"/>
              <a:t>v</a:t>
            </a:r>
            <a:r>
              <a:rPr lang="en-IN" sz="2400" b="1" baseline="-25000" dirty="0" err="1"/>
              <a:t>n</a:t>
            </a:r>
            <a:r>
              <a:rPr lang="en-IN" sz="2400" b="1" dirty="0"/>
              <a:t>&gt;</a:t>
            </a:r>
            <a:r>
              <a:rPr lang="en-IN" sz="2400" dirty="0"/>
              <a:t> and </a:t>
            </a:r>
            <a:r>
              <a:rPr lang="en-IN" sz="2400" b="1" dirty="0"/>
              <a:t>w = &lt;w</a:t>
            </a:r>
            <a:r>
              <a:rPr lang="en-IN" sz="2400" b="1" baseline="-25000" dirty="0"/>
              <a:t>1</a:t>
            </a:r>
            <a:r>
              <a:rPr lang="en-IN" sz="2400" b="1" dirty="0"/>
              <a:t>, w</a:t>
            </a:r>
            <a:r>
              <a:rPr lang="en-IN" sz="2400" b="1" baseline="-25000" dirty="0"/>
              <a:t>2</a:t>
            </a:r>
            <a:r>
              <a:rPr lang="en-IN" sz="2400" b="1" dirty="0"/>
              <a:t>, …, </a:t>
            </a:r>
            <a:r>
              <a:rPr lang="en-IN" sz="2400" b="1" dirty="0" err="1"/>
              <a:t>w</a:t>
            </a:r>
            <a:r>
              <a:rPr lang="en-IN" sz="2400" b="1" baseline="-25000" dirty="0" err="1"/>
              <a:t>n</a:t>
            </a:r>
            <a:r>
              <a:rPr lang="en-IN" sz="2400" b="1" dirty="0"/>
              <a:t>&gt;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689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AD705-0AFA-4932-C647-C133C8FBD7D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74126D-1015-42A5-0967-6AF24F1F17C6}"/>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68956058-2C30-0CEE-AA9E-4D33EBD6580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4107868-5E46-A283-BEF4-49BF3583CBC8}"/>
              </a:ext>
            </a:extLst>
          </p:cNvPr>
          <p:cNvSpPr>
            <a:spLocks noGrp="1"/>
          </p:cNvSpPr>
          <p:nvPr>
            <p:ph type="sldNum" sz="quarter" idx="12"/>
          </p:nvPr>
        </p:nvSpPr>
        <p:spPr/>
        <p:txBody>
          <a:bodyPr/>
          <a:lstStyle/>
          <a:p>
            <a:fld id="{B41E2F89-97C2-4B18-A593-8150592B5005}" type="slidenum">
              <a:rPr lang="en-US" smtClean="0"/>
              <a:t>28</a:t>
            </a:fld>
            <a:endParaRPr lang="en-US" dirty="0"/>
          </a:p>
        </p:txBody>
      </p:sp>
      <p:sp>
        <p:nvSpPr>
          <p:cNvPr id="7" name="Title 1">
            <a:extLst>
              <a:ext uri="{FF2B5EF4-FFF2-40B4-BE49-F238E27FC236}">
                <a16:creationId xmlns:a16="http://schemas.microsoft.com/office/drawing/2014/main" id="{D6BA7193-2122-7BBB-A104-FC4582A41C9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A67CB47F-1FB5-D2D3-8AB7-D27F824B1A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8B9E2C0-6352-6964-A44A-4A61CCA6A7B2}"/>
              </a:ext>
            </a:extLst>
          </p:cNvPr>
          <p:cNvSpPr txBox="1"/>
          <p:nvPr/>
        </p:nvSpPr>
        <p:spPr>
          <a:xfrm>
            <a:off x="922961" y="1089164"/>
            <a:ext cx="10820399" cy="5632311"/>
          </a:xfrm>
          <a:prstGeom prst="rect">
            <a:avLst/>
          </a:prstGeom>
          <a:noFill/>
        </p:spPr>
        <p:txBody>
          <a:bodyPr wrap="square" rtlCol="0">
            <a:spAutoFit/>
          </a:bodyPr>
          <a:lstStyle/>
          <a:p>
            <a:r>
              <a:rPr lang="en-IN" sz="2400" b="1" dirty="0"/>
              <a:t>Dynamic-0-1-knapsack (v, w, n, W)</a:t>
            </a:r>
          </a:p>
          <a:p>
            <a:pPr algn="just"/>
            <a:r>
              <a:rPr lang="en-IN" sz="2400" dirty="0"/>
              <a:t> </a:t>
            </a:r>
          </a:p>
          <a:p>
            <a:pPr algn="just"/>
            <a:r>
              <a:rPr lang="en-IN" sz="2400" dirty="0"/>
              <a:t>for w = 0 to W do </a:t>
            </a:r>
          </a:p>
          <a:p>
            <a:pPr algn="just"/>
            <a:r>
              <a:rPr lang="en-IN" sz="2400" dirty="0"/>
              <a:t>   c[0, w] = 0 </a:t>
            </a:r>
          </a:p>
          <a:p>
            <a:pPr algn="just"/>
            <a:r>
              <a:rPr lang="en-IN" sz="2400" dirty="0"/>
              <a:t>for </a:t>
            </a:r>
            <a:r>
              <a:rPr lang="en-IN" sz="2400" dirty="0" err="1"/>
              <a:t>i</a:t>
            </a:r>
            <a:r>
              <a:rPr lang="en-IN" sz="2400" dirty="0"/>
              <a:t> = 1 to n do </a:t>
            </a:r>
          </a:p>
          <a:p>
            <a:pPr algn="just"/>
            <a:r>
              <a:rPr lang="en-IN" sz="2400" dirty="0"/>
              <a:t>   c[</a:t>
            </a:r>
            <a:r>
              <a:rPr lang="en-IN" sz="2400" dirty="0" err="1"/>
              <a:t>i</a:t>
            </a:r>
            <a:r>
              <a:rPr lang="en-IN" sz="2400" dirty="0"/>
              <a:t>, 0] = 0 </a:t>
            </a:r>
          </a:p>
          <a:p>
            <a:pPr algn="just"/>
            <a:r>
              <a:rPr lang="en-IN" sz="2400" dirty="0"/>
              <a:t>   for w = 1 to W do </a:t>
            </a:r>
          </a:p>
          <a:p>
            <a:pPr algn="just"/>
            <a:r>
              <a:rPr lang="en-IN" sz="2400" dirty="0"/>
              <a:t>      if </a:t>
            </a:r>
            <a:r>
              <a:rPr lang="en-IN" sz="2400" dirty="0" err="1"/>
              <a:t>w</a:t>
            </a:r>
            <a:r>
              <a:rPr lang="en-IN" sz="2400" baseline="-25000" dirty="0" err="1"/>
              <a:t>i</a:t>
            </a:r>
            <a:r>
              <a:rPr lang="en-IN" sz="2400" dirty="0"/>
              <a:t> ≤ w then </a:t>
            </a:r>
          </a:p>
          <a:p>
            <a:pPr algn="just"/>
            <a:r>
              <a:rPr lang="en-IN" sz="2400" dirty="0"/>
              <a:t>         if p</a:t>
            </a:r>
            <a:r>
              <a:rPr lang="en-IN" sz="2400" baseline="-25000" dirty="0"/>
              <a:t>i</a:t>
            </a:r>
            <a:r>
              <a:rPr lang="en-IN" sz="2400" dirty="0"/>
              <a:t> + c[i-1, w-</a:t>
            </a:r>
            <a:r>
              <a:rPr lang="en-IN" sz="2400" dirty="0" err="1"/>
              <a:t>w</a:t>
            </a:r>
            <a:r>
              <a:rPr lang="en-IN" sz="2400" baseline="-25000" dirty="0" err="1"/>
              <a:t>i</a:t>
            </a:r>
            <a:r>
              <a:rPr lang="en-IN" sz="2400" dirty="0"/>
              <a:t>] &gt; c[i-1, w] </a:t>
            </a:r>
          </a:p>
          <a:p>
            <a:pPr algn="just"/>
            <a:r>
              <a:rPr lang="en-IN" sz="2400" dirty="0"/>
              <a:t>            c[</a:t>
            </a:r>
            <a:r>
              <a:rPr lang="en-IN" sz="2400" dirty="0" err="1"/>
              <a:t>i</a:t>
            </a:r>
            <a:r>
              <a:rPr lang="en-IN" sz="2400" dirty="0"/>
              <a:t>, w] = p</a:t>
            </a:r>
            <a:r>
              <a:rPr lang="en-IN" sz="2400" baseline="-25000" dirty="0"/>
              <a:t>i</a:t>
            </a:r>
            <a:r>
              <a:rPr lang="en-IN" sz="2400" dirty="0"/>
              <a:t> + c[i-1, w-</a:t>
            </a:r>
            <a:r>
              <a:rPr lang="en-IN" sz="2400" dirty="0" err="1"/>
              <a:t>w</a:t>
            </a:r>
            <a:r>
              <a:rPr lang="en-IN" sz="2400" baseline="-25000" dirty="0" err="1"/>
              <a:t>i</a:t>
            </a:r>
            <a:r>
              <a:rPr lang="en-IN" sz="2400" dirty="0"/>
              <a:t>] </a:t>
            </a:r>
          </a:p>
          <a:p>
            <a:pPr algn="just"/>
            <a:r>
              <a:rPr lang="en-IN" sz="2400" dirty="0"/>
              <a:t>         else c[</a:t>
            </a:r>
            <a:r>
              <a:rPr lang="en-IN" sz="2400" dirty="0" err="1"/>
              <a:t>i</a:t>
            </a:r>
            <a:r>
              <a:rPr lang="en-IN" sz="2400" dirty="0"/>
              <a:t>, w] = c[i-1, w] </a:t>
            </a:r>
          </a:p>
          <a:p>
            <a:pPr algn="just"/>
            <a:r>
              <a:rPr lang="en-IN" sz="2400" dirty="0"/>
              <a:t>      else </a:t>
            </a:r>
          </a:p>
          <a:p>
            <a:pPr algn="just"/>
            <a:r>
              <a:rPr lang="en-IN" sz="2400" dirty="0"/>
              <a:t>         c[</a:t>
            </a:r>
            <a:r>
              <a:rPr lang="en-IN" sz="2400" dirty="0" err="1"/>
              <a:t>i</a:t>
            </a:r>
            <a:r>
              <a:rPr lang="en-IN" sz="2400" dirty="0"/>
              <a:t>, w] = c[i-1, w] </a:t>
            </a:r>
          </a:p>
          <a:p>
            <a:pPr algn="just"/>
            <a:r>
              <a:rPr lang="en-IN" sz="2400" dirty="0"/>
              <a:t>return c </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382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BE114-9DCD-9222-62AF-2DAFBD8BD61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3ECEDA0-AF85-285F-2ABF-73D0CB7E738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D9B5BA63-4B95-98AA-2CDD-215EDACFDEE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7FED096-11BE-7C09-B8A5-B4F0C3DFF9B3}"/>
              </a:ext>
            </a:extLst>
          </p:cNvPr>
          <p:cNvSpPr>
            <a:spLocks noGrp="1"/>
          </p:cNvSpPr>
          <p:nvPr>
            <p:ph type="sldNum" sz="quarter" idx="12"/>
          </p:nvPr>
        </p:nvSpPr>
        <p:spPr/>
        <p:txBody>
          <a:bodyPr/>
          <a:lstStyle/>
          <a:p>
            <a:fld id="{B41E2F89-97C2-4B18-A593-8150592B5005}" type="slidenum">
              <a:rPr lang="en-US" smtClean="0"/>
              <a:t>29</a:t>
            </a:fld>
            <a:endParaRPr lang="en-US" dirty="0"/>
          </a:p>
        </p:txBody>
      </p:sp>
      <p:sp>
        <p:nvSpPr>
          <p:cNvPr id="7" name="Title 1">
            <a:extLst>
              <a:ext uri="{FF2B5EF4-FFF2-40B4-BE49-F238E27FC236}">
                <a16:creationId xmlns:a16="http://schemas.microsoft.com/office/drawing/2014/main" id="{A14AA07E-E616-69D1-42E3-BE017439099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FAC43C47-1B8B-8A9F-4FF3-B55B5746F2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graphicFrame>
        <p:nvGraphicFramePr>
          <p:cNvPr id="2" name="Content Placeholder 8">
            <a:extLst>
              <a:ext uri="{FF2B5EF4-FFF2-40B4-BE49-F238E27FC236}">
                <a16:creationId xmlns:a16="http://schemas.microsoft.com/office/drawing/2014/main" id="{8CAA6CB3-BC88-8C24-93C7-F3EE7DDE2588}"/>
              </a:ext>
            </a:extLst>
          </p:cNvPr>
          <p:cNvGraphicFramePr>
            <a:graphicFrameLocks noGrp="1"/>
          </p:cNvGraphicFramePr>
          <p:nvPr>
            <p:ph idx="1"/>
            <p:extLst>
              <p:ext uri="{D42A27DB-BD31-4B8C-83A1-F6EECF244321}">
                <p14:modId xmlns:p14="http://schemas.microsoft.com/office/powerpoint/2010/main" val="2570524036"/>
              </p:ext>
            </p:extLst>
          </p:nvPr>
        </p:nvGraphicFramePr>
        <p:xfrm>
          <a:off x="3402449" y="2791291"/>
          <a:ext cx="7571186" cy="2219960"/>
        </p:xfrm>
        <a:graphic>
          <a:graphicData uri="http://schemas.openxmlformats.org/drawingml/2006/table">
            <a:tbl>
              <a:tblPr firstRow="1" bandRow="1">
                <a:tableStyleId>{5C22544A-7EE6-4342-B048-85BDC9FD1C3A}</a:tableStyleId>
              </a:tblPr>
              <a:tblGrid>
                <a:gridCol w="1081598">
                  <a:extLst>
                    <a:ext uri="{9D8B030D-6E8A-4147-A177-3AD203B41FA5}">
                      <a16:colId xmlns:a16="http://schemas.microsoft.com/office/drawing/2014/main" val="1754453040"/>
                    </a:ext>
                  </a:extLst>
                </a:gridCol>
                <a:gridCol w="1081598">
                  <a:extLst>
                    <a:ext uri="{9D8B030D-6E8A-4147-A177-3AD203B41FA5}">
                      <a16:colId xmlns:a16="http://schemas.microsoft.com/office/drawing/2014/main" val="2981507891"/>
                    </a:ext>
                  </a:extLst>
                </a:gridCol>
                <a:gridCol w="1081598">
                  <a:extLst>
                    <a:ext uri="{9D8B030D-6E8A-4147-A177-3AD203B41FA5}">
                      <a16:colId xmlns:a16="http://schemas.microsoft.com/office/drawing/2014/main" val="3363826064"/>
                    </a:ext>
                  </a:extLst>
                </a:gridCol>
                <a:gridCol w="1081598">
                  <a:extLst>
                    <a:ext uri="{9D8B030D-6E8A-4147-A177-3AD203B41FA5}">
                      <a16:colId xmlns:a16="http://schemas.microsoft.com/office/drawing/2014/main" val="4215843072"/>
                    </a:ext>
                  </a:extLst>
                </a:gridCol>
                <a:gridCol w="1081598">
                  <a:extLst>
                    <a:ext uri="{9D8B030D-6E8A-4147-A177-3AD203B41FA5}">
                      <a16:colId xmlns:a16="http://schemas.microsoft.com/office/drawing/2014/main" val="1283257148"/>
                    </a:ext>
                  </a:extLst>
                </a:gridCol>
                <a:gridCol w="1081598">
                  <a:extLst>
                    <a:ext uri="{9D8B030D-6E8A-4147-A177-3AD203B41FA5}">
                      <a16:colId xmlns:a16="http://schemas.microsoft.com/office/drawing/2014/main" val="2635203946"/>
                    </a:ext>
                  </a:extLst>
                </a:gridCol>
                <a:gridCol w="1081598">
                  <a:extLst>
                    <a:ext uri="{9D8B030D-6E8A-4147-A177-3AD203B41FA5}">
                      <a16:colId xmlns:a16="http://schemas.microsoft.com/office/drawing/2014/main" val="1994573477"/>
                    </a:ext>
                  </a:extLst>
                </a:gridCol>
              </a:tblGrid>
              <a:tr h="226824">
                <a:tc>
                  <a:txBody>
                    <a:bodyPr/>
                    <a:lstStyle/>
                    <a:p>
                      <a:r>
                        <a:rPr lang="en-US" dirty="0"/>
                        <a:t>i\</a:t>
                      </a:r>
                      <a:r>
                        <a:rPr lang="en-US" dirty="0" err="1"/>
                        <a:t>wi</a:t>
                      </a:r>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2277060710"/>
                  </a:ext>
                </a:extLst>
              </a:tr>
              <a:tr h="370840">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24649864"/>
                  </a:ext>
                </a:extLst>
              </a:tr>
              <a:tr h="370840">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3</a:t>
                      </a:r>
                    </a:p>
                  </a:txBody>
                  <a:tcPr/>
                </a:tc>
                <a:tc>
                  <a:txBody>
                    <a:bodyPr/>
                    <a:lstStyle/>
                    <a:p>
                      <a:r>
                        <a:rPr lang="en-US" dirty="0"/>
                        <a:t>3</a:t>
                      </a:r>
                    </a:p>
                  </a:txBody>
                  <a:tcPr/>
                </a:tc>
                <a:tc>
                  <a:txBody>
                    <a:bodyPr/>
                    <a:lstStyle/>
                    <a:p>
                      <a:r>
                        <a:rPr lang="en-US" dirty="0"/>
                        <a:t>3</a:t>
                      </a:r>
                    </a:p>
                  </a:txBody>
                  <a:tcPr/>
                </a:tc>
                <a:tc>
                  <a:txBody>
                    <a:bodyPr/>
                    <a:lstStyle/>
                    <a:p>
                      <a:r>
                        <a:rPr lang="en-US" dirty="0"/>
                        <a:t>3</a:t>
                      </a:r>
                    </a:p>
                  </a:txBody>
                  <a:tcPr/>
                </a:tc>
                <a:extLst>
                  <a:ext uri="{0D108BD9-81ED-4DB2-BD59-A6C34878D82A}">
                    <a16:rowId xmlns:a16="http://schemas.microsoft.com/office/drawing/2014/main" val="1564571375"/>
                  </a:ext>
                </a:extLst>
              </a:tr>
              <a:tr h="370840">
                <a:tc>
                  <a:txBody>
                    <a:bodyPr/>
                    <a:lstStyle/>
                    <a:p>
                      <a:r>
                        <a:rPr lang="en-US" dirty="0"/>
                        <a:t>2</a:t>
                      </a:r>
                    </a:p>
                  </a:txBody>
                  <a:tcPr/>
                </a:tc>
                <a:tc>
                  <a:txBody>
                    <a:bodyPr/>
                    <a:lstStyle/>
                    <a:p>
                      <a:r>
                        <a:rPr lang="en-US" dirty="0"/>
                        <a:t>0</a:t>
                      </a:r>
                    </a:p>
                  </a:txBody>
                  <a:tcPr/>
                </a:tc>
                <a:tc>
                  <a:txBody>
                    <a:bodyPr/>
                    <a:lstStyle/>
                    <a:p>
                      <a:r>
                        <a:rPr lang="en-US" dirty="0"/>
                        <a:t>0</a:t>
                      </a:r>
                    </a:p>
                  </a:txBody>
                  <a:tcPr/>
                </a:tc>
                <a:tc>
                  <a:txBody>
                    <a:bodyPr/>
                    <a:lstStyle/>
                    <a:p>
                      <a:r>
                        <a:rPr lang="en-US" dirty="0"/>
                        <a:t>3</a:t>
                      </a:r>
                    </a:p>
                  </a:txBody>
                  <a:tcPr/>
                </a:tc>
                <a:tc>
                  <a:txBody>
                    <a:bodyPr/>
                    <a:lstStyle/>
                    <a:p>
                      <a:r>
                        <a:rPr lang="en-US" dirty="0"/>
                        <a:t>4</a:t>
                      </a:r>
                    </a:p>
                  </a:txBody>
                  <a:tcPr/>
                </a:tc>
                <a:tc>
                  <a:txBody>
                    <a:bodyPr/>
                    <a:lstStyle/>
                    <a:p>
                      <a:r>
                        <a:rPr lang="en-US" dirty="0"/>
                        <a:t>4</a:t>
                      </a:r>
                    </a:p>
                  </a:txBody>
                  <a:tcPr/>
                </a:tc>
                <a:tc>
                  <a:txBody>
                    <a:bodyPr/>
                    <a:lstStyle/>
                    <a:p>
                      <a:r>
                        <a:rPr lang="en-US" dirty="0"/>
                        <a:t>7</a:t>
                      </a:r>
                    </a:p>
                  </a:txBody>
                  <a:tcPr/>
                </a:tc>
                <a:extLst>
                  <a:ext uri="{0D108BD9-81ED-4DB2-BD59-A6C34878D82A}">
                    <a16:rowId xmlns:a16="http://schemas.microsoft.com/office/drawing/2014/main" val="2492492940"/>
                  </a:ext>
                </a:extLst>
              </a:tr>
              <a:tr h="370840">
                <a:tc>
                  <a:txBody>
                    <a:bodyPr/>
                    <a:lstStyle/>
                    <a:p>
                      <a:r>
                        <a:rPr lang="en-US" dirty="0"/>
                        <a:t>3</a:t>
                      </a:r>
                    </a:p>
                  </a:txBody>
                  <a:tcPr/>
                </a:tc>
                <a:tc>
                  <a:txBody>
                    <a:bodyPr/>
                    <a:lstStyle/>
                    <a:p>
                      <a:r>
                        <a:rPr lang="en-US"/>
                        <a:t>0</a:t>
                      </a:r>
                      <a:endParaRPr lang="en-US" dirty="0"/>
                    </a:p>
                  </a:txBody>
                  <a:tcPr/>
                </a:tc>
                <a:tc>
                  <a:txBody>
                    <a:bodyPr/>
                    <a:lstStyle/>
                    <a:p>
                      <a:r>
                        <a:rPr lang="en-US"/>
                        <a:t>0</a:t>
                      </a:r>
                      <a:endParaRPr lang="en-US" dirty="0"/>
                    </a:p>
                  </a:txBody>
                  <a:tcPr/>
                </a:tc>
                <a:tc>
                  <a:txBody>
                    <a:bodyPr/>
                    <a:lstStyle/>
                    <a:p>
                      <a:r>
                        <a:rPr lang="en-US"/>
                        <a:t>3</a:t>
                      </a:r>
                      <a:endParaRPr lang="en-US" dirty="0"/>
                    </a:p>
                  </a:txBody>
                  <a:tcPr/>
                </a:tc>
                <a:tc>
                  <a:txBody>
                    <a:bodyPr/>
                    <a:lstStyle/>
                    <a:p>
                      <a:r>
                        <a:rPr lang="en-US"/>
                        <a:t>4</a:t>
                      </a:r>
                      <a:endParaRPr lang="en-US" dirty="0"/>
                    </a:p>
                  </a:txBody>
                  <a:tcPr/>
                </a:tc>
                <a:tc>
                  <a:txBody>
                    <a:bodyPr/>
                    <a:lstStyle/>
                    <a:p>
                      <a:r>
                        <a:rPr lang="en-US"/>
                        <a:t>5</a:t>
                      </a:r>
                      <a:endParaRPr lang="en-US" dirty="0"/>
                    </a:p>
                  </a:txBody>
                  <a:tcPr/>
                </a:tc>
                <a:tc>
                  <a:txBody>
                    <a:bodyPr/>
                    <a:lstStyle/>
                    <a:p>
                      <a:r>
                        <a:rPr lang="en-US"/>
                        <a:t>7</a:t>
                      </a:r>
                      <a:endParaRPr lang="en-US" dirty="0"/>
                    </a:p>
                  </a:txBody>
                  <a:tcPr/>
                </a:tc>
                <a:extLst>
                  <a:ext uri="{0D108BD9-81ED-4DB2-BD59-A6C34878D82A}">
                    <a16:rowId xmlns:a16="http://schemas.microsoft.com/office/drawing/2014/main" val="2759765667"/>
                  </a:ext>
                </a:extLst>
              </a:tr>
              <a:tr h="370840">
                <a:tc>
                  <a:txBody>
                    <a:bodyPr/>
                    <a:lstStyle/>
                    <a:p>
                      <a:r>
                        <a:rPr lang="en-US"/>
                        <a:t>4</a:t>
                      </a:r>
                      <a:endParaRPr lang="en-US" dirty="0"/>
                    </a:p>
                  </a:txBody>
                  <a:tcPr/>
                </a:tc>
                <a:tc>
                  <a:txBody>
                    <a:bodyPr/>
                    <a:lstStyle/>
                    <a:p>
                      <a:r>
                        <a:rPr lang="en-US"/>
                        <a:t>0</a:t>
                      </a:r>
                      <a:endParaRPr lang="en-US" dirty="0"/>
                    </a:p>
                  </a:txBody>
                  <a:tcPr/>
                </a:tc>
                <a:tc>
                  <a:txBody>
                    <a:bodyPr/>
                    <a:lstStyle/>
                    <a:p>
                      <a:r>
                        <a:rPr lang="en-US"/>
                        <a:t>0</a:t>
                      </a:r>
                      <a:endParaRPr lang="en-US" dirty="0"/>
                    </a:p>
                  </a:txBody>
                  <a:tcPr/>
                </a:tc>
                <a:tc>
                  <a:txBody>
                    <a:bodyPr/>
                    <a:lstStyle/>
                    <a:p>
                      <a:r>
                        <a:rPr lang="en-US"/>
                        <a:t>3</a:t>
                      </a:r>
                      <a:endParaRPr lang="en-US" dirty="0"/>
                    </a:p>
                  </a:txBody>
                  <a:tcPr/>
                </a:tc>
                <a:tc>
                  <a:txBody>
                    <a:bodyPr/>
                    <a:lstStyle/>
                    <a:p>
                      <a:r>
                        <a:rPr lang="en-US"/>
                        <a:t>4</a:t>
                      </a:r>
                      <a:endParaRPr lang="en-US" dirty="0"/>
                    </a:p>
                  </a:txBody>
                  <a:tcPr/>
                </a:tc>
                <a:tc>
                  <a:txBody>
                    <a:bodyPr/>
                    <a:lstStyle/>
                    <a:p>
                      <a:r>
                        <a:rPr lang="en-US"/>
                        <a:t>5</a:t>
                      </a:r>
                      <a:endParaRPr lang="en-US" dirty="0"/>
                    </a:p>
                  </a:txBody>
                  <a:tcPr/>
                </a:tc>
                <a:tc>
                  <a:txBody>
                    <a:bodyPr/>
                    <a:lstStyle/>
                    <a:p>
                      <a:r>
                        <a:rPr lang="en-US" dirty="0"/>
                        <a:t>7</a:t>
                      </a:r>
                    </a:p>
                  </a:txBody>
                  <a:tcPr/>
                </a:tc>
                <a:extLst>
                  <a:ext uri="{0D108BD9-81ED-4DB2-BD59-A6C34878D82A}">
                    <a16:rowId xmlns:a16="http://schemas.microsoft.com/office/drawing/2014/main" val="2909466350"/>
                  </a:ext>
                </a:extLst>
              </a:tr>
            </a:tbl>
          </a:graphicData>
        </a:graphic>
      </p:graphicFrame>
      <p:graphicFrame>
        <p:nvGraphicFramePr>
          <p:cNvPr id="3" name="Table 2">
            <a:extLst>
              <a:ext uri="{FF2B5EF4-FFF2-40B4-BE49-F238E27FC236}">
                <a16:creationId xmlns:a16="http://schemas.microsoft.com/office/drawing/2014/main" id="{017BB050-E0D3-D546-DB03-35110F94ACD2}"/>
              </a:ext>
            </a:extLst>
          </p:cNvPr>
          <p:cNvGraphicFramePr>
            <a:graphicFrameLocks noGrp="1"/>
          </p:cNvGraphicFramePr>
          <p:nvPr>
            <p:extLst>
              <p:ext uri="{D42A27DB-BD31-4B8C-83A1-F6EECF244321}">
                <p14:modId xmlns:p14="http://schemas.microsoft.com/office/powerpoint/2010/main" val="1429938141"/>
              </p:ext>
            </p:extLst>
          </p:nvPr>
        </p:nvGraphicFramePr>
        <p:xfrm>
          <a:off x="3342313" y="1079454"/>
          <a:ext cx="6096000" cy="1112520"/>
        </p:xfrm>
        <a:graphic>
          <a:graphicData uri="http://schemas.openxmlformats.org/drawingml/2006/table">
            <a:tbl>
              <a:tblPr firstRow="1" bandRow="1">
                <a:tableStyleId>{073A0DAA-6AF3-43AB-8588-CEC1D06C72B9}</a:tableStyleId>
              </a:tblPr>
              <a:tblGrid>
                <a:gridCol w="1219200">
                  <a:extLst>
                    <a:ext uri="{9D8B030D-6E8A-4147-A177-3AD203B41FA5}">
                      <a16:colId xmlns:a16="http://schemas.microsoft.com/office/drawing/2014/main" val="299678324"/>
                    </a:ext>
                  </a:extLst>
                </a:gridCol>
                <a:gridCol w="1219200">
                  <a:extLst>
                    <a:ext uri="{9D8B030D-6E8A-4147-A177-3AD203B41FA5}">
                      <a16:colId xmlns:a16="http://schemas.microsoft.com/office/drawing/2014/main" val="1822906276"/>
                    </a:ext>
                  </a:extLst>
                </a:gridCol>
                <a:gridCol w="1219200">
                  <a:extLst>
                    <a:ext uri="{9D8B030D-6E8A-4147-A177-3AD203B41FA5}">
                      <a16:colId xmlns:a16="http://schemas.microsoft.com/office/drawing/2014/main" val="363547298"/>
                    </a:ext>
                  </a:extLst>
                </a:gridCol>
                <a:gridCol w="1219200">
                  <a:extLst>
                    <a:ext uri="{9D8B030D-6E8A-4147-A177-3AD203B41FA5}">
                      <a16:colId xmlns:a16="http://schemas.microsoft.com/office/drawing/2014/main" val="3126212042"/>
                    </a:ext>
                  </a:extLst>
                </a:gridCol>
                <a:gridCol w="1219200">
                  <a:extLst>
                    <a:ext uri="{9D8B030D-6E8A-4147-A177-3AD203B41FA5}">
                      <a16:colId xmlns:a16="http://schemas.microsoft.com/office/drawing/2014/main" val="1598823882"/>
                    </a:ext>
                  </a:extLst>
                </a:gridCol>
              </a:tblGrid>
              <a:tr h="370840">
                <a:tc>
                  <a:txBody>
                    <a:bodyPr/>
                    <a:lstStyle/>
                    <a:p>
                      <a:endParaRPr lang="en-US" dirty="0"/>
                    </a:p>
                  </a:txBody>
                  <a:tcPr/>
                </a:tc>
                <a:tc>
                  <a:txBody>
                    <a:bodyPr/>
                    <a:lstStyle/>
                    <a:p>
                      <a:r>
                        <a:rPr lang="en-US" dirty="0"/>
                        <a:t>Obj 1 </a:t>
                      </a:r>
                    </a:p>
                  </a:txBody>
                  <a:tcPr/>
                </a:tc>
                <a:tc>
                  <a:txBody>
                    <a:bodyPr/>
                    <a:lstStyle/>
                    <a:p>
                      <a:r>
                        <a:rPr lang="en-US" dirty="0"/>
                        <a:t>Obj 2</a:t>
                      </a:r>
                    </a:p>
                  </a:txBody>
                  <a:tcPr/>
                </a:tc>
                <a:tc>
                  <a:txBody>
                    <a:bodyPr/>
                    <a:lstStyle/>
                    <a:p>
                      <a:r>
                        <a:rPr lang="en-US" dirty="0"/>
                        <a:t>Obj 3</a:t>
                      </a:r>
                    </a:p>
                  </a:txBody>
                  <a:tcPr/>
                </a:tc>
                <a:tc>
                  <a:txBody>
                    <a:bodyPr/>
                    <a:lstStyle/>
                    <a:p>
                      <a:r>
                        <a:rPr lang="en-US" dirty="0"/>
                        <a:t>Obj4</a:t>
                      </a:r>
                    </a:p>
                  </a:txBody>
                  <a:tcPr/>
                </a:tc>
                <a:extLst>
                  <a:ext uri="{0D108BD9-81ED-4DB2-BD59-A6C34878D82A}">
                    <a16:rowId xmlns:a16="http://schemas.microsoft.com/office/drawing/2014/main" val="3226108261"/>
                  </a:ext>
                </a:extLst>
              </a:tr>
              <a:tr h="370840">
                <a:tc>
                  <a:txBody>
                    <a:bodyPr/>
                    <a:lstStyle/>
                    <a:p>
                      <a:r>
                        <a:rPr lang="en-US" dirty="0"/>
                        <a:t>Wi</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2428826594"/>
                  </a:ext>
                </a:extLst>
              </a:tr>
              <a:tr h="370840">
                <a:tc>
                  <a:txBody>
                    <a:bodyPr/>
                    <a:lstStyle/>
                    <a:p>
                      <a:r>
                        <a:rPr lang="en-US" dirty="0"/>
                        <a:t>Pi</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234637660"/>
                  </a:ext>
                </a:extLst>
              </a:tr>
            </a:tbl>
          </a:graphicData>
        </a:graphic>
      </p:graphicFrame>
      <p:sp>
        <p:nvSpPr>
          <p:cNvPr id="10" name="TextBox 9">
            <a:extLst>
              <a:ext uri="{FF2B5EF4-FFF2-40B4-BE49-F238E27FC236}">
                <a16:creationId xmlns:a16="http://schemas.microsoft.com/office/drawing/2014/main" id="{F5DBA39E-A049-AA23-DA22-62BF0C9EA8B7}"/>
              </a:ext>
            </a:extLst>
          </p:cNvPr>
          <p:cNvSpPr txBox="1"/>
          <p:nvPr/>
        </p:nvSpPr>
        <p:spPr>
          <a:xfrm>
            <a:off x="9683393" y="1207115"/>
            <a:ext cx="832048" cy="369332"/>
          </a:xfrm>
          <a:prstGeom prst="rect">
            <a:avLst/>
          </a:prstGeom>
          <a:noFill/>
        </p:spPr>
        <p:txBody>
          <a:bodyPr wrap="square" rtlCol="0">
            <a:spAutoFit/>
          </a:bodyPr>
          <a:lstStyle/>
          <a:p>
            <a:r>
              <a:rPr lang="en-US" dirty="0"/>
              <a:t>M = 5</a:t>
            </a:r>
          </a:p>
        </p:txBody>
      </p:sp>
      <p:graphicFrame>
        <p:nvGraphicFramePr>
          <p:cNvPr id="11" name="Table 10">
            <a:extLst>
              <a:ext uri="{FF2B5EF4-FFF2-40B4-BE49-F238E27FC236}">
                <a16:creationId xmlns:a16="http://schemas.microsoft.com/office/drawing/2014/main" id="{3A256ED7-6C2C-97AD-546F-BEDC0714F991}"/>
              </a:ext>
            </a:extLst>
          </p:cNvPr>
          <p:cNvGraphicFramePr>
            <a:graphicFrameLocks noGrp="1"/>
          </p:cNvGraphicFramePr>
          <p:nvPr>
            <p:extLst>
              <p:ext uri="{D42A27DB-BD31-4B8C-83A1-F6EECF244321}">
                <p14:modId xmlns:p14="http://schemas.microsoft.com/office/powerpoint/2010/main" val="3882028210"/>
              </p:ext>
            </p:extLst>
          </p:nvPr>
        </p:nvGraphicFramePr>
        <p:xfrm>
          <a:off x="1958111" y="3199854"/>
          <a:ext cx="1247800" cy="1854200"/>
        </p:xfrm>
        <a:graphic>
          <a:graphicData uri="http://schemas.openxmlformats.org/drawingml/2006/table">
            <a:tbl>
              <a:tblPr firstRow="1" bandRow="1">
                <a:tableStyleId>{5C22544A-7EE6-4342-B048-85BDC9FD1C3A}</a:tableStyleId>
              </a:tblPr>
              <a:tblGrid>
                <a:gridCol w="623900">
                  <a:extLst>
                    <a:ext uri="{9D8B030D-6E8A-4147-A177-3AD203B41FA5}">
                      <a16:colId xmlns:a16="http://schemas.microsoft.com/office/drawing/2014/main" val="1204308170"/>
                    </a:ext>
                  </a:extLst>
                </a:gridCol>
                <a:gridCol w="623900">
                  <a:extLst>
                    <a:ext uri="{9D8B030D-6E8A-4147-A177-3AD203B41FA5}">
                      <a16:colId xmlns:a16="http://schemas.microsoft.com/office/drawing/2014/main" val="4269351229"/>
                    </a:ext>
                  </a:extLst>
                </a:gridCol>
              </a:tblGrid>
              <a:tr h="370840">
                <a:tc>
                  <a:txBody>
                    <a:bodyPr/>
                    <a:lstStyle/>
                    <a:p>
                      <a:r>
                        <a:rPr lang="en-US" dirty="0"/>
                        <a:t>Pi</a:t>
                      </a:r>
                    </a:p>
                  </a:txBody>
                  <a:tcPr/>
                </a:tc>
                <a:tc>
                  <a:txBody>
                    <a:bodyPr/>
                    <a:lstStyle/>
                    <a:p>
                      <a:r>
                        <a:rPr lang="en-US" dirty="0"/>
                        <a:t>Wi</a:t>
                      </a:r>
                    </a:p>
                  </a:txBody>
                  <a:tcPr/>
                </a:tc>
                <a:extLst>
                  <a:ext uri="{0D108BD9-81ED-4DB2-BD59-A6C34878D82A}">
                    <a16:rowId xmlns:a16="http://schemas.microsoft.com/office/drawing/2014/main" val="1025583743"/>
                  </a:ext>
                </a:extLst>
              </a:tr>
              <a:tr h="370840">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2223481312"/>
                  </a:ext>
                </a:extLst>
              </a:tr>
              <a:tr h="370840">
                <a:tc>
                  <a:txBody>
                    <a:bodyPr/>
                    <a:lstStyle/>
                    <a:p>
                      <a:r>
                        <a:rPr lang="en-US" dirty="0"/>
                        <a:t>4</a:t>
                      </a:r>
                    </a:p>
                  </a:txBody>
                  <a:tcPr/>
                </a:tc>
                <a:tc>
                  <a:txBody>
                    <a:bodyPr/>
                    <a:lstStyle/>
                    <a:p>
                      <a:r>
                        <a:rPr lang="en-US" dirty="0"/>
                        <a:t>3</a:t>
                      </a:r>
                    </a:p>
                  </a:txBody>
                  <a:tcPr/>
                </a:tc>
                <a:extLst>
                  <a:ext uri="{0D108BD9-81ED-4DB2-BD59-A6C34878D82A}">
                    <a16:rowId xmlns:a16="http://schemas.microsoft.com/office/drawing/2014/main" val="181622902"/>
                  </a:ext>
                </a:extLst>
              </a:tr>
              <a:tr h="370840">
                <a:tc>
                  <a:txBody>
                    <a:bodyPr/>
                    <a:lstStyle/>
                    <a:p>
                      <a:r>
                        <a:rPr lang="en-US" dirty="0"/>
                        <a:t>5</a:t>
                      </a:r>
                    </a:p>
                  </a:txBody>
                  <a:tcPr/>
                </a:tc>
                <a:tc>
                  <a:txBody>
                    <a:bodyPr/>
                    <a:lstStyle/>
                    <a:p>
                      <a:r>
                        <a:rPr lang="en-US" dirty="0"/>
                        <a:t>4</a:t>
                      </a:r>
                    </a:p>
                  </a:txBody>
                  <a:tcPr/>
                </a:tc>
                <a:extLst>
                  <a:ext uri="{0D108BD9-81ED-4DB2-BD59-A6C34878D82A}">
                    <a16:rowId xmlns:a16="http://schemas.microsoft.com/office/drawing/2014/main" val="3063168308"/>
                  </a:ext>
                </a:extLst>
              </a:tr>
              <a:tr h="370840">
                <a:tc>
                  <a:txBody>
                    <a:bodyPr/>
                    <a:lstStyle/>
                    <a:p>
                      <a:r>
                        <a:rPr lang="en-US" dirty="0"/>
                        <a:t>6</a:t>
                      </a:r>
                    </a:p>
                  </a:txBody>
                  <a:tcPr/>
                </a:tc>
                <a:tc>
                  <a:txBody>
                    <a:bodyPr/>
                    <a:lstStyle/>
                    <a:p>
                      <a:r>
                        <a:rPr lang="en-US" dirty="0"/>
                        <a:t>5</a:t>
                      </a:r>
                    </a:p>
                  </a:txBody>
                  <a:tcPr/>
                </a:tc>
                <a:extLst>
                  <a:ext uri="{0D108BD9-81ED-4DB2-BD59-A6C34878D82A}">
                    <a16:rowId xmlns:a16="http://schemas.microsoft.com/office/drawing/2014/main" val="678186775"/>
                  </a:ext>
                </a:extLst>
              </a:tr>
            </a:tbl>
          </a:graphicData>
        </a:graphic>
      </p:graphicFrame>
    </p:spTree>
    <p:extLst>
      <p:ext uri="{BB962C8B-B14F-4D97-AF65-F5344CB8AC3E}">
        <p14:creationId xmlns:p14="http://schemas.microsoft.com/office/powerpoint/2010/main" val="2611039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09345-5776-1EFD-16D0-515FE3207D4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CAEC37D-556C-4AA4-42FD-1BBDC1B8EB18}"/>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7E25C71-FDD2-D8DA-9BF5-85430AD8E55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BC1C56B-03B0-F7C0-058C-A759520AB1AE}"/>
              </a:ext>
            </a:extLst>
          </p:cNvPr>
          <p:cNvSpPr>
            <a:spLocks noGrp="1"/>
          </p:cNvSpPr>
          <p:nvPr>
            <p:ph type="sldNum" sz="quarter" idx="12"/>
          </p:nvPr>
        </p:nvSpPr>
        <p:spPr/>
        <p:txBody>
          <a:bodyPr/>
          <a:lstStyle/>
          <a:p>
            <a:fld id="{B41E2F89-97C2-4B18-A593-8150592B5005}" type="slidenum">
              <a:rPr lang="en-US" smtClean="0"/>
              <a:t>30</a:t>
            </a:fld>
            <a:endParaRPr lang="en-US" dirty="0"/>
          </a:p>
        </p:txBody>
      </p:sp>
      <p:sp>
        <p:nvSpPr>
          <p:cNvPr id="7" name="Title 1">
            <a:extLst>
              <a:ext uri="{FF2B5EF4-FFF2-40B4-BE49-F238E27FC236}">
                <a16:creationId xmlns:a16="http://schemas.microsoft.com/office/drawing/2014/main" id="{4FCB98C0-F170-896A-1D73-255F46F3E7C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CF8096FF-47F6-990A-73D4-66F6601BEB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9C3045A-CE02-C622-A16A-D8968AD8931E}"/>
              </a:ext>
            </a:extLst>
          </p:cNvPr>
          <p:cNvSpPr txBox="1"/>
          <p:nvPr/>
        </p:nvSpPr>
        <p:spPr>
          <a:xfrm>
            <a:off x="892139" y="1462703"/>
            <a:ext cx="10820399" cy="433965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The set of items to take can be deduced from the table, starting at </a:t>
            </a:r>
            <a:r>
              <a:rPr lang="en-IN" sz="2400" b="1" dirty="0"/>
              <a:t>c[n, w]</a:t>
            </a:r>
            <a:r>
              <a:rPr lang="en-IN" sz="2400" dirty="0"/>
              <a:t> and tracing backwards where the optimal values came from.</a:t>
            </a:r>
          </a:p>
          <a:p>
            <a:pPr marL="342900" indent="-342900" algn="just">
              <a:buFont typeface="Arial" panose="020B0604020202020204" pitchFamily="34" charset="0"/>
              <a:buChar char="•"/>
            </a:pPr>
            <a:r>
              <a:rPr lang="en-IN" sz="2400" dirty="0"/>
              <a:t>If </a:t>
            </a:r>
            <a:r>
              <a:rPr lang="en-IN" sz="2400" i="1" dirty="0"/>
              <a:t>c[</a:t>
            </a:r>
            <a:r>
              <a:rPr lang="en-IN" sz="2400" i="1" dirty="0" err="1"/>
              <a:t>i</a:t>
            </a:r>
            <a:r>
              <a:rPr lang="en-IN" sz="2400" i="1" dirty="0"/>
              <a:t>, w] = c[i-1, w]</a:t>
            </a:r>
            <a:r>
              <a:rPr lang="en-IN" sz="2400" dirty="0"/>
              <a:t>, then item </a:t>
            </a:r>
            <a:r>
              <a:rPr lang="en-IN" sz="2400" b="1" i="1" dirty="0" err="1"/>
              <a:t>i</a:t>
            </a:r>
            <a:r>
              <a:rPr lang="en-IN" sz="2400" dirty="0"/>
              <a:t> is not part of the solution, and we continue tracing with </a:t>
            </a:r>
            <a:r>
              <a:rPr lang="en-IN" sz="2400" b="1" dirty="0"/>
              <a:t>c[i-1, w]</a:t>
            </a:r>
            <a:r>
              <a:rPr lang="en-IN" sz="2400" dirty="0"/>
              <a:t>. Otherwise, item </a:t>
            </a:r>
            <a:r>
              <a:rPr lang="en-IN" sz="2400" b="1" i="1" dirty="0" err="1"/>
              <a:t>i</a:t>
            </a:r>
            <a:r>
              <a:rPr lang="en-IN" sz="2400" dirty="0"/>
              <a:t> is part of the solution, and we continue tracing with </a:t>
            </a:r>
            <a:r>
              <a:rPr lang="en-IN" sz="2400" b="1" dirty="0"/>
              <a:t>c[i-1, w-W]</a:t>
            </a:r>
            <a:r>
              <a:rPr lang="en-IN" sz="2400" dirty="0"/>
              <a:t>.</a:t>
            </a:r>
          </a:p>
          <a:p>
            <a:pPr algn="just"/>
            <a:endParaRPr lang="en-IN" sz="2800" dirty="0"/>
          </a:p>
          <a:p>
            <a:pPr algn="just"/>
            <a:r>
              <a:rPr lang="en-IN" sz="2800" b="1" dirty="0"/>
              <a:t>Analysis</a:t>
            </a:r>
          </a:p>
          <a:p>
            <a:pPr algn="just"/>
            <a:endParaRPr lang="en-IN" sz="2800" dirty="0"/>
          </a:p>
          <a:p>
            <a:pPr marL="342900" indent="-342900" algn="just">
              <a:buFont typeface="Arial" panose="020B0604020202020204" pitchFamily="34" charset="0"/>
              <a:buChar char="•"/>
            </a:pPr>
            <a:r>
              <a:rPr lang="en-IN" sz="2400" dirty="0"/>
              <a:t>This algorithm takes θ(</a:t>
            </a:r>
            <a:r>
              <a:rPr lang="en-IN" sz="2400" i="1" dirty="0"/>
              <a:t>n</a:t>
            </a:r>
            <a:r>
              <a:rPr lang="en-IN" sz="2400" dirty="0"/>
              <a:t>, </a:t>
            </a:r>
            <a:r>
              <a:rPr lang="en-IN" sz="2400" i="1" dirty="0"/>
              <a:t>w</a:t>
            </a:r>
            <a:r>
              <a:rPr lang="en-IN" sz="2400" dirty="0"/>
              <a:t>) times as table </a:t>
            </a:r>
            <a:r>
              <a:rPr lang="en-IN" sz="2400" i="1" dirty="0"/>
              <a:t>c</a:t>
            </a:r>
            <a:r>
              <a:rPr lang="en-IN" sz="2400" dirty="0"/>
              <a:t> has (</a:t>
            </a:r>
            <a:r>
              <a:rPr lang="en-IN" sz="2400" i="1" dirty="0"/>
              <a:t>n</a:t>
            </a:r>
            <a:r>
              <a:rPr lang="en-IN" sz="2400" dirty="0"/>
              <a:t> + 1).(</a:t>
            </a:r>
            <a:r>
              <a:rPr lang="en-IN" sz="2400" i="1" dirty="0"/>
              <a:t>w</a:t>
            </a:r>
            <a:r>
              <a:rPr lang="en-IN" sz="2400" dirty="0"/>
              <a:t> + 1) entries, where each entry requires θ(1) time to compute.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9342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998AA-333F-EBC6-22AF-D2D5803FEC4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71A1372-A970-A73E-46A5-3ED1D5808DE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F9521136-C47E-4D6B-FE6F-5FB589E19BEA}"/>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0494909-65D4-2D26-D064-C025624F90B8}"/>
              </a:ext>
            </a:extLst>
          </p:cNvPr>
          <p:cNvSpPr>
            <a:spLocks noGrp="1"/>
          </p:cNvSpPr>
          <p:nvPr>
            <p:ph type="sldNum" sz="quarter" idx="12"/>
          </p:nvPr>
        </p:nvSpPr>
        <p:spPr/>
        <p:txBody>
          <a:bodyPr/>
          <a:lstStyle/>
          <a:p>
            <a:fld id="{B41E2F89-97C2-4B18-A593-8150592B5005}" type="slidenum">
              <a:rPr lang="en-US" smtClean="0"/>
              <a:t>31</a:t>
            </a:fld>
            <a:endParaRPr lang="en-US" dirty="0"/>
          </a:p>
        </p:txBody>
      </p:sp>
      <p:sp>
        <p:nvSpPr>
          <p:cNvPr id="7" name="Title 1">
            <a:extLst>
              <a:ext uri="{FF2B5EF4-FFF2-40B4-BE49-F238E27FC236}">
                <a16:creationId xmlns:a16="http://schemas.microsoft.com/office/drawing/2014/main" id="{2AD03F92-2760-8A53-2986-38BC79F5792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7543A8E7-8EDC-6FF6-9987-A5B0C641B5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336C4ADC-A2D2-3F5D-9089-6A94A3A04B9C}"/>
              </a:ext>
            </a:extLst>
          </p:cNvPr>
          <p:cNvSpPr txBox="1"/>
          <p:nvPr/>
        </p:nvSpPr>
        <p:spPr>
          <a:xfrm>
            <a:off x="892139" y="1462703"/>
            <a:ext cx="10820399" cy="3785652"/>
          </a:xfrm>
          <a:prstGeom prst="rect">
            <a:avLst/>
          </a:prstGeom>
          <a:noFill/>
        </p:spPr>
        <p:txBody>
          <a:bodyPr wrap="square" rtlCol="0">
            <a:spAutoFit/>
          </a:bodyPr>
          <a:lstStyle/>
          <a:p>
            <a:pPr algn="just"/>
            <a:r>
              <a:rPr lang="en-IN" sz="2400" b="1" dirty="0"/>
              <a:t>Steps</a:t>
            </a:r>
          </a:p>
          <a:p>
            <a:pPr marL="342900" indent="-342900" algn="just">
              <a:buFont typeface="Arial" panose="020B0604020202020204" pitchFamily="34" charset="0"/>
              <a:buChar char="•"/>
            </a:pPr>
            <a:r>
              <a:rPr lang="en-IN" sz="2400" dirty="0"/>
              <a:t>To calculate the maximum value that we can obtain </a:t>
            </a:r>
            <a:r>
              <a:rPr lang="en-IN" sz="2400" i="1" dirty="0"/>
              <a:t>with </a:t>
            </a:r>
            <a:r>
              <a:rPr lang="en-IN" sz="2400" dirty="0"/>
              <a:t>item </a:t>
            </a:r>
            <a:r>
              <a:rPr lang="en-IN" sz="2400" i="1" dirty="0" err="1"/>
              <a:t>i</a:t>
            </a:r>
            <a:r>
              <a:rPr lang="en-IN" sz="2400" dirty="0"/>
              <a:t>, we first need to compare the weight of item </a:t>
            </a:r>
            <a:r>
              <a:rPr lang="en-IN" sz="2400" i="1" dirty="0" err="1"/>
              <a:t>i</a:t>
            </a:r>
            <a:r>
              <a:rPr lang="en-IN" sz="2400" dirty="0"/>
              <a:t> with the knapsack’s weight capacity.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Obviously, if item </a:t>
            </a:r>
            <a:r>
              <a:rPr lang="en-IN" sz="2400" i="1" dirty="0" err="1"/>
              <a:t>i</a:t>
            </a:r>
            <a:r>
              <a:rPr lang="en-IN" sz="2400" dirty="0"/>
              <a:t> weighs more than what the knapsack can hold, we can’t include it, so it does not make sense to perform the calculation.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In that case, the solution to this problem is simply the maximum value that we can obtain without item </a:t>
            </a:r>
            <a:r>
              <a:rPr lang="en-IN" sz="2400" i="1" dirty="0" err="1"/>
              <a:t>i</a:t>
            </a:r>
            <a:r>
              <a:rPr lang="en-IN" sz="2400" dirty="0"/>
              <a:t> (i.e. the value in the row above, at the same column).</a:t>
            </a:r>
            <a:endParaRPr lang="en-US" sz="2400" dirty="0"/>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327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D5105-FE5B-DDD0-6D37-09177AEADD0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6307BDA-E936-0FCE-9C7B-8DE3C4551D7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2E94F4A2-7FB0-2AE3-5F4D-721F8F53618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5B5A0B0-053E-188A-F0B1-6FF84CECE533}"/>
              </a:ext>
            </a:extLst>
          </p:cNvPr>
          <p:cNvSpPr>
            <a:spLocks noGrp="1"/>
          </p:cNvSpPr>
          <p:nvPr>
            <p:ph type="sldNum" sz="quarter" idx="12"/>
          </p:nvPr>
        </p:nvSpPr>
        <p:spPr/>
        <p:txBody>
          <a:bodyPr/>
          <a:lstStyle/>
          <a:p>
            <a:fld id="{B41E2F89-97C2-4B18-A593-8150592B5005}" type="slidenum">
              <a:rPr lang="en-US" smtClean="0"/>
              <a:t>32</a:t>
            </a:fld>
            <a:endParaRPr lang="en-US" dirty="0"/>
          </a:p>
        </p:txBody>
      </p:sp>
      <p:sp>
        <p:nvSpPr>
          <p:cNvPr id="7" name="Title 1">
            <a:extLst>
              <a:ext uri="{FF2B5EF4-FFF2-40B4-BE49-F238E27FC236}">
                <a16:creationId xmlns:a16="http://schemas.microsoft.com/office/drawing/2014/main" id="{06D0A618-EA6A-DC0D-ED36-D02C1FC0FB2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A808C700-26BC-75C4-6C2F-6197FCCCE6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0D9C255A-FFDA-BC00-6840-C7E4973ECC81}"/>
              </a:ext>
            </a:extLst>
          </p:cNvPr>
          <p:cNvSpPr txBox="1"/>
          <p:nvPr/>
        </p:nvSpPr>
        <p:spPr>
          <a:xfrm>
            <a:off x="534257" y="1462703"/>
            <a:ext cx="11178282" cy="4154984"/>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However, suppose that item </a:t>
            </a:r>
            <a:r>
              <a:rPr lang="en-IN" sz="2400" i="1" dirty="0" err="1"/>
              <a:t>i</a:t>
            </a:r>
            <a:r>
              <a:rPr lang="en-IN" sz="2400" dirty="0"/>
              <a:t> weighs less than the knapsack’s capacity. </a:t>
            </a:r>
          </a:p>
          <a:p>
            <a:pPr marL="342900" indent="-342900" algn="just">
              <a:buFont typeface="Arial" panose="020B0604020202020204" pitchFamily="34" charset="0"/>
              <a:buChar char="•"/>
            </a:pPr>
            <a:r>
              <a:rPr lang="en-IN" sz="2400" dirty="0"/>
              <a:t>We thus have the option to include it, if it potentially increases the maximum obtainable value. </a:t>
            </a:r>
          </a:p>
          <a:p>
            <a:pPr marL="342900" indent="-342900" algn="just">
              <a:buFont typeface="Arial" panose="020B0604020202020204" pitchFamily="34" charset="0"/>
              <a:buChar char="•"/>
            </a:pPr>
            <a:r>
              <a:rPr lang="en-IN" sz="2400" dirty="0"/>
              <a:t>The maximum obtainable value by including item </a:t>
            </a:r>
            <a:r>
              <a:rPr lang="en-IN" sz="2400" i="1" dirty="0" err="1"/>
              <a:t>i</a:t>
            </a:r>
            <a:r>
              <a:rPr lang="en-IN" sz="2400" dirty="0"/>
              <a:t> is thus = the value of item </a:t>
            </a:r>
            <a:r>
              <a:rPr lang="en-IN" sz="2400" i="1" dirty="0" err="1"/>
              <a:t>i</a:t>
            </a:r>
            <a:r>
              <a:rPr lang="en-IN" sz="2400" i="1" dirty="0"/>
              <a:t> </a:t>
            </a:r>
            <a:r>
              <a:rPr lang="en-IN" sz="2400" dirty="0"/>
              <a:t>itself + the maximum value that can be obtained with the remaining capacity of the knapsack. </a:t>
            </a:r>
          </a:p>
          <a:p>
            <a:pPr marL="342900" indent="-342900" algn="just">
              <a:buFont typeface="Arial" panose="020B0604020202020204" pitchFamily="34" charset="0"/>
              <a:buChar char="•"/>
            </a:pPr>
            <a:r>
              <a:rPr lang="en-IN" sz="2400" dirty="0"/>
              <a:t>We obviously want to make full use of the capacity of our knapsack, and not let any remaining capacity go to waste.</a:t>
            </a:r>
          </a:p>
          <a:p>
            <a:pPr marL="342900" indent="-342900" algn="just">
              <a:buFont typeface="Arial" panose="020B0604020202020204" pitchFamily="34" charset="0"/>
              <a:buChar char="•"/>
            </a:pPr>
            <a:r>
              <a:rPr lang="en-IN" sz="2400" dirty="0"/>
              <a:t>Therefore, at row </a:t>
            </a:r>
            <a:r>
              <a:rPr lang="en-IN" sz="2400" i="1" dirty="0" err="1"/>
              <a:t>i</a:t>
            </a:r>
            <a:r>
              <a:rPr lang="en-IN" sz="2400" i="1" dirty="0"/>
              <a:t> </a:t>
            </a:r>
            <a:r>
              <a:rPr lang="en-IN" sz="2400" dirty="0"/>
              <a:t>and column </a:t>
            </a:r>
            <a:r>
              <a:rPr lang="en-IN" sz="2400" i="1" dirty="0"/>
              <a:t>j </a:t>
            </a:r>
            <a:r>
              <a:rPr lang="en-IN" sz="2400" dirty="0"/>
              <a:t>(which represents the maximum value we can obtain there), we would pick either the maximum value that we can obtain </a:t>
            </a:r>
            <a:r>
              <a:rPr lang="en-IN" sz="2400" i="1" dirty="0"/>
              <a:t>without</a:t>
            </a:r>
            <a:r>
              <a:rPr lang="en-IN" sz="2400" dirty="0"/>
              <a:t> item </a:t>
            </a:r>
            <a:r>
              <a:rPr lang="en-IN" sz="2400" i="1" dirty="0" err="1"/>
              <a:t>i</a:t>
            </a:r>
            <a:r>
              <a:rPr lang="en-IN" sz="2400" dirty="0"/>
              <a:t>, or the maximum value that we can obtain </a:t>
            </a:r>
            <a:r>
              <a:rPr lang="en-IN" sz="2400" i="1" dirty="0"/>
              <a:t>with </a:t>
            </a:r>
            <a:r>
              <a:rPr lang="en-IN" sz="2400" dirty="0"/>
              <a:t>item </a:t>
            </a:r>
            <a:r>
              <a:rPr lang="en-IN" sz="2400" i="1" dirty="0" err="1"/>
              <a:t>i</a:t>
            </a:r>
            <a:r>
              <a:rPr lang="en-IN" sz="2400" dirty="0"/>
              <a:t>, </a:t>
            </a:r>
            <a:r>
              <a:rPr lang="en-IN" sz="2400" i="1" dirty="0"/>
              <a:t>whichever is larger</a:t>
            </a:r>
            <a:r>
              <a:rPr lang="en-IN" sz="2400" dirty="0"/>
              <a:t>.</a:t>
            </a:r>
            <a:endParaRPr lang="en-US" sz="2400" dirty="0"/>
          </a:p>
        </p:txBody>
      </p:sp>
    </p:spTree>
    <p:extLst>
      <p:ext uri="{BB962C8B-B14F-4D97-AF65-F5344CB8AC3E}">
        <p14:creationId xmlns:p14="http://schemas.microsoft.com/office/powerpoint/2010/main" val="1283289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ECFA-9AD8-01DE-6215-EA4EBCF9426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50BD14-8CEE-8E52-49DF-E7A199AE3F1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68FC357A-5417-2B58-D719-08511DA5B480}"/>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A028861-8ED2-1226-908F-923C27820D45}"/>
              </a:ext>
            </a:extLst>
          </p:cNvPr>
          <p:cNvSpPr>
            <a:spLocks noGrp="1"/>
          </p:cNvSpPr>
          <p:nvPr>
            <p:ph type="sldNum" sz="quarter" idx="12"/>
          </p:nvPr>
        </p:nvSpPr>
        <p:spPr/>
        <p:txBody>
          <a:bodyPr/>
          <a:lstStyle/>
          <a:p>
            <a:fld id="{B41E2F89-97C2-4B18-A593-8150592B5005}" type="slidenum">
              <a:rPr lang="en-US" smtClean="0"/>
              <a:t>33</a:t>
            </a:fld>
            <a:endParaRPr lang="en-US" dirty="0"/>
          </a:p>
        </p:txBody>
      </p:sp>
      <p:sp>
        <p:nvSpPr>
          <p:cNvPr id="7" name="Title 1">
            <a:extLst>
              <a:ext uri="{FF2B5EF4-FFF2-40B4-BE49-F238E27FC236}">
                <a16:creationId xmlns:a16="http://schemas.microsoft.com/office/drawing/2014/main" id="{4C1E5EF5-9E5D-6301-652C-51BB7FEF83D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5FE4E6CE-6950-EAE9-15D8-4D4DFAE4BD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96A651E9-E326-EEC6-7925-3FF46E4D8B74}"/>
              </a:ext>
            </a:extLst>
          </p:cNvPr>
          <p:cNvSpPr>
            <a:spLocks noGrp="1"/>
          </p:cNvSpPr>
          <p:nvPr>
            <p:ph idx="1"/>
          </p:nvPr>
        </p:nvSpPr>
        <p:spPr>
          <a:xfrm>
            <a:off x="838201" y="1120775"/>
            <a:ext cx="10720226" cy="5074542"/>
          </a:xfrm>
        </p:spPr>
        <p:txBody>
          <a:bodyPr>
            <a:noAutofit/>
          </a:bodyPr>
          <a:lstStyle/>
          <a:p>
            <a:pPr algn="just"/>
            <a:r>
              <a:rPr lang="en-IN" sz="2200" dirty="0"/>
              <a:t>For Example</a:t>
            </a:r>
          </a:p>
          <a:p>
            <a:pPr algn="just"/>
            <a:endParaRPr lang="en-IN" sz="2200" dirty="0"/>
          </a:p>
          <a:p>
            <a:pPr algn="just"/>
            <a:endParaRPr lang="en-IN" sz="2200" dirty="0"/>
          </a:p>
          <a:p>
            <a:pPr algn="just"/>
            <a:endParaRPr lang="en-IN" sz="2200" dirty="0"/>
          </a:p>
          <a:p>
            <a:pPr algn="just"/>
            <a:endParaRPr lang="en-IN" sz="2200" dirty="0"/>
          </a:p>
          <a:p>
            <a:pPr algn="just"/>
            <a:endParaRPr lang="en-IN" sz="2200" dirty="0"/>
          </a:p>
          <a:p>
            <a:pPr algn="just"/>
            <a:r>
              <a:rPr lang="en-IN" sz="2200" dirty="0"/>
              <a:t>At row 3 (item 2), and column 5 (knapsack capacity of 4), we can choose to either include item 2 (which weighs 4 units) or not.</a:t>
            </a:r>
          </a:p>
          <a:p>
            <a:pPr algn="just"/>
            <a:endParaRPr lang="en-IN" sz="2200" dirty="0"/>
          </a:p>
          <a:p>
            <a:pPr algn="just"/>
            <a:r>
              <a:rPr lang="en-IN" sz="2200" dirty="0"/>
              <a:t> If we choose not to include it, the maximum value we can obtain is the same as if we only have item 1 to choose from (which is found in the row above, i.e. 0).</a:t>
            </a:r>
          </a:p>
        </p:txBody>
      </p:sp>
      <p:pic>
        <p:nvPicPr>
          <p:cNvPr id="3" name="Picture 2">
            <a:extLst>
              <a:ext uri="{FF2B5EF4-FFF2-40B4-BE49-F238E27FC236}">
                <a16:creationId xmlns:a16="http://schemas.microsoft.com/office/drawing/2014/main" id="{F91479C2-B319-B05A-6C67-68239A495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71" y="1667428"/>
            <a:ext cx="8940657" cy="1990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33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3FD1B-6A20-58C3-0849-8E427DF4E65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0080343-39DF-DAE1-9664-8C38D205E131}"/>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52F3D830-949E-0D22-A93A-A1551A1B7D9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AF72983-F47A-AECD-7F69-A5B81E163A2F}"/>
              </a:ext>
            </a:extLst>
          </p:cNvPr>
          <p:cNvSpPr>
            <a:spLocks noGrp="1"/>
          </p:cNvSpPr>
          <p:nvPr>
            <p:ph type="sldNum" sz="quarter" idx="12"/>
          </p:nvPr>
        </p:nvSpPr>
        <p:spPr/>
        <p:txBody>
          <a:bodyPr/>
          <a:lstStyle/>
          <a:p>
            <a:fld id="{B41E2F89-97C2-4B18-A593-8150592B5005}" type="slidenum">
              <a:rPr lang="en-US" smtClean="0"/>
              <a:t>34</a:t>
            </a:fld>
            <a:endParaRPr lang="en-US" dirty="0"/>
          </a:p>
        </p:txBody>
      </p:sp>
      <p:sp>
        <p:nvSpPr>
          <p:cNvPr id="7" name="Title 1">
            <a:extLst>
              <a:ext uri="{FF2B5EF4-FFF2-40B4-BE49-F238E27FC236}">
                <a16:creationId xmlns:a16="http://schemas.microsoft.com/office/drawing/2014/main" id="{0A13AE7A-4BE5-CDED-7A16-C096BDC7DDA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BFC317AD-3BD2-249F-F986-E1BC5B1084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B41712ED-A199-54BD-3C92-1ED57D64BB3F}"/>
              </a:ext>
            </a:extLst>
          </p:cNvPr>
          <p:cNvSpPr txBox="1"/>
          <p:nvPr/>
        </p:nvSpPr>
        <p:spPr>
          <a:xfrm>
            <a:off x="892139" y="1462703"/>
            <a:ext cx="10820399" cy="3785652"/>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If we want to include item 2, the maximum value we can obtain with item 2 is the value of item 2 (40) + the maximum value we can obtain with the remaining capacity (which is 0, because the knapsack is completely full already).</a:t>
            </a:r>
            <a:endParaRPr lang="en-US" sz="2400" dirty="0"/>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At row 3 (item 2), and column 10 (knapsack capacity of 9), again, we can choose to either include item 2 or not.</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 If we choose not to, the maximum value we can obtain is the same as that in the row above at the same column, i.e. 10 (by including only item 1, which has a value of 10). </a:t>
            </a:r>
          </a:p>
        </p:txBody>
      </p:sp>
    </p:spTree>
    <p:extLst>
      <p:ext uri="{BB962C8B-B14F-4D97-AF65-F5344CB8AC3E}">
        <p14:creationId xmlns:p14="http://schemas.microsoft.com/office/powerpoint/2010/main" val="1307627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6C15B-A238-9780-1903-3D5C47C42A3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D7948AB-164B-D8E2-AB2C-AE8A5DC412B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03E717F-EDEE-E0E5-1994-FB4FE88FFCE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17CBA75-6D1F-AD7D-7281-93448A4C1874}"/>
              </a:ext>
            </a:extLst>
          </p:cNvPr>
          <p:cNvSpPr>
            <a:spLocks noGrp="1"/>
          </p:cNvSpPr>
          <p:nvPr>
            <p:ph type="sldNum" sz="quarter" idx="12"/>
          </p:nvPr>
        </p:nvSpPr>
        <p:spPr/>
        <p:txBody>
          <a:bodyPr/>
          <a:lstStyle/>
          <a:p>
            <a:fld id="{B41E2F89-97C2-4B18-A593-8150592B5005}" type="slidenum">
              <a:rPr lang="en-US" smtClean="0"/>
              <a:t>35</a:t>
            </a:fld>
            <a:endParaRPr lang="en-US" dirty="0"/>
          </a:p>
        </p:txBody>
      </p:sp>
      <p:sp>
        <p:nvSpPr>
          <p:cNvPr id="7" name="Title 1">
            <a:extLst>
              <a:ext uri="{FF2B5EF4-FFF2-40B4-BE49-F238E27FC236}">
                <a16:creationId xmlns:a16="http://schemas.microsoft.com/office/drawing/2014/main" id="{85649B37-C58A-F59C-0D66-CDAE012F7B0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A33EA615-9F7D-C6B2-08EF-127302C33E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34DDDB2C-DE0F-29E9-F6ED-17A2642DF947}"/>
              </a:ext>
            </a:extLst>
          </p:cNvPr>
          <p:cNvSpPr txBox="1"/>
          <p:nvPr/>
        </p:nvSpPr>
        <p:spPr>
          <a:xfrm>
            <a:off x="308225" y="897625"/>
            <a:ext cx="11609797" cy="5693866"/>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If we include item 2, we have a remaining knapsack capacity of 9 - 4 = 5. </a:t>
            </a:r>
          </a:p>
          <a:p>
            <a:pPr marL="342900" indent="-342900" algn="just">
              <a:buFont typeface="Arial" panose="020B0604020202020204" pitchFamily="34" charset="0"/>
              <a:buChar char="•"/>
            </a:pPr>
            <a:r>
              <a:rPr lang="en-IN" sz="2400" dirty="0"/>
              <a:t>We can find out the maximum value that can be obtained with a capacity of 5 by looking at the row above, at column 5.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Thus, the maximum value we can obtain by including item 2 is 40 (the value of item 2) + 10 = 50.</a:t>
            </a:r>
          </a:p>
          <a:p>
            <a:pPr marL="342900" indent="-342900" algn="just">
              <a:buFont typeface="Arial" panose="020B0604020202020204" pitchFamily="34" charset="0"/>
              <a:buChar char="•"/>
            </a:pPr>
            <a:r>
              <a:rPr lang="en-IN" sz="2400" dirty="0"/>
              <a:t>We pick the larger of 50 vs 10, and so the maximum value we can obtain with items 1 and 2, with a knapsack capacity of 9, is 50.</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IN" sz="2400" dirty="0"/>
              <a:t>Once the table has been populated, the final solution can be found at the last row in the last column, which represents the maximum value obtainable with </a:t>
            </a:r>
            <a:r>
              <a:rPr lang="en-IN" sz="2400" i="1" dirty="0"/>
              <a:t>all the items</a:t>
            </a:r>
            <a:r>
              <a:rPr lang="en-IN" sz="2400" dirty="0"/>
              <a:t> and the </a:t>
            </a:r>
            <a:r>
              <a:rPr lang="en-IN" sz="2400" i="1" dirty="0"/>
              <a:t>full capacity </a:t>
            </a:r>
            <a:r>
              <a:rPr lang="en-IN" sz="2400" dirty="0"/>
              <a:t>of the knapsack.</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For more examples watch the following </a:t>
            </a:r>
            <a:r>
              <a:rPr lang="en-IN" sz="2400" dirty="0" err="1"/>
              <a:t>youtube</a:t>
            </a:r>
            <a:r>
              <a:rPr lang="en-IN" sz="2400" dirty="0"/>
              <a:t> link</a:t>
            </a:r>
          </a:p>
          <a:p>
            <a:pPr marL="457200" indent="-457200" algn="just">
              <a:buFont typeface="Arial" panose="020B0604020202020204" pitchFamily="34" charset="0"/>
              <a:buChar char="•"/>
            </a:pPr>
            <a:r>
              <a:rPr lang="en-IN" sz="2800" dirty="0">
                <a:hlinkClick r:id="rId3"/>
              </a:rPr>
              <a:t>https://www.youtube.com/watch?v=oTTzNMHM05I</a:t>
            </a:r>
            <a:endParaRPr lang="en-US" sz="2400" dirty="0"/>
          </a:p>
        </p:txBody>
      </p:sp>
    </p:spTree>
    <p:extLst>
      <p:ext uri="{BB962C8B-B14F-4D97-AF65-F5344CB8AC3E}">
        <p14:creationId xmlns:p14="http://schemas.microsoft.com/office/powerpoint/2010/main" val="2686841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92F9-8886-D936-0769-DFF436BAE43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A2A8C2B-5BE0-EF8E-D133-791733F93DCC}"/>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1922A801-6B25-67D2-D8A5-2FE4499CBD7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E8A49787-1AB0-4EFA-177C-D9474C969A49}"/>
              </a:ext>
            </a:extLst>
          </p:cNvPr>
          <p:cNvSpPr>
            <a:spLocks noGrp="1"/>
          </p:cNvSpPr>
          <p:nvPr>
            <p:ph type="sldNum" sz="quarter" idx="12"/>
          </p:nvPr>
        </p:nvSpPr>
        <p:spPr/>
        <p:txBody>
          <a:bodyPr/>
          <a:lstStyle/>
          <a:p>
            <a:fld id="{B41E2F89-97C2-4B18-A593-8150592B5005}" type="slidenum">
              <a:rPr lang="en-US" smtClean="0"/>
              <a:t>36</a:t>
            </a:fld>
            <a:endParaRPr lang="en-US" dirty="0"/>
          </a:p>
        </p:txBody>
      </p:sp>
      <p:sp>
        <p:nvSpPr>
          <p:cNvPr id="7" name="Title 1">
            <a:extLst>
              <a:ext uri="{FF2B5EF4-FFF2-40B4-BE49-F238E27FC236}">
                <a16:creationId xmlns:a16="http://schemas.microsoft.com/office/drawing/2014/main" id="{E90EA47A-A4FD-FF0F-BA23-72324B876C3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B8503FD1-9944-91FE-40B9-ED78F12847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9780FA21-F451-4AA8-F63A-B4C4654531F3}"/>
              </a:ext>
            </a:extLst>
          </p:cNvPr>
          <p:cNvSpPr txBox="1"/>
          <p:nvPr/>
        </p:nvSpPr>
        <p:spPr>
          <a:xfrm>
            <a:off x="308225" y="897625"/>
            <a:ext cx="11609797" cy="5447645"/>
          </a:xfrm>
          <a:prstGeom prst="rect">
            <a:avLst/>
          </a:prstGeom>
          <a:noFill/>
        </p:spPr>
        <p:txBody>
          <a:bodyPr wrap="square" rtlCol="0">
            <a:spAutoFit/>
          </a:bodyPr>
          <a:lstStyle/>
          <a:p>
            <a:pPr algn="just"/>
            <a:r>
              <a:rPr lang="en-US" sz="2400" b="1" dirty="0"/>
              <a:t>Daily </a:t>
            </a:r>
            <a:r>
              <a:rPr lang="en-US" sz="2400" b="1" dirty="0" err="1"/>
              <a:t>Qquuiz</a:t>
            </a:r>
            <a:endParaRPr lang="en-US" sz="2400" b="1" dirty="0"/>
          </a:p>
          <a:p>
            <a:pPr algn="just"/>
            <a:endParaRPr lang="en-US" sz="2400" dirty="0"/>
          </a:p>
          <a:p>
            <a:pPr marL="457200" indent="-457200" algn="just">
              <a:buFont typeface="+mj-lt"/>
              <a:buAutoNum type="arabicPeriod"/>
            </a:pPr>
            <a:r>
              <a:rPr lang="en-US" sz="2000" dirty="0"/>
              <a:t>Which property is NOT required for DP to be applicable?</a:t>
            </a:r>
          </a:p>
          <a:p>
            <a:pPr algn="just"/>
            <a:r>
              <a:rPr lang="en-US" sz="2000" dirty="0"/>
              <a:t>	A. Optimal Substructure</a:t>
            </a:r>
          </a:p>
          <a:p>
            <a:pPr algn="just"/>
            <a:r>
              <a:rPr lang="en-US" sz="2000" dirty="0"/>
              <a:t>	B. Overlapping Subproblems</a:t>
            </a:r>
          </a:p>
          <a:p>
            <a:pPr algn="just"/>
            <a:r>
              <a:rPr lang="en-US" sz="2000" dirty="0"/>
              <a:t>	C. Greedy Choice Property</a:t>
            </a:r>
          </a:p>
          <a:p>
            <a:pPr algn="just"/>
            <a:r>
              <a:rPr lang="en-US" sz="2000" dirty="0"/>
              <a:t>	D. Both A and B are required</a:t>
            </a:r>
          </a:p>
          <a:p>
            <a:pPr marL="457200" indent="-457200" algn="just">
              <a:buAutoNum type="arabicPeriod" startAt="2"/>
            </a:pPr>
            <a:r>
              <a:rPr lang="en-US" sz="2000" dirty="0"/>
              <a:t>In 0/1 Knapsack, if </a:t>
            </a:r>
            <a:r>
              <a:rPr lang="en-US" sz="2000" dirty="0" err="1"/>
              <a:t>wt</a:t>
            </a:r>
            <a:r>
              <a:rPr lang="en-US" sz="2000" dirty="0"/>
              <a:t>[</a:t>
            </a:r>
            <a:r>
              <a:rPr lang="en-US" sz="2000" dirty="0" err="1"/>
              <a:t>i</a:t>
            </a:r>
            <a:r>
              <a:rPr lang="en-US" sz="2000" dirty="0"/>
              <a:t>] &gt; W then:</a:t>
            </a:r>
          </a:p>
          <a:p>
            <a:pPr algn="just"/>
            <a:r>
              <a:rPr lang="en-US" sz="2000" dirty="0"/>
              <a:t>	A. </a:t>
            </a:r>
            <a:r>
              <a:rPr lang="en-US" sz="2000" dirty="0" err="1"/>
              <a:t>dp</a:t>
            </a:r>
            <a:r>
              <a:rPr lang="en-US" sz="2000" dirty="0"/>
              <a:t>[</a:t>
            </a:r>
            <a:r>
              <a:rPr lang="en-US" sz="2000" dirty="0" err="1"/>
              <a:t>i</a:t>
            </a:r>
            <a:r>
              <a:rPr lang="en-US" sz="2000" dirty="0"/>
              <a:t>][w] = </a:t>
            </a:r>
            <a:r>
              <a:rPr lang="en-US" sz="2000" dirty="0" err="1"/>
              <a:t>dp</a:t>
            </a:r>
            <a:r>
              <a:rPr lang="en-US" sz="2000" dirty="0"/>
              <a:t>[i-1][w]</a:t>
            </a:r>
          </a:p>
          <a:p>
            <a:pPr algn="just"/>
            <a:r>
              <a:rPr lang="en-US" sz="2000" dirty="0"/>
              <a:t>	B. </a:t>
            </a:r>
            <a:r>
              <a:rPr lang="en-US" sz="2000" dirty="0" err="1"/>
              <a:t>dp</a:t>
            </a:r>
            <a:r>
              <a:rPr lang="en-US" sz="2000" dirty="0"/>
              <a:t>[</a:t>
            </a:r>
            <a:r>
              <a:rPr lang="en-US" sz="2000" dirty="0" err="1"/>
              <a:t>i</a:t>
            </a:r>
            <a:r>
              <a:rPr lang="en-US" sz="2000" dirty="0"/>
              <a:t>][w] = 0</a:t>
            </a:r>
          </a:p>
          <a:p>
            <a:pPr algn="just"/>
            <a:r>
              <a:rPr lang="en-US" sz="2000" dirty="0"/>
              <a:t>	C. </a:t>
            </a:r>
            <a:r>
              <a:rPr lang="en-US" sz="2000" dirty="0" err="1"/>
              <a:t>dp</a:t>
            </a:r>
            <a:r>
              <a:rPr lang="en-US" sz="2000" dirty="0"/>
              <a:t>[</a:t>
            </a:r>
            <a:r>
              <a:rPr lang="en-US" sz="2000" dirty="0" err="1"/>
              <a:t>i</a:t>
            </a:r>
            <a:r>
              <a:rPr lang="en-US" sz="2000" dirty="0"/>
              <a:t>][w] = </a:t>
            </a:r>
            <a:r>
              <a:rPr lang="en-US" sz="2000" dirty="0" err="1"/>
              <a:t>val</a:t>
            </a:r>
            <a:r>
              <a:rPr lang="en-US" sz="2000" dirty="0"/>
              <a:t>[</a:t>
            </a:r>
            <a:r>
              <a:rPr lang="en-US" sz="2000" dirty="0" err="1"/>
              <a:t>i</a:t>
            </a:r>
            <a:r>
              <a:rPr lang="en-US" sz="2000" dirty="0"/>
              <a:t>]</a:t>
            </a:r>
          </a:p>
          <a:p>
            <a:pPr algn="just"/>
            <a:r>
              <a:rPr lang="en-US" sz="2000" dirty="0"/>
              <a:t>	D. Item must be included</a:t>
            </a:r>
          </a:p>
          <a:p>
            <a:pPr marL="457200" indent="-457200" algn="just">
              <a:buAutoNum type="arabicPeriod" startAt="3"/>
            </a:pPr>
            <a:r>
              <a:rPr lang="en-US" sz="2000" dirty="0"/>
              <a:t>0/1 Knapsack cannot be solved by greedy because:</a:t>
            </a:r>
          </a:p>
          <a:p>
            <a:pPr algn="just"/>
            <a:r>
              <a:rPr lang="en-US" sz="2000" dirty="0"/>
              <a:t>	A. It’s too slow</a:t>
            </a:r>
          </a:p>
          <a:p>
            <a:pPr algn="just"/>
            <a:r>
              <a:rPr lang="en-US" sz="2000" dirty="0"/>
              <a:t>	B. Local optimal ≠ Global optimal</a:t>
            </a:r>
          </a:p>
          <a:p>
            <a:pPr algn="just"/>
            <a:r>
              <a:rPr lang="en-US" sz="2000" dirty="0"/>
              <a:t>	C. No overlapping subproblems</a:t>
            </a:r>
          </a:p>
          <a:p>
            <a:pPr algn="just"/>
            <a:r>
              <a:rPr lang="en-US" sz="2000" dirty="0"/>
              <a:t>	D. It needs sorting</a:t>
            </a:r>
          </a:p>
        </p:txBody>
      </p:sp>
    </p:spTree>
    <p:extLst>
      <p:ext uri="{BB962C8B-B14F-4D97-AF65-F5344CB8AC3E}">
        <p14:creationId xmlns:p14="http://schemas.microsoft.com/office/powerpoint/2010/main" val="978422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5F64B-4353-54CA-FFFA-2C558C5BEE9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2C7444-29A1-FE1F-BB3E-7CA3FA6EEC0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ECF9284-4BBB-A607-1FDE-4491622762F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5DC95DE-6DEF-25A0-B0A6-FBCD47A7406F}"/>
              </a:ext>
            </a:extLst>
          </p:cNvPr>
          <p:cNvSpPr>
            <a:spLocks noGrp="1"/>
          </p:cNvSpPr>
          <p:nvPr>
            <p:ph type="sldNum" sz="quarter" idx="12"/>
          </p:nvPr>
        </p:nvSpPr>
        <p:spPr/>
        <p:txBody>
          <a:bodyPr/>
          <a:lstStyle/>
          <a:p>
            <a:fld id="{B41E2F89-97C2-4B18-A593-8150592B5005}" type="slidenum">
              <a:rPr lang="en-US" smtClean="0"/>
              <a:t>37</a:t>
            </a:fld>
            <a:endParaRPr lang="en-US" dirty="0"/>
          </a:p>
        </p:txBody>
      </p:sp>
      <p:sp>
        <p:nvSpPr>
          <p:cNvPr id="7" name="Title 1">
            <a:extLst>
              <a:ext uri="{FF2B5EF4-FFF2-40B4-BE49-F238E27FC236}">
                <a16:creationId xmlns:a16="http://schemas.microsoft.com/office/drawing/2014/main" id="{F2E3A186-5D85-2F05-2CB9-4A6CE5974BE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B933A848-07F9-EC0F-1505-06B4F5715C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81B52E64-5639-ABC7-D142-8CA7EF9B37F0}"/>
              </a:ext>
            </a:extLst>
          </p:cNvPr>
          <p:cNvSpPr txBox="1"/>
          <p:nvPr/>
        </p:nvSpPr>
        <p:spPr>
          <a:xfrm>
            <a:off x="892139" y="1462703"/>
            <a:ext cx="10820399"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Substring – Group of characters in contiguous location.</a:t>
            </a:r>
          </a:p>
          <a:p>
            <a:pPr marL="342900" indent="-342900">
              <a:buFont typeface="Arial" panose="020B0604020202020204" pitchFamily="34" charset="0"/>
              <a:buChar char="•"/>
            </a:pPr>
            <a:r>
              <a:rPr lang="en-US" sz="2400" dirty="0"/>
              <a:t>Subsequence – Group of characters in non -contiguous location.</a:t>
            </a:r>
          </a:p>
          <a:p>
            <a:pPr marL="342900" indent="-342900">
              <a:buFont typeface="Arial" panose="020B0604020202020204" pitchFamily="34" charset="0"/>
              <a:buChar char="•"/>
            </a:pPr>
            <a:endParaRPr lang="en-US" sz="2400" dirty="0"/>
          </a:p>
          <a:p>
            <a:r>
              <a:rPr lang="en-US" sz="2400" dirty="0"/>
              <a:t>Example</a:t>
            </a:r>
          </a:p>
          <a:p>
            <a:pPr marL="342900" indent="-342900">
              <a:buFont typeface="Arial" panose="020B0604020202020204" pitchFamily="34" charset="0"/>
              <a:buChar char="•"/>
            </a:pPr>
            <a:r>
              <a:rPr lang="en-US" sz="2400" dirty="0"/>
              <a:t>String : ABCDEF</a:t>
            </a:r>
          </a:p>
          <a:p>
            <a:pPr marL="342900" indent="-342900">
              <a:buFont typeface="Arial" panose="020B0604020202020204" pitchFamily="34" charset="0"/>
              <a:buChar char="•"/>
            </a:pPr>
            <a:r>
              <a:rPr lang="en-US" sz="2400" dirty="0"/>
              <a:t>Substring – ABC</a:t>
            </a:r>
          </a:p>
          <a:p>
            <a:pPr marL="342900" indent="-342900">
              <a:buFont typeface="Arial" panose="020B0604020202020204" pitchFamily="34" charset="0"/>
              <a:buChar char="•"/>
            </a:pPr>
            <a:r>
              <a:rPr lang="en-US" sz="2400" dirty="0"/>
              <a:t>Subsequence – ACE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Application: DNA Matching, Matching of two version of </a:t>
            </a:r>
            <a:r>
              <a:rPr lang="en-US" sz="2400" dirty="0" err="1"/>
              <a:t>softwares</a:t>
            </a:r>
            <a:r>
              <a:rPr lang="en-US" sz="2400" dirty="0"/>
              <a:t>, Search engines, Plagiarism.</a:t>
            </a: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8676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6F412-711F-85E5-F106-204B270219B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864E8FF-5D77-25E2-FC1A-4A85A9CEFC5B}"/>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C5892BFC-DAAF-33AC-24A9-AFDA1DACC11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CC8DB73-369A-012C-5EE4-A7F0F5809FAD}"/>
              </a:ext>
            </a:extLst>
          </p:cNvPr>
          <p:cNvSpPr>
            <a:spLocks noGrp="1"/>
          </p:cNvSpPr>
          <p:nvPr>
            <p:ph type="sldNum" sz="quarter" idx="12"/>
          </p:nvPr>
        </p:nvSpPr>
        <p:spPr/>
        <p:txBody>
          <a:bodyPr/>
          <a:lstStyle/>
          <a:p>
            <a:fld id="{B41E2F89-97C2-4B18-A593-8150592B5005}" type="slidenum">
              <a:rPr lang="en-US" smtClean="0"/>
              <a:t>38</a:t>
            </a:fld>
            <a:endParaRPr lang="en-US" dirty="0"/>
          </a:p>
        </p:txBody>
      </p:sp>
      <p:sp>
        <p:nvSpPr>
          <p:cNvPr id="7" name="Title 1">
            <a:extLst>
              <a:ext uri="{FF2B5EF4-FFF2-40B4-BE49-F238E27FC236}">
                <a16:creationId xmlns:a16="http://schemas.microsoft.com/office/drawing/2014/main" id="{DC44D7F5-265C-6C80-6D76-74AFF27D39D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5958A035-D15D-45A8-034E-EDECF71AC2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B056889-2DCE-F629-FA54-F260A6894C61}"/>
              </a:ext>
            </a:extLst>
          </p:cNvPr>
          <p:cNvSpPr txBox="1"/>
          <p:nvPr/>
        </p:nvSpPr>
        <p:spPr>
          <a:xfrm>
            <a:off x="892139" y="1462703"/>
            <a:ext cx="10820399"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longest common subsequence (LCS) is defined as the longest subsequence that is common to all the given sequences, provided that the elements of the subsequence are not required to occupy consecutive positions within the original sequences.</a:t>
            </a:r>
          </a:p>
          <a:p>
            <a:pPr marL="342900" indent="-342900">
              <a:buFont typeface="Arial" panose="020B0604020202020204" pitchFamily="34" charset="0"/>
              <a:buChar char="•"/>
            </a:pPr>
            <a:r>
              <a:rPr lang="en-US" sz="2400" dirty="0"/>
              <a:t>If S1 and S2 are the two given sequences then, Z is the common subsequence of S1 and S2 if Z is a subsequence of both S1 and S2. Furthermore, Z must be a </a:t>
            </a:r>
            <a:r>
              <a:rPr lang="en-US" sz="2400" b="1" dirty="0"/>
              <a:t>strictly increasing sequence</a:t>
            </a:r>
            <a:r>
              <a:rPr lang="en-US" sz="2400" dirty="0"/>
              <a:t> of the indices of both S1 and S2.</a:t>
            </a:r>
          </a:p>
          <a:p>
            <a:pPr marL="342900" indent="-342900">
              <a:buFont typeface="Arial" panose="020B0604020202020204" pitchFamily="34" charset="0"/>
              <a:buChar char="•"/>
            </a:pPr>
            <a:r>
              <a:rPr lang="en-US" sz="2400" dirty="0"/>
              <a:t>In a strictly increasing sequence, the indices of the elements chosen from the original sequences must be in ascending order in Z.</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0294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C87B2-A221-5996-26D0-7C8939019C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CD42C7-889D-3EF6-861D-248D9F0AF72F}"/>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D8047E9-3F94-2714-8FA8-0F465A0FE9C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CF5E634-FEC5-7752-A2AE-D97423487CC3}"/>
              </a:ext>
            </a:extLst>
          </p:cNvPr>
          <p:cNvSpPr>
            <a:spLocks noGrp="1"/>
          </p:cNvSpPr>
          <p:nvPr>
            <p:ph type="sldNum" sz="quarter" idx="12"/>
          </p:nvPr>
        </p:nvSpPr>
        <p:spPr/>
        <p:txBody>
          <a:bodyPr/>
          <a:lstStyle/>
          <a:p>
            <a:fld id="{B41E2F89-97C2-4B18-A593-8150592B5005}" type="slidenum">
              <a:rPr lang="en-US" smtClean="0"/>
              <a:t>39</a:t>
            </a:fld>
            <a:endParaRPr lang="en-US" dirty="0"/>
          </a:p>
        </p:txBody>
      </p:sp>
      <p:sp>
        <p:nvSpPr>
          <p:cNvPr id="7" name="Title 1">
            <a:extLst>
              <a:ext uri="{FF2B5EF4-FFF2-40B4-BE49-F238E27FC236}">
                <a16:creationId xmlns:a16="http://schemas.microsoft.com/office/drawing/2014/main" id="{46DA5446-EA3C-C6E7-BA7B-456D5F2C9338}"/>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32ECCF75-5760-C59A-9FEC-4C62207BFE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AEAECC3E-FF5D-78F8-7815-6AA1BB5192FA}"/>
              </a:ext>
            </a:extLst>
          </p:cNvPr>
          <p:cNvSpPr txBox="1"/>
          <p:nvPr/>
        </p:nvSpPr>
        <p:spPr>
          <a:xfrm>
            <a:off x="892139" y="1462703"/>
            <a:ext cx="10820399"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If S1={B,C,D,A,A,C,D} then, {A,D,B} cannot be a subsequence of S1 as the order of the elements is not the same (</a:t>
            </a:r>
            <a:r>
              <a:rPr lang="en-US" sz="2400" dirty="0" err="1"/>
              <a:t>ie</a:t>
            </a:r>
            <a:r>
              <a:rPr lang="en-US" sz="2400" dirty="0"/>
              <a:t>. not strictly increasing sequence).</a:t>
            </a:r>
          </a:p>
          <a:p>
            <a:pPr marL="342900" indent="-342900">
              <a:buFont typeface="Arial" panose="020B0604020202020204" pitchFamily="34" charset="0"/>
              <a:buChar char="•"/>
            </a:pPr>
            <a:r>
              <a:rPr lang="en-US" sz="2400" dirty="0"/>
              <a:t>Let us understand LCS with an example:</a:t>
            </a:r>
          </a:p>
          <a:p>
            <a:pPr marL="342900" indent="-342900">
              <a:buFont typeface="Arial" panose="020B0604020202020204" pitchFamily="34" charset="0"/>
              <a:buChar char="•"/>
            </a:pPr>
            <a:r>
              <a:rPr lang="en-US" sz="2400" dirty="0"/>
              <a:t>If </a:t>
            </a:r>
            <a:r>
              <a:rPr lang="en-US" sz="2400" b="1" dirty="0"/>
              <a:t>S1 = {B,C,D,A,A,C,D}</a:t>
            </a:r>
          </a:p>
          <a:p>
            <a:r>
              <a:rPr lang="en-US" sz="2400" b="1" dirty="0"/>
              <a:t>	    S2 = {A,C, D,B,A,C}</a:t>
            </a:r>
          </a:p>
          <a:p>
            <a:pPr marL="342900" indent="-342900">
              <a:buFont typeface="Arial" panose="020B0604020202020204" pitchFamily="34" charset="0"/>
              <a:buChar char="•"/>
            </a:pPr>
            <a:r>
              <a:rPr lang="en-IN" sz="2400" dirty="0"/>
              <a:t>Then, common </a:t>
            </a:r>
            <a:r>
              <a:rPr lang="en-IN" sz="2400" dirty="0" err="1"/>
              <a:t>subsequences</a:t>
            </a:r>
            <a:r>
              <a:rPr lang="en-IN" sz="2400" dirty="0"/>
              <a:t> are:</a:t>
            </a:r>
          </a:p>
          <a:p>
            <a:pPr marL="342900" indent="-342900">
              <a:buFont typeface="Arial" panose="020B0604020202020204" pitchFamily="34" charset="0"/>
              <a:buChar char="•"/>
            </a:pPr>
            <a:r>
              <a:rPr lang="en-US" sz="2400" b="1" dirty="0"/>
              <a:t>{B,C}{C,D,A,C}{D,A,C}{A,A,C}{A,C}{C,D}…</a:t>
            </a:r>
          </a:p>
          <a:p>
            <a:pPr marL="342900" indent="-342900">
              <a:buFont typeface="Arial" panose="020B0604020202020204" pitchFamily="34" charset="0"/>
              <a:buChar char="•"/>
            </a:pPr>
            <a:r>
              <a:rPr lang="en-IN" sz="2400" dirty="0"/>
              <a:t>Among these </a:t>
            </a:r>
            <a:r>
              <a:rPr lang="en-IN" sz="2400" dirty="0" err="1"/>
              <a:t>subsequences</a:t>
            </a:r>
            <a:r>
              <a:rPr lang="en-IN" sz="2400" dirty="0"/>
              <a:t>, </a:t>
            </a:r>
            <a:r>
              <a:rPr lang="en-US" sz="2400" dirty="0"/>
              <a:t>{C,D,A,C}  is the longest common subsequence. We are going to find this longest common subsequence using dynamic programming.</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589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9EA35-F000-DC4E-1C12-474F957C9E8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063C348-21B4-186C-6FC9-12A300B94C72}"/>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292A1881-9C89-F73A-BF85-88DF4653C34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0BF6CEC-3172-86B9-0433-00A058F62C14}"/>
              </a:ext>
            </a:extLst>
          </p:cNvPr>
          <p:cNvSpPr>
            <a:spLocks noGrp="1"/>
          </p:cNvSpPr>
          <p:nvPr>
            <p:ph type="sldNum" sz="quarter" idx="12"/>
          </p:nvPr>
        </p:nvSpPr>
        <p:spPr/>
        <p:txBody>
          <a:bodyPr/>
          <a:lstStyle/>
          <a:p>
            <a:fld id="{B41E2F89-97C2-4B18-A593-8150592B5005}" type="slidenum">
              <a:rPr lang="en-US" smtClean="0"/>
              <a:t>40</a:t>
            </a:fld>
            <a:endParaRPr lang="en-US" dirty="0"/>
          </a:p>
        </p:txBody>
      </p:sp>
      <p:sp>
        <p:nvSpPr>
          <p:cNvPr id="7" name="Title 1">
            <a:extLst>
              <a:ext uri="{FF2B5EF4-FFF2-40B4-BE49-F238E27FC236}">
                <a16:creationId xmlns:a16="http://schemas.microsoft.com/office/drawing/2014/main" id="{DD15B76D-700D-48F4-815D-87F6FEAC8A2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38B5D065-7F64-F26A-AB8B-65D12A34CF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C3AD6381-1241-ADC1-6402-3E2E6C6D3F98}"/>
              </a:ext>
            </a:extLst>
          </p:cNvPr>
          <p:cNvSpPr>
            <a:spLocks noGrp="1"/>
          </p:cNvSpPr>
          <p:nvPr>
            <p:ph idx="1"/>
          </p:nvPr>
        </p:nvSpPr>
        <p:spPr>
          <a:xfrm>
            <a:off x="457200" y="1181099"/>
            <a:ext cx="10689518" cy="5047811"/>
          </a:xfrm>
        </p:spPr>
        <p:txBody>
          <a:bodyPr>
            <a:normAutofit/>
          </a:bodyPr>
          <a:lstStyle/>
          <a:p>
            <a:pPr marL="0" indent="0">
              <a:buNone/>
            </a:pPr>
            <a:r>
              <a:rPr lang="en-US" b="1" dirty="0"/>
              <a:t>Using Dynamic Programming to find the LCS</a:t>
            </a:r>
          </a:p>
          <a:p>
            <a:r>
              <a:rPr lang="en-US" dirty="0"/>
              <a:t>Let us take two sequences:</a:t>
            </a:r>
          </a:p>
          <a:p>
            <a:endParaRPr lang="en-US" dirty="0"/>
          </a:p>
          <a:p>
            <a:endParaRPr lang="en-US" dirty="0"/>
          </a:p>
          <a:p>
            <a:endParaRPr lang="en-US" dirty="0"/>
          </a:p>
          <a:p>
            <a:r>
              <a:rPr lang="en-US" dirty="0"/>
              <a:t>The following steps are followed for finding the longest common subsequence.</a:t>
            </a:r>
          </a:p>
          <a:p>
            <a:r>
              <a:rPr lang="en-US" dirty="0"/>
              <a:t>Create a table of dimension n+1*m+1 where n and m are the lengths of X and Y respectively. The first row and the first column are filled with zeros.</a:t>
            </a:r>
          </a:p>
          <a:p>
            <a:pPr marL="0" indent="0">
              <a:buNone/>
            </a:pPr>
            <a:endParaRPr lang="en-US" sz="2200" dirty="0"/>
          </a:p>
        </p:txBody>
      </p:sp>
      <p:pic>
        <p:nvPicPr>
          <p:cNvPr id="3" name="Picture 2" descr="Longest Common Subsequence first sequence">
            <a:extLst>
              <a:ext uri="{FF2B5EF4-FFF2-40B4-BE49-F238E27FC236}">
                <a16:creationId xmlns:a16="http://schemas.microsoft.com/office/drawing/2014/main" id="{4F715E58-4C17-12D4-1CCC-11E0F7E26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264" y="2204864"/>
            <a:ext cx="5338936" cy="7200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Longest Common Subsequence first sequence">
            <a:extLst>
              <a:ext uri="{FF2B5EF4-FFF2-40B4-BE49-F238E27FC236}">
                <a16:creationId xmlns:a16="http://schemas.microsoft.com/office/drawing/2014/main" id="{0B4C2409-E118-7CE4-784E-7FA8D7929E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282" y="3052384"/>
            <a:ext cx="5614950" cy="736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741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6D0B-03AA-FFD6-F4D3-2F1B9064C3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231F29D-D3BE-63E7-0F2F-A5A212EF53A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64E56B93-D6E5-8620-4ED7-8C6B2F30F14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4E29E64-2440-2392-E5F0-02065977269B}"/>
              </a:ext>
            </a:extLst>
          </p:cNvPr>
          <p:cNvSpPr>
            <a:spLocks noGrp="1"/>
          </p:cNvSpPr>
          <p:nvPr>
            <p:ph type="sldNum" sz="quarter" idx="12"/>
          </p:nvPr>
        </p:nvSpPr>
        <p:spPr/>
        <p:txBody>
          <a:bodyPr/>
          <a:lstStyle/>
          <a:p>
            <a:fld id="{B41E2F89-97C2-4B18-A593-8150592B5005}" type="slidenum">
              <a:rPr lang="en-US" smtClean="0"/>
              <a:t>41</a:t>
            </a:fld>
            <a:endParaRPr lang="en-US" dirty="0"/>
          </a:p>
        </p:txBody>
      </p:sp>
      <p:sp>
        <p:nvSpPr>
          <p:cNvPr id="7" name="Title 1">
            <a:extLst>
              <a:ext uri="{FF2B5EF4-FFF2-40B4-BE49-F238E27FC236}">
                <a16:creationId xmlns:a16="http://schemas.microsoft.com/office/drawing/2014/main" id="{4CD62AF7-1F0E-91FC-E5BB-DBE2520A57F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9CFA2A7B-88D5-C7BD-1ACE-DD864F4E7B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DA141DC0-59D6-C148-6C16-2777A3CB6952}"/>
              </a:ext>
            </a:extLst>
          </p:cNvPr>
          <p:cNvSpPr>
            <a:spLocks noGrp="1"/>
          </p:cNvSpPr>
          <p:nvPr>
            <p:ph idx="1"/>
          </p:nvPr>
        </p:nvSpPr>
        <p:spPr>
          <a:xfrm>
            <a:off x="228600" y="4664466"/>
            <a:ext cx="11288730" cy="1596509"/>
          </a:xfrm>
        </p:spPr>
        <p:txBody>
          <a:bodyPr>
            <a:normAutofit fontScale="70000" lnSpcReduction="20000"/>
          </a:bodyPr>
          <a:lstStyle/>
          <a:p>
            <a:r>
              <a:rPr lang="en-US" dirty="0"/>
              <a:t>Fill each cell of the table using the following logic.</a:t>
            </a:r>
          </a:p>
          <a:p>
            <a:r>
              <a:rPr lang="en-US" dirty="0"/>
              <a:t>If the character corresponding to the current row and current column are matching, then fill the current cell by adding one to the diagonal element. Point an arrow to the diagonal cell.</a:t>
            </a:r>
          </a:p>
          <a:p>
            <a:r>
              <a:rPr lang="en-US" dirty="0"/>
              <a:t>Else take the maximum value from the previous column and previous row element for filling the current cell. Point an arrow to the cell with maximum value. If they are equal, point to any of them.</a:t>
            </a:r>
          </a:p>
        </p:txBody>
      </p:sp>
      <p:pic>
        <p:nvPicPr>
          <p:cNvPr id="3" name="Picture 2" descr="Longest Common Subsequence initialise table">
            <a:extLst>
              <a:ext uri="{FF2B5EF4-FFF2-40B4-BE49-F238E27FC236}">
                <a16:creationId xmlns:a16="http://schemas.microsoft.com/office/drawing/2014/main" id="{AFBF851F-7B13-5E2C-42B2-FE36606AF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592" y="1315093"/>
            <a:ext cx="9976207" cy="2845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055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52FE3-C059-6FB3-5FF2-F9242ABA49F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B600C43-C352-8CA0-619A-CB511A370B2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0DA8C1F0-E1F6-544D-0B11-D5B17F683780}"/>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79CC887-A35A-1FC8-C975-38CEE9AEF194}"/>
              </a:ext>
            </a:extLst>
          </p:cNvPr>
          <p:cNvSpPr>
            <a:spLocks noGrp="1"/>
          </p:cNvSpPr>
          <p:nvPr>
            <p:ph type="sldNum" sz="quarter" idx="12"/>
          </p:nvPr>
        </p:nvSpPr>
        <p:spPr/>
        <p:txBody>
          <a:bodyPr/>
          <a:lstStyle/>
          <a:p>
            <a:fld id="{B41E2F89-97C2-4B18-A593-8150592B5005}" type="slidenum">
              <a:rPr lang="en-US" smtClean="0"/>
              <a:t>42</a:t>
            </a:fld>
            <a:endParaRPr lang="en-US" dirty="0"/>
          </a:p>
        </p:txBody>
      </p:sp>
      <p:sp>
        <p:nvSpPr>
          <p:cNvPr id="7" name="Title 1">
            <a:extLst>
              <a:ext uri="{FF2B5EF4-FFF2-40B4-BE49-F238E27FC236}">
                <a16:creationId xmlns:a16="http://schemas.microsoft.com/office/drawing/2014/main" id="{4F363A4D-753D-0016-8639-1DCEB2414BDF}"/>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ED494911-690B-BE98-AC30-5FB8B6CC9A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BE0DB78B-5777-48ED-BEDF-CBED4C43FF2D}"/>
              </a:ext>
            </a:extLst>
          </p:cNvPr>
          <p:cNvSpPr>
            <a:spLocks noGrp="1"/>
          </p:cNvSpPr>
          <p:nvPr>
            <p:ph idx="1"/>
          </p:nvPr>
        </p:nvSpPr>
        <p:spPr>
          <a:xfrm>
            <a:off x="457200" y="4609542"/>
            <a:ext cx="8382000" cy="722746"/>
          </a:xfrm>
        </p:spPr>
        <p:txBody>
          <a:bodyPr>
            <a:normAutofit/>
          </a:bodyPr>
          <a:lstStyle/>
          <a:p>
            <a:r>
              <a:rPr lang="en-US" b="1" dirty="0"/>
              <a:t>Step 2</a:t>
            </a:r>
            <a:r>
              <a:rPr lang="en-US" dirty="0"/>
              <a:t> is repeated until the table is filled.</a:t>
            </a:r>
            <a:endParaRPr lang="en-US" sz="2200" dirty="0"/>
          </a:p>
        </p:txBody>
      </p:sp>
      <p:pic>
        <p:nvPicPr>
          <p:cNvPr id="3" name="Picture 2" descr="Longest Common Subsequence fill the values">
            <a:extLst>
              <a:ext uri="{FF2B5EF4-FFF2-40B4-BE49-F238E27FC236}">
                <a16:creationId xmlns:a16="http://schemas.microsoft.com/office/drawing/2014/main" id="{2B4F6E09-0B70-20C7-DACF-F95F19DEB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143000"/>
            <a:ext cx="7544610" cy="3182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101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B5E0D-7C5F-F03D-2F0F-5E0DD2E6BD9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919FF0-4CDD-6B5A-7908-E9112B8B34DD}"/>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D9E41454-1CA0-A108-749E-DDC52D2C924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46E0AFD-1BB1-D385-5D76-7411B50AB1C3}"/>
              </a:ext>
            </a:extLst>
          </p:cNvPr>
          <p:cNvSpPr>
            <a:spLocks noGrp="1"/>
          </p:cNvSpPr>
          <p:nvPr>
            <p:ph type="sldNum" sz="quarter" idx="12"/>
          </p:nvPr>
        </p:nvSpPr>
        <p:spPr/>
        <p:txBody>
          <a:bodyPr/>
          <a:lstStyle/>
          <a:p>
            <a:fld id="{B41E2F89-97C2-4B18-A593-8150592B5005}" type="slidenum">
              <a:rPr lang="en-US" smtClean="0"/>
              <a:t>43</a:t>
            </a:fld>
            <a:endParaRPr lang="en-US" dirty="0"/>
          </a:p>
        </p:txBody>
      </p:sp>
      <p:sp>
        <p:nvSpPr>
          <p:cNvPr id="7" name="Title 1">
            <a:extLst>
              <a:ext uri="{FF2B5EF4-FFF2-40B4-BE49-F238E27FC236}">
                <a16:creationId xmlns:a16="http://schemas.microsoft.com/office/drawing/2014/main" id="{58A7BB89-DA59-AB36-A95E-E6281429D46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D25E75CD-FAAC-4F46-6C27-055CA40119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Content Placeholder 2">
            <a:extLst>
              <a:ext uri="{FF2B5EF4-FFF2-40B4-BE49-F238E27FC236}">
                <a16:creationId xmlns:a16="http://schemas.microsoft.com/office/drawing/2014/main" id="{60B896AA-C420-1862-C432-A408CBB1D860}"/>
              </a:ext>
            </a:extLst>
          </p:cNvPr>
          <p:cNvSpPr>
            <a:spLocks noGrp="1"/>
          </p:cNvSpPr>
          <p:nvPr>
            <p:ph idx="1"/>
          </p:nvPr>
        </p:nvSpPr>
        <p:spPr>
          <a:xfrm>
            <a:off x="838200" y="4787757"/>
            <a:ext cx="10679130" cy="1156766"/>
          </a:xfrm>
        </p:spPr>
        <p:txBody>
          <a:bodyPr>
            <a:normAutofit/>
          </a:bodyPr>
          <a:lstStyle/>
          <a:p>
            <a:r>
              <a:rPr lang="en-US" dirty="0"/>
              <a:t>The value in the last row and the last column is the length of the longest common subsequence.</a:t>
            </a:r>
            <a:endParaRPr lang="en-US" sz="2200" dirty="0"/>
          </a:p>
        </p:txBody>
      </p:sp>
      <p:pic>
        <p:nvPicPr>
          <p:cNvPr id="12" name="Picture 2" descr="Longest Common Subsequence fill all the values">
            <a:extLst>
              <a:ext uri="{FF2B5EF4-FFF2-40B4-BE49-F238E27FC236}">
                <a16:creationId xmlns:a16="http://schemas.microsoft.com/office/drawing/2014/main" id="{0C6FDD07-732C-49D1-CB45-6FF6BDF96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44603"/>
            <a:ext cx="10470222" cy="3730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869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DD07F-5E35-DE6F-D3FF-234BB6DF0D2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5A7F0C9-0726-1A32-9D29-4203318C4DA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5282649A-E024-8B30-68DE-4965B79A636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52EA077-01D4-6CB1-2FD1-A8456B4FD652}"/>
              </a:ext>
            </a:extLst>
          </p:cNvPr>
          <p:cNvSpPr>
            <a:spLocks noGrp="1"/>
          </p:cNvSpPr>
          <p:nvPr>
            <p:ph type="sldNum" sz="quarter" idx="12"/>
          </p:nvPr>
        </p:nvSpPr>
        <p:spPr/>
        <p:txBody>
          <a:bodyPr/>
          <a:lstStyle/>
          <a:p>
            <a:fld id="{B41E2F89-97C2-4B18-A593-8150592B5005}" type="slidenum">
              <a:rPr lang="en-US" smtClean="0"/>
              <a:t>44</a:t>
            </a:fld>
            <a:endParaRPr lang="en-US" dirty="0"/>
          </a:p>
        </p:txBody>
      </p:sp>
      <p:sp>
        <p:nvSpPr>
          <p:cNvPr id="7" name="Title 1">
            <a:extLst>
              <a:ext uri="{FF2B5EF4-FFF2-40B4-BE49-F238E27FC236}">
                <a16:creationId xmlns:a16="http://schemas.microsoft.com/office/drawing/2014/main" id="{47EA818F-0C2E-29F8-B36D-F1E61D064D2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8633C062-40AC-373E-46BF-6FFC4222CA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Content Placeholder 2">
            <a:extLst>
              <a:ext uri="{FF2B5EF4-FFF2-40B4-BE49-F238E27FC236}">
                <a16:creationId xmlns:a16="http://schemas.microsoft.com/office/drawing/2014/main" id="{846EA433-34A8-93AC-C88F-99625C2A771B}"/>
              </a:ext>
            </a:extLst>
          </p:cNvPr>
          <p:cNvSpPr txBox="1">
            <a:spLocks/>
          </p:cNvSpPr>
          <p:nvPr/>
        </p:nvSpPr>
        <p:spPr>
          <a:xfrm>
            <a:off x="534256" y="4787756"/>
            <a:ext cx="11219380" cy="16644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order to find the longest common subsequence, start from the last element and follow the direction of the arrow. The elements corresponding to () symbol form the longest common subsequence.</a:t>
            </a:r>
            <a:endParaRPr lang="en-US" sz="2200" dirty="0"/>
          </a:p>
        </p:txBody>
      </p:sp>
      <p:pic>
        <p:nvPicPr>
          <p:cNvPr id="10" name="Picture 2" descr="Longest Common Subsequence length">
            <a:extLst>
              <a:ext uri="{FF2B5EF4-FFF2-40B4-BE49-F238E27FC236}">
                <a16:creationId xmlns:a16="http://schemas.microsoft.com/office/drawing/2014/main" id="{B7F1C4E2-3E3F-8474-3C11-560A056B5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799" y="928335"/>
            <a:ext cx="9473629" cy="3674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188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B7F5-0490-185A-5CA0-F4AA65FE15C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AE5622-9420-14F0-3A51-9EF3BA94B90A}"/>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676D9B31-6C99-AB37-D42A-7FC192C8599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0EB2BC5-396D-C26A-6806-AE3A2865C12B}"/>
              </a:ext>
            </a:extLst>
          </p:cNvPr>
          <p:cNvSpPr>
            <a:spLocks noGrp="1"/>
          </p:cNvSpPr>
          <p:nvPr>
            <p:ph type="sldNum" sz="quarter" idx="12"/>
          </p:nvPr>
        </p:nvSpPr>
        <p:spPr/>
        <p:txBody>
          <a:bodyPr/>
          <a:lstStyle/>
          <a:p>
            <a:fld id="{B41E2F89-97C2-4B18-A593-8150592B5005}" type="slidenum">
              <a:rPr lang="en-US" smtClean="0"/>
              <a:t>45</a:t>
            </a:fld>
            <a:endParaRPr lang="en-US" dirty="0"/>
          </a:p>
        </p:txBody>
      </p:sp>
      <p:sp>
        <p:nvSpPr>
          <p:cNvPr id="7" name="Title 1">
            <a:extLst>
              <a:ext uri="{FF2B5EF4-FFF2-40B4-BE49-F238E27FC236}">
                <a16:creationId xmlns:a16="http://schemas.microsoft.com/office/drawing/2014/main" id="{59673280-5CF4-2FD2-D3C9-8333C819F56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5503D5B6-FBD8-71F1-E890-6E16BD15EB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21E221B4-6F4C-4DFE-D76D-735183E53551}"/>
              </a:ext>
            </a:extLst>
          </p:cNvPr>
          <p:cNvSpPr>
            <a:spLocks noGrp="1"/>
          </p:cNvSpPr>
          <p:nvPr>
            <p:ph idx="1"/>
          </p:nvPr>
        </p:nvSpPr>
        <p:spPr>
          <a:xfrm>
            <a:off x="457200" y="5280916"/>
            <a:ext cx="8382000" cy="947993"/>
          </a:xfrm>
        </p:spPr>
        <p:txBody>
          <a:bodyPr>
            <a:normAutofit/>
          </a:bodyPr>
          <a:lstStyle/>
          <a:p>
            <a:r>
              <a:rPr lang="en-US" dirty="0"/>
              <a:t>Thus, the longest common subsequence is C,A</a:t>
            </a:r>
            <a:endParaRPr lang="en-US" sz="2200" dirty="0"/>
          </a:p>
        </p:txBody>
      </p:sp>
      <p:pic>
        <p:nvPicPr>
          <p:cNvPr id="3" name="Picture 2" descr="Longest Common Subsequence create a path">
            <a:extLst>
              <a:ext uri="{FF2B5EF4-FFF2-40B4-BE49-F238E27FC236}">
                <a16:creationId xmlns:a16="http://schemas.microsoft.com/office/drawing/2014/main" id="{F5B599EF-4A1B-0E08-841E-DEBA59CC3D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528" y="831517"/>
            <a:ext cx="11030272" cy="4321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6384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ECFF-6481-C811-2F95-C7A1A8D6A1A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D7FB1FB-6B35-A3B3-5CC8-1F8EB7599CC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49F2DA99-FE1A-9C1D-A43D-859B4F07918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8162B38-6BE0-925B-37BF-AE150F9E5531}"/>
              </a:ext>
            </a:extLst>
          </p:cNvPr>
          <p:cNvSpPr>
            <a:spLocks noGrp="1"/>
          </p:cNvSpPr>
          <p:nvPr>
            <p:ph type="sldNum" sz="quarter" idx="12"/>
          </p:nvPr>
        </p:nvSpPr>
        <p:spPr/>
        <p:txBody>
          <a:bodyPr/>
          <a:lstStyle/>
          <a:p>
            <a:fld id="{B41E2F89-97C2-4B18-A593-8150592B5005}" type="slidenum">
              <a:rPr lang="en-US" smtClean="0"/>
              <a:t>46</a:t>
            </a:fld>
            <a:endParaRPr lang="en-US" dirty="0"/>
          </a:p>
        </p:txBody>
      </p:sp>
      <p:sp>
        <p:nvSpPr>
          <p:cNvPr id="7" name="Title 1">
            <a:extLst>
              <a:ext uri="{FF2B5EF4-FFF2-40B4-BE49-F238E27FC236}">
                <a16:creationId xmlns:a16="http://schemas.microsoft.com/office/drawing/2014/main" id="{BA9689EB-D041-35EF-BE2C-17EB4CF94C7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10D193A7-37F2-78A0-A3C0-F012886881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Content Placeholder 8">
            <a:extLst>
              <a:ext uri="{FF2B5EF4-FFF2-40B4-BE49-F238E27FC236}">
                <a16:creationId xmlns:a16="http://schemas.microsoft.com/office/drawing/2014/main" id="{0F43C450-CD45-D394-6292-F787751DF79C}"/>
              </a:ext>
            </a:extLst>
          </p:cNvPr>
          <p:cNvSpPr>
            <a:spLocks noGrp="1"/>
          </p:cNvSpPr>
          <p:nvPr>
            <p:ph idx="1"/>
          </p:nvPr>
        </p:nvSpPr>
        <p:spPr>
          <a:xfrm>
            <a:off x="838200" y="1315092"/>
            <a:ext cx="10515600" cy="4861871"/>
          </a:xfrm>
        </p:spPr>
        <p:txBody>
          <a:bodyPr/>
          <a:lstStyle/>
          <a:p>
            <a:pPr marL="0" indent="0">
              <a:buNone/>
            </a:pPr>
            <a:r>
              <a:rPr lang="en-US" b="1" dirty="0"/>
              <a:t>How is a dynamic programming algorithm more efficient than the recursive algorithm while solving an LCS problem?</a:t>
            </a:r>
          </a:p>
          <a:p>
            <a:r>
              <a:rPr lang="en-US" dirty="0"/>
              <a:t>The method of dynamic programming reduces the number of function calls. It stores the result of each function call so that it can be used in future calls without the need for redundant calls.</a:t>
            </a:r>
          </a:p>
          <a:p>
            <a:r>
              <a:rPr lang="en-US" dirty="0"/>
              <a:t>In the above dynamic algorithm, the results obtained from each comparison between elements of X </a:t>
            </a:r>
            <a:r>
              <a:rPr lang="en-IN" dirty="0"/>
              <a:t>and the elements of Y </a:t>
            </a:r>
            <a:r>
              <a:rPr lang="en-US" dirty="0"/>
              <a:t> are stored in a table so that they can be used in future computations.</a:t>
            </a:r>
          </a:p>
          <a:p>
            <a:r>
              <a:rPr lang="en-US" dirty="0"/>
              <a:t>So, the time taken by a dynamic approach is the time taken to fill the table (</a:t>
            </a:r>
            <a:r>
              <a:rPr lang="en-US" dirty="0" err="1"/>
              <a:t>ie</a:t>
            </a:r>
            <a:r>
              <a:rPr lang="en-US" dirty="0"/>
              <a:t>. O(</a:t>
            </a:r>
            <a:r>
              <a:rPr lang="en-US" dirty="0" err="1"/>
              <a:t>mn</a:t>
            </a:r>
            <a:r>
              <a:rPr lang="en-US" dirty="0"/>
              <a:t>)). Whereas, the recursion algorithm has the complexity of 2</a:t>
            </a:r>
            <a:r>
              <a:rPr lang="en-US" baseline="30000" dirty="0"/>
              <a:t>max(</a:t>
            </a:r>
            <a:r>
              <a:rPr lang="en-US" baseline="30000" dirty="0" err="1"/>
              <a:t>m,n</a:t>
            </a:r>
            <a:r>
              <a:rPr lang="en-US" baseline="30000" dirty="0"/>
              <a:t>)</a:t>
            </a:r>
          </a:p>
          <a:p>
            <a:endParaRPr lang="en-US" sz="2000" dirty="0"/>
          </a:p>
        </p:txBody>
      </p:sp>
    </p:spTree>
    <p:extLst>
      <p:ext uri="{BB962C8B-B14F-4D97-AF65-F5344CB8AC3E}">
        <p14:creationId xmlns:p14="http://schemas.microsoft.com/office/powerpoint/2010/main" val="939256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E0F1-19EF-F69F-9E5F-A2095FB90C6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FE8EFB7-25A4-B4DA-569F-572028993AE9}"/>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3FA3801C-C0E9-C399-003A-D12E2157EFB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2912202-C83A-13D0-893A-FE3D80F0AD80}"/>
              </a:ext>
            </a:extLst>
          </p:cNvPr>
          <p:cNvSpPr>
            <a:spLocks noGrp="1"/>
          </p:cNvSpPr>
          <p:nvPr>
            <p:ph type="sldNum" sz="quarter" idx="12"/>
          </p:nvPr>
        </p:nvSpPr>
        <p:spPr/>
        <p:txBody>
          <a:bodyPr/>
          <a:lstStyle/>
          <a:p>
            <a:fld id="{B41E2F89-97C2-4B18-A593-8150592B5005}" type="slidenum">
              <a:rPr lang="en-US" smtClean="0"/>
              <a:t>47</a:t>
            </a:fld>
            <a:endParaRPr lang="en-US" dirty="0"/>
          </a:p>
        </p:txBody>
      </p:sp>
      <p:sp>
        <p:nvSpPr>
          <p:cNvPr id="7" name="Title 1">
            <a:extLst>
              <a:ext uri="{FF2B5EF4-FFF2-40B4-BE49-F238E27FC236}">
                <a16:creationId xmlns:a16="http://schemas.microsoft.com/office/drawing/2014/main" id="{7FF405FD-115E-4E1A-D3A2-2D96769E354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FC43641B-2B72-2830-C929-7B45C87ECC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3CCC8834-FFF6-9747-D60B-087BFA80581B}"/>
              </a:ext>
            </a:extLst>
          </p:cNvPr>
          <p:cNvSpPr>
            <a:spLocks noGrp="1"/>
          </p:cNvSpPr>
          <p:nvPr>
            <p:ph idx="1"/>
          </p:nvPr>
        </p:nvSpPr>
        <p:spPr>
          <a:xfrm>
            <a:off x="457200" y="986319"/>
            <a:ext cx="8382000" cy="5455578"/>
          </a:xfrm>
        </p:spPr>
        <p:txBody>
          <a:bodyPr>
            <a:normAutofit fontScale="77500" lnSpcReduction="20000"/>
          </a:bodyPr>
          <a:lstStyle/>
          <a:p>
            <a:pPr marL="0" indent="0">
              <a:buNone/>
            </a:pPr>
            <a:r>
              <a:rPr lang="en-IN" b="1" dirty="0"/>
              <a:t>Longest Common Subsequence Algorithm</a:t>
            </a:r>
          </a:p>
          <a:p>
            <a:pPr marL="0" indent="0">
              <a:buNone/>
            </a:pPr>
            <a:r>
              <a:rPr lang="en-IN" dirty="0"/>
              <a:t>X and Y be two given sequences</a:t>
            </a:r>
          </a:p>
          <a:p>
            <a:pPr marL="0" indent="0">
              <a:buNone/>
            </a:pPr>
            <a:r>
              <a:rPr lang="en-IN" dirty="0"/>
              <a:t>Initialize a table LCS of dimension X.length+1 * Y.length+1</a:t>
            </a:r>
          </a:p>
          <a:p>
            <a:pPr marL="0" indent="0">
              <a:buNone/>
            </a:pPr>
            <a:r>
              <a:rPr lang="en-IN" dirty="0" err="1"/>
              <a:t>X.label</a:t>
            </a:r>
            <a:r>
              <a:rPr lang="en-IN" dirty="0"/>
              <a:t> = X</a:t>
            </a:r>
          </a:p>
          <a:p>
            <a:pPr marL="0" indent="0">
              <a:buNone/>
            </a:pPr>
            <a:r>
              <a:rPr lang="en-IN" dirty="0" err="1"/>
              <a:t>Y.label</a:t>
            </a:r>
            <a:r>
              <a:rPr lang="en-IN" dirty="0"/>
              <a:t> = Y</a:t>
            </a:r>
          </a:p>
          <a:p>
            <a:pPr marL="0" indent="0">
              <a:buNone/>
            </a:pPr>
            <a:r>
              <a:rPr lang="en-IN" dirty="0"/>
              <a:t>LCS[0][] = 0</a:t>
            </a:r>
          </a:p>
          <a:p>
            <a:pPr marL="0" indent="0">
              <a:buNone/>
            </a:pPr>
            <a:r>
              <a:rPr lang="en-IN" dirty="0"/>
              <a:t>LCS[][0] = 0</a:t>
            </a:r>
          </a:p>
          <a:p>
            <a:pPr marL="0" indent="0">
              <a:buNone/>
            </a:pPr>
            <a:r>
              <a:rPr lang="en-IN" dirty="0"/>
              <a:t>Start from LCS[1][1]</a:t>
            </a:r>
          </a:p>
          <a:p>
            <a:pPr marL="0" indent="0">
              <a:buNone/>
            </a:pPr>
            <a:r>
              <a:rPr lang="en-IN" dirty="0"/>
              <a:t>Compare X[</a:t>
            </a:r>
            <a:r>
              <a:rPr lang="en-IN" dirty="0" err="1"/>
              <a:t>i</a:t>
            </a:r>
            <a:r>
              <a:rPr lang="en-IN" dirty="0"/>
              <a:t>] and Y[j]</a:t>
            </a:r>
          </a:p>
          <a:p>
            <a:pPr marL="0" indent="0">
              <a:buNone/>
            </a:pPr>
            <a:r>
              <a:rPr lang="en-IN" dirty="0"/>
              <a:t>    If X[</a:t>
            </a:r>
            <a:r>
              <a:rPr lang="en-IN" dirty="0" err="1"/>
              <a:t>i</a:t>
            </a:r>
            <a:r>
              <a:rPr lang="en-IN" dirty="0"/>
              <a:t>] = Y[j]</a:t>
            </a:r>
          </a:p>
          <a:p>
            <a:pPr marL="0" indent="0">
              <a:buNone/>
            </a:pPr>
            <a:r>
              <a:rPr lang="en-IN" dirty="0"/>
              <a:t>        LCS[</a:t>
            </a:r>
            <a:r>
              <a:rPr lang="en-IN" dirty="0" err="1"/>
              <a:t>i</a:t>
            </a:r>
            <a:r>
              <a:rPr lang="en-IN" dirty="0"/>
              <a:t>][j] = 1 + LCS[i-1, j-1]   </a:t>
            </a:r>
          </a:p>
          <a:p>
            <a:pPr marL="0" indent="0">
              <a:buNone/>
            </a:pPr>
            <a:r>
              <a:rPr lang="en-IN" dirty="0"/>
              <a:t>        Point an arrow to LCS[</a:t>
            </a:r>
            <a:r>
              <a:rPr lang="en-IN" dirty="0" err="1"/>
              <a:t>i</a:t>
            </a:r>
            <a:r>
              <a:rPr lang="en-IN" dirty="0"/>
              <a:t>][j]</a:t>
            </a:r>
          </a:p>
          <a:p>
            <a:pPr marL="0" indent="0">
              <a:buNone/>
            </a:pPr>
            <a:r>
              <a:rPr lang="en-IN" dirty="0"/>
              <a:t>    Else</a:t>
            </a:r>
          </a:p>
          <a:p>
            <a:pPr marL="0" indent="0">
              <a:buNone/>
            </a:pPr>
            <a:r>
              <a:rPr lang="en-IN" dirty="0"/>
              <a:t>        LCS[</a:t>
            </a:r>
            <a:r>
              <a:rPr lang="en-IN" dirty="0" err="1"/>
              <a:t>i</a:t>
            </a:r>
            <a:r>
              <a:rPr lang="en-IN" dirty="0"/>
              <a:t>][j] = max(LCS[i-1][j], LCS[</a:t>
            </a:r>
            <a:r>
              <a:rPr lang="en-IN" dirty="0" err="1"/>
              <a:t>i</a:t>
            </a:r>
            <a:r>
              <a:rPr lang="en-IN" dirty="0"/>
              <a:t>][j-1])</a:t>
            </a:r>
          </a:p>
          <a:p>
            <a:pPr marL="0" indent="0">
              <a:buNone/>
            </a:pPr>
            <a:r>
              <a:rPr lang="en-IN" dirty="0"/>
              <a:t>        Point an arrow to max(LCS[i-1][j], LCS[</a:t>
            </a:r>
            <a:r>
              <a:rPr lang="en-IN" dirty="0" err="1"/>
              <a:t>i</a:t>
            </a:r>
            <a:r>
              <a:rPr lang="en-IN" dirty="0"/>
              <a:t>][j-1])</a:t>
            </a:r>
          </a:p>
          <a:p>
            <a:pPr marL="0" indent="0">
              <a:buNone/>
            </a:pPr>
            <a:endParaRPr lang="en-IN" b="1" dirty="0"/>
          </a:p>
          <a:p>
            <a:pPr marL="0" indent="0">
              <a:buNone/>
            </a:pPr>
            <a:endParaRPr lang="en-US" sz="2200" dirty="0"/>
          </a:p>
        </p:txBody>
      </p:sp>
    </p:spTree>
    <p:extLst>
      <p:ext uri="{BB962C8B-B14F-4D97-AF65-F5344CB8AC3E}">
        <p14:creationId xmlns:p14="http://schemas.microsoft.com/office/powerpoint/2010/main" val="1743534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C636-A5DA-ABDF-4A98-030925873EF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40B4182-6591-6C6E-FD59-B6A3A6186752}"/>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AD2853B-00D0-462D-84CB-EDD5BB954D7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62D37D1-6355-E2FB-A5D8-4AFC7E414438}"/>
              </a:ext>
            </a:extLst>
          </p:cNvPr>
          <p:cNvSpPr>
            <a:spLocks noGrp="1"/>
          </p:cNvSpPr>
          <p:nvPr>
            <p:ph type="sldNum" sz="quarter" idx="12"/>
          </p:nvPr>
        </p:nvSpPr>
        <p:spPr/>
        <p:txBody>
          <a:bodyPr/>
          <a:lstStyle/>
          <a:p>
            <a:fld id="{B41E2F89-97C2-4B18-A593-8150592B5005}" type="slidenum">
              <a:rPr lang="en-US" smtClean="0"/>
              <a:t>48</a:t>
            </a:fld>
            <a:endParaRPr lang="en-US" dirty="0"/>
          </a:p>
        </p:txBody>
      </p:sp>
      <p:sp>
        <p:nvSpPr>
          <p:cNvPr id="7" name="Title 1">
            <a:extLst>
              <a:ext uri="{FF2B5EF4-FFF2-40B4-BE49-F238E27FC236}">
                <a16:creationId xmlns:a16="http://schemas.microsoft.com/office/drawing/2014/main" id="{E8ED204F-4ABC-2623-043D-D4B90F0F3E4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539D1AF2-2FFF-80E1-0620-2A1906F093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3CE07E4A-7639-2321-1EC1-6D6F841B80F8}"/>
              </a:ext>
            </a:extLst>
          </p:cNvPr>
          <p:cNvSpPr>
            <a:spLocks noGrp="1"/>
          </p:cNvSpPr>
          <p:nvPr>
            <p:ph idx="1"/>
          </p:nvPr>
        </p:nvSpPr>
        <p:spPr>
          <a:xfrm>
            <a:off x="838200" y="1695236"/>
            <a:ext cx="10515600" cy="4481727"/>
          </a:xfrm>
        </p:spPr>
        <p:txBody>
          <a:bodyPr/>
          <a:lstStyle/>
          <a:p>
            <a:r>
              <a:rPr lang="en-US" b="1" dirty="0"/>
              <a:t>Matrix Chain Multiplication </a:t>
            </a:r>
            <a:r>
              <a:rPr lang="en-US" dirty="0"/>
              <a:t>is an algorithm that is applied to determine the lowest cost way for multiplying matrices. </a:t>
            </a:r>
          </a:p>
          <a:p>
            <a:r>
              <a:rPr lang="en-US" dirty="0"/>
              <a:t>The actual multiplication is done using the standard way of multiplying the matrices, i.e., it follows the basic rule that the number of rows in one matrix must be equal to the number of columns in another matrix. </a:t>
            </a:r>
          </a:p>
          <a:p>
            <a:r>
              <a:rPr lang="en-US" dirty="0"/>
              <a:t>Hence, multiple scalar multiplications must be done to achieve the product.</a:t>
            </a:r>
            <a:endParaRPr lang="en-IN" b="1" dirty="0"/>
          </a:p>
        </p:txBody>
      </p:sp>
    </p:spTree>
    <p:extLst>
      <p:ext uri="{BB962C8B-B14F-4D97-AF65-F5344CB8AC3E}">
        <p14:creationId xmlns:p14="http://schemas.microsoft.com/office/powerpoint/2010/main" val="3704135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E71E8-B83E-C56A-6B54-270A58D6E0D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1A268FA-9A64-2B15-244A-C3986EDE970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D1F57ACF-67E0-F728-7499-0CDC6584A7EA}"/>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1F8B551-9D0E-15A1-CCC6-7C8B1EF3E641}"/>
              </a:ext>
            </a:extLst>
          </p:cNvPr>
          <p:cNvSpPr>
            <a:spLocks noGrp="1"/>
          </p:cNvSpPr>
          <p:nvPr>
            <p:ph type="sldNum" sz="quarter" idx="12"/>
          </p:nvPr>
        </p:nvSpPr>
        <p:spPr/>
        <p:txBody>
          <a:bodyPr/>
          <a:lstStyle/>
          <a:p>
            <a:fld id="{B41E2F89-97C2-4B18-A593-8150592B5005}" type="slidenum">
              <a:rPr lang="en-US" smtClean="0"/>
              <a:t>49</a:t>
            </a:fld>
            <a:endParaRPr lang="en-US" dirty="0"/>
          </a:p>
        </p:txBody>
      </p:sp>
      <p:sp>
        <p:nvSpPr>
          <p:cNvPr id="7" name="Title 1">
            <a:extLst>
              <a:ext uri="{FF2B5EF4-FFF2-40B4-BE49-F238E27FC236}">
                <a16:creationId xmlns:a16="http://schemas.microsoft.com/office/drawing/2014/main" id="{1E54D9B3-15B0-801E-DE94-BA0FA875F17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2E44B68E-B615-435F-BF9B-CA1E5184CB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4121A37C-8E24-0CDB-94A3-3D4097F911EE}"/>
              </a:ext>
            </a:extLst>
          </p:cNvPr>
          <p:cNvSpPr>
            <a:spLocks noGrp="1"/>
          </p:cNvSpPr>
          <p:nvPr>
            <p:ph idx="1"/>
          </p:nvPr>
        </p:nvSpPr>
        <p:spPr>
          <a:xfrm>
            <a:off x="838200" y="976044"/>
            <a:ext cx="10515600" cy="5200919"/>
          </a:xfrm>
        </p:spPr>
        <p:txBody>
          <a:bodyPr>
            <a:normAutofit/>
          </a:bodyPr>
          <a:lstStyle/>
          <a:p>
            <a:r>
              <a:rPr lang="en-US" dirty="0"/>
              <a:t>consider matrices A, B, C, and D, to be multiplied; hence, the multiplication is done using the standard matrix multiplication. There are multiple combinations of the matrices found while using the standard approach since matrix multiplication is associative. For instance, there are five ways to multiply the four matrices given above −</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endParaRPr lang="en-US" dirty="0"/>
          </a:p>
        </p:txBody>
      </p:sp>
    </p:spTree>
    <p:extLst>
      <p:ext uri="{BB962C8B-B14F-4D97-AF65-F5344CB8AC3E}">
        <p14:creationId xmlns:p14="http://schemas.microsoft.com/office/powerpoint/2010/main" val="1906231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CBAE-16C5-1295-8773-D65B46C5FB1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457D81F-F7C2-0226-A335-784B6050F27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3F4613E1-64BB-6993-2E25-BE2D20FF8F5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6987ACC-AD8D-C838-658D-263F3AD868F1}"/>
              </a:ext>
            </a:extLst>
          </p:cNvPr>
          <p:cNvSpPr>
            <a:spLocks noGrp="1"/>
          </p:cNvSpPr>
          <p:nvPr>
            <p:ph type="sldNum" sz="quarter" idx="12"/>
          </p:nvPr>
        </p:nvSpPr>
        <p:spPr/>
        <p:txBody>
          <a:bodyPr/>
          <a:lstStyle/>
          <a:p>
            <a:fld id="{B41E2F89-97C2-4B18-A593-8150592B5005}" type="slidenum">
              <a:rPr lang="en-US" smtClean="0"/>
              <a:t>50</a:t>
            </a:fld>
            <a:endParaRPr lang="en-US" dirty="0"/>
          </a:p>
        </p:txBody>
      </p:sp>
      <p:sp>
        <p:nvSpPr>
          <p:cNvPr id="7" name="Title 1">
            <a:extLst>
              <a:ext uri="{FF2B5EF4-FFF2-40B4-BE49-F238E27FC236}">
                <a16:creationId xmlns:a16="http://schemas.microsoft.com/office/drawing/2014/main" id="{6B5E7479-2F5A-5499-CE2F-124582E2E76D}"/>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16806CF3-90C8-89BB-DEB7-37C9412D2B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TextBox 10">
            <a:extLst>
              <a:ext uri="{FF2B5EF4-FFF2-40B4-BE49-F238E27FC236}">
                <a16:creationId xmlns:a16="http://schemas.microsoft.com/office/drawing/2014/main" id="{083E339E-C046-6D92-457E-522969B44177}"/>
              </a:ext>
            </a:extLst>
          </p:cNvPr>
          <p:cNvSpPr txBox="1"/>
          <p:nvPr/>
        </p:nvSpPr>
        <p:spPr>
          <a:xfrm>
            <a:off x="523982" y="1841360"/>
            <a:ext cx="11054992" cy="3970318"/>
          </a:xfrm>
          <a:prstGeom prst="rect">
            <a:avLst/>
          </a:prstGeom>
          <a:noFill/>
        </p:spPr>
        <p:txBody>
          <a:bodyPr wrap="square">
            <a:spAutoFit/>
          </a:bodyPr>
          <a:lstStyle/>
          <a:p>
            <a:pPr marL="457200" indent="-457200">
              <a:buFont typeface="Arial" panose="020B0604020202020204" pitchFamily="34" charset="0"/>
              <a:buChar char="•"/>
            </a:pPr>
            <a:r>
              <a:rPr lang="en-US" sz="2800" dirty="0"/>
              <a:t>Now, if the size of matrices A, B, C, and D are </a:t>
            </a:r>
            <a:r>
              <a:rPr lang="en-US" sz="2800" b="1" dirty="0"/>
              <a:t>l × m, m × n, n × p, p × q</a:t>
            </a:r>
            <a:r>
              <a:rPr lang="en-US" sz="2800" dirty="0"/>
              <a:t> respectively, then the number of scalar multiplications performed will be </a:t>
            </a:r>
            <a:r>
              <a:rPr lang="en-US" sz="2800" b="1" i="1" dirty="0" err="1"/>
              <a:t>lmnpq</a:t>
            </a:r>
            <a:r>
              <a:rPr lang="en-US" sz="2800" dirty="0"/>
              <a:t>. </a:t>
            </a:r>
          </a:p>
          <a:p>
            <a:pPr marL="457200" indent="-457200">
              <a:buFont typeface="Arial" panose="020B0604020202020204" pitchFamily="34" charset="0"/>
              <a:buChar char="•"/>
            </a:pPr>
            <a:r>
              <a:rPr lang="en-US" sz="2800" dirty="0"/>
              <a:t>But the cost of the matrices change based on the rows and columns present in it. Suppose, the values of l, m, n, p, q are 5, 10, 15, 20, 25 respectively, the cost of (A(B(CD))) is 5 × 100 × 25 = 12,500; however, the cost of (A((BC)D)) is 10 × 25 × 37 = 9,250.</a:t>
            </a:r>
          </a:p>
          <a:p>
            <a:pPr marL="457200" indent="-457200">
              <a:buFont typeface="Arial" panose="020B0604020202020204" pitchFamily="34" charset="0"/>
              <a:buChar char="•"/>
            </a:pPr>
            <a:r>
              <a:rPr lang="en-US" sz="2800" dirty="0"/>
              <a:t>So, dynamic programming approach of the matrix chain multiplication is adopted in order to find the combination with the lowest cost.</a:t>
            </a:r>
          </a:p>
        </p:txBody>
      </p:sp>
    </p:spTree>
    <p:extLst>
      <p:ext uri="{BB962C8B-B14F-4D97-AF65-F5344CB8AC3E}">
        <p14:creationId xmlns:p14="http://schemas.microsoft.com/office/powerpoint/2010/main" val="2075984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4A698-2A87-23B1-38B0-50C1A2B6A31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39B8034-A88F-FF32-7331-690240851F1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2510228F-CAAB-4806-BD5F-1476CD594C8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335CFDD-FD66-0D38-5213-573134B3139E}"/>
              </a:ext>
            </a:extLst>
          </p:cNvPr>
          <p:cNvSpPr>
            <a:spLocks noGrp="1"/>
          </p:cNvSpPr>
          <p:nvPr>
            <p:ph type="sldNum" sz="quarter" idx="12"/>
          </p:nvPr>
        </p:nvSpPr>
        <p:spPr/>
        <p:txBody>
          <a:bodyPr/>
          <a:lstStyle/>
          <a:p>
            <a:fld id="{B41E2F89-97C2-4B18-A593-8150592B5005}" type="slidenum">
              <a:rPr lang="en-US" smtClean="0"/>
              <a:t>51</a:t>
            </a:fld>
            <a:endParaRPr lang="en-US" dirty="0"/>
          </a:p>
        </p:txBody>
      </p:sp>
      <p:sp>
        <p:nvSpPr>
          <p:cNvPr id="7" name="Title 1">
            <a:extLst>
              <a:ext uri="{FF2B5EF4-FFF2-40B4-BE49-F238E27FC236}">
                <a16:creationId xmlns:a16="http://schemas.microsoft.com/office/drawing/2014/main" id="{3174B790-E04C-C0B5-39E4-6A046F3473D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0982019F-FDF7-4700-89DD-12F6BD42A6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7CC4158E-6CE5-3315-9BB1-ED21DD4338C6}"/>
              </a:ext>
            </a:extLst>
          </p:cNvPr>
          <p:cNvSpPr>
            <a:spLocks noGrp="1"/>
          </p:cNvSpPr>
          <p:nvPr>
            <p:ph idx="1"/>
          </p:nvPr>
        </p:nvSpPr>
        <p:spPr>
          <a:xfrm>
            <a:off x="359597" y="1047964"/>
            <a:ext cx="11455684" cy="5229546"/>
          </a:xfrm>
        </p:spPr>
        <p:txBody>
          <a:bodyPr>
            <a:normAutofit fontScale="92500" lnSpcReduction="20000"/>
          </a:bodyPr>
          <a:lstStyle/>
          <a:p>
            <a:pPr marL="0" indent="0">
              <a:buNone/>
            </a:pPr>
            <a:r>
              <a:rPr lang="en-IN" b="1" dirty="0"/>
              <a:t>Matrix Chain Multiplication Algorithm</a:t>
            </a:r>
          </a:p>
          <a:p>
            <a:r>
              <a:rPr lang="en-US" dirty="0"/>
              <a:t>Matrix chain multiplication algorithm is only applied to find the minimum cost way to multiply a sequence of matrices. Therefore, the input taken by the algorithm is the sequence of matrices while the output achieved is the lowest cost </a:t>
            </a:r>
            <a:r>
              <a:rPr lang="en-US" dirty="0" err="1"/>
              <a:t>parenthesization</a:t>
            </a:r>
            <a:r>
              <a:rPr lang="en-US" dirty="0"/>
              <a:t>.</a:t>
            </a:r>
          </a:p>
          <a:p>
            <a:pPr marL="514350" indent="-514350">
              <a:buFont typeface="+mj-lt"/>
              <a:buAutoNum type="arabicPeriod"/>
            </a:pPr>
            <a:r>
              <a:rPr lang="en-US" dirty="0"/>
              <a:t>Count the number of </a:t>
            </a:r>
            <a:r>
              <a:rPr lang="en-US" dirty="0" err="1"/>
              <a:t>parenthesizations</a:t>
            </a:r>
            <a:r>
              <a:rPr lang="en-US" dirty="0"/>
              <a:t>. Find the number of ways in which the input matrices can be multiplied.</a:t>
            </a:r>
            <a:endParaRPr lang="en-IN" dirty="0"/>
          </a:p>
          <a:p>
            <a:pPr marL="514350" indent="-514350">
              <a:buFont typeface="+mj-lt"/>
              <a:buAutoNum type="arabicPeriod"/>
            </a:pPr>
            <a:r>
              <a:rPr lang="en-US" dirty="0"/>
              <a:t>Once the </a:t>
            </a:r>
            <a:r>
              <a:rPr lang="en-US" dirty="0" err="1"/>
              <a:t>parenthesization</a:t>
            </a:r>
            <a:r>
              <a:rPr lang="en-US" dirty="0"/>
              <a:t> is done, the optimal substructure must be devised as the first step of dynamic programming approach so the final product achieved is optimal. In matrix chain multiplication, the optimal substructure is found by dividing the sequence of matrices </a:t>
            </a:r>
            <a:r>
              <a:rPr lang="en-US" b="1" i="1" dirty="0"/>
              <a:t>A[</a:t>
            </a:r>
            <a:r>
              <a:rPr lang="en-US" b="1" i="1" dirty="0" err="1"/>
              <a:t>i</a:t>
            </a:r>
            <a:r>
              <a:rPr lang="en-US" b="1" i="1" dirty="0"/>
              <a:t>….j]</a:t>
            </a:r>
            <a:r>
              <a:rPr lang="en-US" dirty="0"/>
              <a:t> into two parts </a:t>
            </a:r>
            <a:r>
              <a:rPr lang="en-US" b="1" i="1" dirty="0"/>
              <a:t>A[</a:t>
            </a:r>
            <a:r>
              <a:rPr lang="en-US" b="1" i="1" dirty="0" err="1"/>
              <a:t>i,k</a:t>
            </a:r>
            <a:r>
              <a:rPr lang="en-US" b="1" i="1" dirty="0"/>
              <a:t>] and A[k+1,j]</a:t>
            </a:r>
            <a:r>
              <a:rPr lang="en-US" dirty="0"/>
              <a:t>. It must be ensured that the parts are divided in such a way that optimal solution is achieved. Find the lowest cost </a:t>
            </a:r>
            <a:r>
              <a:rPr lang="en-US" dirty="0" err="1"/>
              <a:t>parenthesization</a:t>
            </a:r>
            <a:r>
              <a:rPr lang="en-US" dirty="0"/>
              <a:t> of the sequence of matrices by constructing cost tables and corresponding </a:t>
            </a:r>
            <a:r>
              <a:rPr lang="en-US" b="1" i="1" dirty="0"/>
              <a:t>k</a:t>
            </a:r>
            <a:r>
              <a:rPr lang="en-US" dirty="0"/>
              <a:t> values table.</a:t>
            </a:r>
          </a:p>
          <a:p>
            <a:pPr marL="0" indent="0">
              <a:buNone/>
            </a:pPr>
            <a:r>
              <a:rPr lang="en-US" dirty="0"/>
              <a:t>3.   Once the lowest cost is found, print the corresponding </a:t>
            </a:r>
            <a:r>
              <a:rPr lang="en-US" dirty="0" err="1"/>
              <a:t>parenthesization</a:t>
            </a:r>
            <a:r>
              <a:rPr lang="en-US" dirty="0"/>
              <a:t> as the         output.</a:t>
            </a:r>
          </a:p>
          <a:p>
            <a:pPr marL="514350" indent="-514350">
              <a:buFont typeface="+mj-lt"/>
              <a:buAutoNum type="arabicPeriod"/>
            </a:pPr>
            <a:endParaRPr lang="en-US" dirty="0"/>
          </a:p>
        </p:txBody>
      </p:sp>
    </p:spTree>
    <p:extLst>
      <p:ext uri="{BB962C8B-B14F-4D97-AF65-F5344CB8AC3E}">
        <p14:creationId xmlns:p14="http://schemas.microsoft.com/office/powerpoint/2010/main" val="4065082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BCA44-C8FE-905F-80C2-EF763BD0C85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2B4B83-5617-721D-7116-F27930A4A62C}"/>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5BE79366-A31B-CA2A-2373-0006EAC0C87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0961B73-F105-6517-D4D8-68C6D933FC1E}"/>
              </a:ext>
            </a:extLst>
          </p:cNvPr>
          <p:cNvSpPr>
            <a:spLocks noGrp="1"/>
          </p:cNvSpPr>
          <p:nvPr>
            <p:ph type="sldNum" sz="quarter" idx="12"/>
          </p:nvPr>
        </p:nvSpPr>
        <p:spPr/>
        <p:txBody>
          <a:bodyPr/>
          <a:lstStyle/>
          <a:p>
            <a:fld id="{B41E2F89-97C2-4B18-A593-8150592B5005}" type="slidenum">
              <a:rPr lang="en-US" smtClean="0"/>
              <a:t>52</a:t>
            </a:fld>
            <a:endParaRPr lang="en-US" dirty="0"/>
          </a:p>
        </p:txBody>
      </p:sp>
      <p:sp>
        <p:nvSpPr>
          <p:cNvPr id="7" name="Title 1">
            <a:extLst>
              <a:ext uri="{FF2B5EF4-FFF2-40B4-BE49-F238E27FC236}">
                <a16:creationId xmlns:a16="http://schemas.microsoft.com/office/drawing/2014/main" id="{FB7228B8-B5A6-EFBE-3BFC-CDD1042A230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8F5BC43D-7469-0D96-7CBA-0663E3272D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C476AB05-A9F0-5F3A-D9AD-DD0A31F5376F}"/>
              </a:ext>
            </a:extLst>
          </p:cNvPr>
          <p:cNvSpPr>
            <a:spLocks noGrp="1"/>
          </p:cNvSpPr>
          <p:nvPr>
            <p:ph idx="1"/>
          </p:nvPr>
        </p:nvSpPr>
        <p:spPr>
          <a:xfrm>
            <a:off x="838200" y="1232899"/>
            <a:ext cx="10515600" cy="4944064"/>
          </a:xfrm>
        </p:spPr>
        <p:txBody>
          <a:bodyPr/>
          <a:lstStyle/>
          <a:p>
            <a:pPr marL="0" indent="0" fontAlgn="base">
              <a:buNone/>
            </a:pPr>
            <a:r>
              <a:rPr lang="en-US" dirty="0"/>
              <a:t>Let’s consider an example to illustrate the matrix chain multiplication.</a:t>
            </a:r>
          </a:p>
          <a:p>
            <a:pPr marL="0" indent="0" fontAlgn="base">
              <a:buNone/>
            </a:pPr>
            <a:r>
              <a:rPr lang="en-US" dirty="0"/>
              <a:t>Suppose we have a chain of four matrices: A, B, C, and D, with dimensions as follows:</a:t>
            </a:r>
          </a:p>
          <a:p>
            <a:pPr marL="0" indent="0" fontAlgn="base">
              <a:buNone/>
            </a:pPr>
            <a:r>
              <a:rPr lang="en-US" dirty="0"/>
              <a:t>A: 10 x 30</a:t>
            </a:r>
          </a:p>
          <a:p>
            <a:pPr marL="0" indent="0" fontAlgn="base">
              <a:buNone/>
            </a:pPr>
            <a:r>
              <a:rPr lang="en-US" dirty="0"/>
              <a:t>B: 30 x 5</a:t>
            </a:r>
          </a:p>
          <a:p>
            <a:pPr marL="0" indent="0" fontAlgn="base">
              <a:buNone/>
            </a:pPr>
            <a:r>
              <a:rPr lang="en-US" dirty="0"/>
              <a:t>C: 5 x 60</a:t>
            </a:r>
          </a:p>
          <a:p>
            <a:pPr marL="0" indent="0" fontAlgn="base">
              <a:buNone/>
            </a:pPr>
            <a:r>
              <a:rPr lang="en-US" dirty="0"/>
              <a:t>D: 60 x 8</a:t>
            </a:r>
          </a:p>
          <a:p>
            <a:pPr marL="0" indent="0" fontAlgn="base">
              <a:buNone/>
            </a:pPr>
            <a:r>
              <a:rPr lang="en-US" dirty="0"/>
              <a:t>The goal is to find the optimal order of multiplying these matrices that minimizes the total number of scalar multiplications.</a:t>
            </a:r>
          </a:p>
          <a:p>
            <a:endParaRPr lang="en-US" dirty="0"/>
          </a:p>
        </p:txBody>
      </p:sp>
    </p:spTree>
    <p:extLst>
      <p:ext uri="{BB962C8B-B14F-4D97-AF65-F5344CB8AC3E}">
        <p14:creationId xmlns:p14="http://schemas.microsoft.com/office/powerpoint/2010/main" val="26351626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CF50-E080-9349-1171-A9DD656F978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599FEE1-9906-A44F-9688-7FFA216423BE}"/>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4EBDFF6A-F2D1-A0F6-1403-80E6A4E72EC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470F5CE-E07A-6850-1CEA-97CC26845B45}"/>
              </a:ext>
            </a:extLst>
          </p:cNvPr>
          <p:cNvSpPr>
            <a:spLocks noGrp="1"/>
          </p:cNvSpPr>
          <p:nvPr>
            <p:ph type="sldNum" sz="quarter" idx="12"/>
          </p:nvPr>
        </p:nvSpPr>
        <p:spPr/>
        <p:txBody>
          <a:bodyPr/>
          <a:lstStyle/>
          <a:p>
            <a:fld id="{B41E2F89-97C2-4B18-A593-8150592B5005}" type="slidenum">
              <a:rPr lang="en-US" smtClean="0"/>
              <a:t>53</a:t>
            </a:fld>
            <a:endParaRPr lang="en-US" dirty="0"/>
          </a:p>
        </p:txBody>
      </p:sp>
      <p:sp>
        <p:nvSpPr>
          <p:cNvPr id="7" name="Title 1">
            <a:extLst>
              <a:ext uri="{FF2B5EF4-FFF2-40B4-BE49-F238E27FC236}">
                <a16:creationId xmlns:a16="http://schemas.microsoft.com/office/drawing/2014/main" id="{A83561BE-2317-7CF1-46A2-A4692C63B54D}"/>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5216DAA1-6317-C175-671D-880E504CBB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4D2370A4-2523-C7ED-44CB-2FCB0CEA41BF}"/>
              </a:ext>
            </a:extLst>
          </p:cNvPr>
          <p:cNvSpPr>
            <a:spLocks noGrp="1"/>
          </p:cNvSpPr>
          <p:nvPr>
            <p:ph idx="1"/>
          </p:nvPr>
        </p:nvSpPr>
        <p:spPr>
          <a:xfrm>
            <a:off x="267129" y="1006866"/>
            <a:ext cx="11661168" cy="5343555"/>
          </a:xfrm>
        </p:spPr>
        <p:txBody>
          <a:bodyPr>
            <a:normAutofit fontScale="85000" lnSpcReduction="20000"/>
          </a:bodyPr>
          <a:lstStyle/>
          <a:p>
            <a:pPr lvl="0" algn="just">
              <a:buNone/>
            </a:pPr>
            <a:r>
              <a:rPr lang="en-US" b="1" dirty="0">
                <a:solidFill>
                  <a:srgbClr val="333333"/>
                </a:solidFill>
                <a:latin typeface="inherit"/>
                <a:cs typeface="Arial" pitchFamily="34" charset="0"/>
              </a:rPr>
              <a:t>Step 1:</a:t>
            </a:r>
            <a:r>
              <a:rPr lang="en-US" dirty="0">
                <a:solidFill>
                  <a:srgbClr val="333333"/>
                </a:solidFill>
                <a:latin typeface="Noto Serif"/>
                <a:cs typeface="Arial" pitchFamily="34" charset="0"/>
              </a:rPr>
              <a:t> Create the table We create a 4×4 table to store the minimum number of scalar multiplications needed for each </a:t>
            </a:r>
            <a:r>
              <a:rPr lang="en-US" dirty="0" err="1">
                <a:solidFill>
                  <a:srgbClr val="333333"/>
                </a:solidFill>
                <a:latin typeface="Noto Serif"/>
                <a:cs typeface="Arial" pitchFamily="34" charset="0"/>
              </a:rPr>
              <a:t>subchain</a:t>
            </a:r>
            <a:r>
              <a:rPr lang="en-US" dirty="0">
                <a:solidFill>
                  <a:srgbClr val="333333"/>
                </a:solidFill>
                <a:latin typeface="Noto Serif"/>
                <a:cs typeface="Arial" pitchFamily="34" charset="0"/>
              </a:rPr>
              <a:t>. The table initially looks like this:</a:t>
            </a:r>
            <a:endParaRPr lang="en-US" sz="1200" dirty="0">
              <a:latin typeface="Arial" pitchFamily="34" charset="0"/>
              <a:cs typeface="Arial" pitchFamily="34" charset="0"/>
            </a:endParaRPr>
          </a:p>
          <a:p>
            <a:pPr algn="just">
              <a:buNone/>
            </a:pPr>
            <a:br>
              <a:rPr lang="en-US" dirty="0"/>
            </a:br>
            <a:endParaRPr lang="en-US" dirty="0"/>
          </a:p>
          <a:p>
            <a:pPr algn="just">
              <a:buNone/>
            </a:pPr>
            <a:endParaRPr lang="en-US" dirty="0"/>
          </a:p>
          <a:p>
            <a:pPr algn="just">
              <a:buNone/>
            </a:pPr>
            <a:endParaRPr lang="en-US" dirty="0"/>
          </a:p>
          <a:p>
            <a:pPr algn="just">
              <a:buNone/>
            </a:pPr>
            <a:endParaRPr lang="en-US" dirty="0"/>
          </a:p>
          <a:p>
            <a:pPr marL="0" indent="0" fontAlgn="base">
              <a:buNone/>
            </a:pPr>
            <a:r>
              <a:rPr lang="en-US" b="1" dirty="0"/>
              <a:t>Step 2: </a:t>
            </a:r>
            <a:r>
              <a:rPr lang="en-US" dirty="0"/>
              <a:t>Fill in the table We iterate diagonally through the table, calculating the minimum number of scalar multiplications for each </a:t>
            </a:r>
            <a:r>
              <a:rPr lang="en-US" dirty="0" err="1"/>
              <a:t>subchain</a:t>
            </a:r>
            <a:r>
              <a:rPr lang="en-US" dirty="0"/>
              <a:t>.</a:t>
            </a:r>
          </a:p>
          <a:p>
            <a:pPr marL="0" indent="0" fontAlgn="base">
              <a:buNone/>
            </a:pPr>
            <a:r>
              <a:rPr lang="en-US" dirty="0"/>
              <a:t>First, we consider </a:t>
            </a:r>
            <a:r>
              <a:rPr lang="en-US" dirty="0" err="1"/>
              <a:t>subchains</a:t>
            </a:r>
            <a:r>
              <a:rPr lang="en-US" dirty="0"/>
              <a:t> of length 2: For the </a:t>
            </a:r>
            <a:r>
              <a:rPr lang="en-US" dirty="0" err="1"/>
              <a:t>subchain</a:t>
            </a:r>
            <a:r>
              <a:rPr lang="en-US" dirty="0"/>
              <a:t> AB, the only option is multiplying matrices A and B, resulting in 10 x 5 scalar multiplications. For the </a:t>
            </a:r>
            <a:r>
              <a:rPr lang="en-US" dirty="0" err="1"/>
              <a:t>subchain</a:t>
            </a:r>
            <a:r>
              <a:rPr lang="en-US" dirty="0"/>
              <a:t> BC, the only option is multiplying matrices B and C, resulting in 30 x 5 scalar multiplications. For the </a:t>
            </a:r>
            <a:r>
              <a:rPr lang="en-US" dirty="0" err="1"/>
              <a:t>subchain</a:t>
            </a:r>
            <a:r>
              <a:rPr lang="en-US" dirty="0"/>
              <a:t> CD, the only option is multiplying matrices C and D, resulting in 5 x 8 scalar multiplications.</a:t>
            </a:r>
          </a:p>
          <a:p>
            <a:pPr marL="0" indent="0" fontAlgn="base">
              <a:buNone/>
            </a:pPr>
            <a:r>
              <a:rPr lang="en-US" dirty="0"/>
              <a:t>Updating the table:</a:t>
            </a:r>
          </a:p>
          <a:p>
            <a:endParaRPr lang="en-US" dirty="0"/>
          </a:p>
        </p:txBody>
      </p:sp>
      <p:pic>
        <p:nvPicPr>
          <p:cNvPr id="2" name="Picture 2" descr="matrix chain multiplication example 1">
            <a:extLst>
              <a:ext uri="{FF2B5EF4-FFF2-40B4-BE49-F238E27FC236}">
                <a16:creationId xmlns:a16="http://schemas.microsoft.com/office/drawing/2014/main" id="{E23F0DCC-8652-E117-6F71-8D8BE9458D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1531344"/>
            <a:ext cx="3652519" cy="1929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2890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7060-63E7-242B-C719-695E1642C1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7075DDC-7033-AF38-0221-1867158A0898}"/>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01C387CB-1845-A9FE-9D45-978ACE74F09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77252E6-BB24-8E9E-7D72-F458D769DD9B}"/>
              </a:ext>
            </a:extLst>
          </p:cNvPr>
          <p:cNvSpPr>
            <a:spLocks noGrp="1"/>
          </p:cNvSpPr>
          <p:nvPr>
            <p:ph type="sldNum" sz="quarter" idx="12"/>
          </p:nvPr>
        </p:nvSpPr>
        <p:spPr/>
        <p:txBody>
          <a:bodyPr/>
          <a:lstStyle/>
          <a:p>
            <a:fld id="{B41E2F89-97C2-4B18-A593-8150592B5005}" type="slidenum">
              <a:rPr lang="en-US" smtClean="0"/>
              <a:t>54</a:t>
            </a:fld>
            <a:endParaRPr lang="en-US" dirty="0"/>
          </a:p>
        </p:txBody>
      </p:sp>
      <p:sp>
        <p:nvSpPr>
          <p:cNvPr id="7" name="Title 1">
            <a:extLst>
              <a:ext uri="{FF2B5EF4-FFF2-40B4-BE49-F238E27FC236}">
                <a16:creationId xmlns:a16="http://schemas.microsoft.com/office/drawing/2014/main" id="{FB98D675-8AFA-6327-2165-7F515CB276FF}"/>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D52F6B67-D210-F6CD-3E7A-3CA71E8099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2EDACD10-F9D8-9F7F-B9DF-D8CE37EDEC16}"/>
              </a:ext>
            </a:extLst>
          </p:cNvPr>
          <p:cNvSpPr>
            <a:spLocks noGrp="1"/>
          </p:cNvSpPr>
          <p:nvPr>
            <p:ph idx="1"/>
          </p:nvPr>
        </p:nvSpPr>
        <p:spPr>
          <a:xfrm>
            <a:off x="533399" y="2976934"/>
            <a:ext cx="11179139" cy="3271465"/>
          </a:xfrm>
        </p:spPr>
        <p:txBody>
          <a:bodyPr>
            <a:normAutofit fontScale="55000" lnSpcReduction="20000"/>
          </a:bodyPr>
          <a:lstStyle/>
          <a:p>
            <a:pPr lvl="0" algn="just">
              <a:buNone/>
            </a:pPr>
            <a:endParaRPr lang="en-US" sz="1100" dirty="0">
              <a:latin typeface="Arial" pitchFamily="34" charset="0"/>
              <a:cs typeface="Arial" pitchFamily="34" charset="0"/>
            </a:endParaRPr>
          </a:p>
          <a:p>
            <a:pPr fontAlgn="base"/>
            <a:r>
              <a:rPr lang="en-US" sz="4000" dirty="0"/>
              <a:t>Next, we consider </a:t>
            </a:r>
            <a:r>
              <a:rPr lang="en-US" sz="4000" dirty="0" err="1"/>
              <a:t>subchains</a:t>
            </a:r>
            <a:r>
              <a:rPr lang="en-US" sz="4000" dirty="0"/>
              <a:t> of length 3: For the </a:t>
            </a:r>
            <a:r>
              <a:rPr lang="en-US" sz="4000" dirty="0" err="1"/>
              <a:t>subchain</a:t>
            </a:r>
            <a:r>
              <a:rPr lang="en-US" sz="4000" dirty="0"/>
              <a:t> ABC, we have two options: (AB)C or A(BC). Let’s calculate the scalar multiplications for each option:</a:t>
            </a:r>
          </a:p>
          <a:p>
            <a:pPr fontAlgn="base"/>
            <a:r>
              <a:rPr lang="en-US" sz="4000" dirty="0"/>
              <a:t>(AB)C: We multiply matrices A and B (10 x 30) resulting in a temporary matrix of size 10 x 5. Then, we multiply this temporary matrix with matrix C (10 x 5) resulting in a final matrix of size 10 x 60. The total scalar multiplications for this option are 10 x 30 x 5 + 10 x 5 x 60 = 4500.</a:t>
            </a:r>
          </a:p>
          <a:p>
            <a:pPr fontAlgn="base"/>
            <a:r>
              <a:rPr lang="en-US" sz="4000" dirty="0"/>
              <a:t>A(BC): We multiply matrices B and C (30 x 5) resulting in a temporary matrix of size 30 x 60. Then, we multiply matrix A (10 x 30) with this temporary matrix, resulting in a final matrix of size 10 x 60. The total scalar multiplications for this option are 10 x 30 x 60 + 10 x 5 x 60 = 9000.</a:t>
            </a:r>
          </a:p>
          <a:p>
            <a:pPr fontAlgn="base"/>
            <a:r>
              <a:rPr lang="en-US" sz="4400" dirty="0"/>
              <a:t>Updating the table</a:t>
            </a:r>
          </a:p>
        </p:txBody>
      </p:sp>
      <p:pic>
        <p:nvPicPr>
          <p:cNvPr id="9" name="Picture 2">
            <a:extLst>
              <a:ext uri="{FF2B5EF4-FFF2-40B4-BE49-F238E27FC236}">
                <a16:creationId xmlns:a16="http://schemas.microsoft.com/office/drawing/2014/main" id="{26AD968D-F0A3-2460-4A6B-CB660E62E5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8163" y="799678"/>
            <a:ext cx="5257953" cy="2177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7911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2C06-6A6F-3C15-C432-E5D185C4F06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0D8364-D783-BB32-6695-D1E6CE800DE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C801229A-1C54-ED21-E846-B4D30D579074}"/>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AA065DA-E348-C5DA-6957-61BAE237F2D7}"/>
              </a:ext>
            </a:extLst>
          </p:cNvPr>
          <p:cNvSpPr>
            <a:spLocks noGrp="1"/>
          </p:cNvSpPr>
          <p:nvPr>
            <p:ph type="sldNum" sz="quarter" idx="12"/>
          </p:nvPr>
        </p:nvSpPr>
        <p:spPr/>
        <p:txBody>
          <a:bodyPr/>
          <a:lstStyle/>
          <a:p>
            <a:fld id="{B41E2F89-97C2-4B18-A593-8150592B5005}" type="slidenum">
              <a:rPr lang="en-US" smtClean="0"/>
              <a:t>55</a:t>
            </a:fld>
            <a:endParaRPr lang="en-US" dirty="0"/>
          </a:p>
        </p:txBody>
      </p:sp>
      <p:sp>
        <p:nvSpPr>
          <p:cNvPr id="7" name="Title 1">
            <a:extLst>
              <a:ext uri="{FF2B5EF4-FFF2-40B4-BE49-F238E27FC236}">
                <a16:creationId xmlns:a16="http://schemas.microsoft.com/office/drawing/2014/main" id="{026BD262-091D-C514-A3C0-3FBD418C8B0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C6B9410F-8610-6099-29F4-407EBD71AE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Content Placeholder 2">
            <a:extLst>
              <a:ext uri="{FF2B5EF4-FFF2-40B4-BE49-F238E27FC236}">
                <a16:creationId xmlns:a16="http://schemas.microsoft.com/office/drawing/2014/main" id="{17DD0987-A839-12D2-5039-82F5617C528A}"/>
              </a:ext>
            </a:extLst>
          </p:cNvPr>
          <p:cNvSpPr>
            <a:spLocks noGrp="1"/>
          </p:cNvSpPr>
          <p:nvPr>
            <p:ph idx="1"/>
          </p:nvPr>
        </p:nvSpPr>
        <p:spPr>
          <a:xfrm>
            <a:off x="277402" y="2938463"/>
            <a:ext cx="11712540" cy="3423815"/>
          </a:xfrm>
        </p:spPr>
        <p:txBody>
          <a:bodyPr>
            <a:normAutofit fontScale="85000" lnSpcReduction="20000"/>
          </a:bodyPr>
          <a:lstStyle/>
          <a:p>
            <a:pPr fontAlgn="base"/>
            <a:r>
              <a:rPr lang="en-US" dirty="0"/>
              <a:t>Finally, we consider the entire chain of matrices ABCD: We have two options: ((AB)C)D or (A(BC))D. Calculating the scalar multiplications for each option:</a:t>
            </a:r>
          </a:p>
          <a:p>
            <a:pPr fontAlgn="base"/>
            <a:r>
              <a:rPr lang="en-US" dirty="0"/>
              <a:t>((AB)C)D: We multiply matrices (AB) and C, resulting in a temporary matrix of size 10 x 60. Then, we multiply this temporary matrix with matrix D (10 x 60), resulting in a final matrix of size 10 x 8. The total scalar multiplications for this option are 10 x 5 x 60 + 10 x 60 x 8 = 6000.</a:t>
            </a:r>
          </a:p>
          <a:p>
            <a:pPr fontAlgn="base"/>
            <a:r>
              <a:rPr lang="en-US" dirty="0"/>
              <a:t>(A(BC))D: We multiply matrices A and (BC), resulting in a temporary matrix of size 10 x 60. Then, we multiply this temporary matrix with matrix D (10 x 60), resulting in a final matrix of size 10 x 8. The total scalar multiplications for this option is 10 x 30 x 5 + 10 x 5 x 8 = 1300.</a:t>
            </a:r>
          </a:p>
          <a:p>
            <a:pPr fontAlgn="base"/>
            <a:r>
              <a:rPr lang="en-US" dirty="0"/>
              <a:t>Updating the table:</a:t>
            </a:r>
          </a:p>
          <a:p>
            <a:pPr algn="just">
              <a:buNone/>
            </a:pPr>
            <a:endParaRPr lang="en-US" sz="2200" dirty="0"/>
          </a:p>
          <a:p>
            <a:pPr algn="just">
              <a:buNone/>
            </a:pPr>
            <a:endParaRPr lang="en-US" sz="2200" dirty="0"/>
          </a:p>
        </p:txBody>
      </p:sp>
      <p:pic>
        <p:nvPicPr>
          <p:cNvPr id="12" name="Picture 2">
            <a:extLst>
              <a:ext uri="{FF2B5EF4-FFF2-40B4-BE49-F238E27FC236}">
                <a16:creationId xmlns:a16="http://schemas.microsoft.com/office/drawing/2014/main" id="{7E237F2E-8F7C-B0AE-284C-3F7FD41CC5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5999" y="838200"/>
            <a:ext cx="6796356"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9494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B3491-F760-A1B6-9A08-6D6607AAA25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C2AF748-BD61-F181-FDA4-7DC5241242E8}"/>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C0259BF2-7174-E02D-9991-FDF845687FF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6920715-D281-47EF-F490-B58C890406CF}"/>
              </a:ext>
            </a:extLst>
          </p:cNvPr>
          <p:cNvSpPr>
            <a:spLocks noGrp="1"/>
          </p:cNvSpPr>
          <p:nvPr>
            <p:ph type="sldNum" sz="quarter" idx="12"/>
          </p:nvPr>
        </p:nvSpPr>
        <p:spPr/>
        <p:txBody>
          <a:bodyPr/>
          <a:lstStyle/>
          <a:p>
            <a:fld id="{B41E2F89-97C2-4B18-A593-8150592B5005}" type="slidenum">
              <a:rPr lang="en-US" smtClean="0"/>
              <a:t>56</a:t>
            </a:fld>
            <a:endParaRPr lang="en-US" dirty="0"/>
          </a:p>
        </p:txBody>
      </p:sp>
      <p:sp>
        <p:nvSpPr>
          <p:cNvPr id="7" name="Title 1">
            <a:extLst>
              <a:ext uri="{FF2B5EF4-FFF2-40B4-BE49-F238E27FC236}">
                <a16:creationId xmlns:a16="http://schemas.microsoft.com/office/drawing/2014/main" id="{4FEEF1CD-1C30-F20C-B610-A7A77A24AA6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3EC3F51A-C738-B80E-8782-70B93DB03F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Content Placeholder 2">
            <a:extLst>
              <a:ext uri="{FF2B5EF4-FFF2-40B4-BE49-F238E27FC236}">
                <a16:creationId xmlns:a16="http://schemas.microsoft.com/office/drawing/2014/main" id="{F2C60D3E-3F23-66EA-1E49-4E0E2161951F}"/>
              </a:ext>
            </a:extLst>
          </p:cNvPr>
          <p:cNvSpPr>
            <a:spLocks noGrp="1"/>
          </p:cNvSpPr>
          <p:nvPr>
            <p:ph idx="1"/>
          </p:nvPr>
        </p:nvSpPr>
        <p:spPr>
          <a:xfrm>
            <a:off x="277402" y="1150707"/>
            <a:ext cx="11712540" cy="5211572"/>
          </a:xfrm>
        </p:spPr>
        <p:txBody>
          <a:bodyPr>
            <a:normAutofit lnSpcReduction="10000"/>
          </a:bodyPr>
          <a:lstStyle/>
          <a:p>
            <a:pPr marL="0" indent="0">
              <a:buNone/>
            </a:pPr>
            <a:r>
              <a:rPr lang="en-IN" sz="3200" b="1" dirty="0"/>
              <a:t>Pseudocode</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MATRIX-CHAIN-MULTIPLICATION(p)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n =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p.length</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1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let m[1…n, 1…n] and s[1…n ─ 1, 2…n] be new matrices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for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1 to n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0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for diff= 1 to n-1</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for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1 to n - diff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j =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diff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j] = ∞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for k =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to j - 1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q =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k] + m[k + 1, j] + pi-1pkpj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if q &lt;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j]</a:t>
            </a:r>
            <a:r>
              <a:rPr lang="en-US" altLang="en-US" sz="2400" dirty="0">
                <a:solidFill>
                  <a:srgbClr val="000000"/>
                </a:solidFill>
                <a:latin typeface="Arial" panose="020B0604020202020204" pitchFamily="34" charset="0"/>
                <a:ea typeface="Calibri" panose="020F0502020204030204" pitchFamily="34"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Calibri" panose="020F0502020204030204" pitchFamily="34" charset="0"/>
                <a:cs typeface="Arial" panose="020B0604020202020204" pitchFamily="34" charset="0"/>
              </a:rPr>
              <a:t>					 m[</a:t>
            </a:r>
            <a:r>
              <a:rPr lang="en-US" altLang="en-US" sz="2400" dirty="0" err="1">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altLang="en-US" sz="2400" dirty="0">
                <a:solidFill>
                  <a:srgbClr val="000000"/>
                </a:solidFill>
                <a:latin typeface="Arial" panose="020B0604020202020204" pitchFamily="34" charset="0"/>
                <a:ea typeface="Calibri" panose="020F0502020204030204" pitchFamily="34" charset="0"/>
                <a:cs typeface="Arial" panose="020B0604020202020204" pitchFamily="34" charset="0"/>
              </a:rPr>
              <a:t>, j] = q</a:t>
            </a:r>
            <a:r>
              <a:rPr lang="en-US" altLang="en-US" sz="2400" dirty="0">
                <a:latin typeface="Arial" panose="020B0604020202020204" pitchFamily="34"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cs typeface="Arial" panose="020B0604020202020204" pitchFamily="34" charset="0"/>
              </a:rPr>
              <a:t>					 s[</a:t>
            </a:r>
            <a:r>
              <a:rPr lang="en-US" altLang="en-US" sz="2400" dirty="0" err="1">
                <a:latin typeface="Arial" panose="020B0604020202020204" pitchFamily="34" charset="0"/>
                <a:cs typeface="Arial" panose="020B0604020202020204" pitchFamily="34" charset="0"/>
              </a:rPr>
              <a:t>i,j</a:t>
            </a:r>
            <a:r>
              <a:rPr lang="en-US" altLang="en-US" sz="2400" dirty="0">
                <a:latin typeface="Arial" panose="020B0604020202020204" pitchFamily="34" charset="0"/>
                <a:cs typeface="Arial" panose="020B0604020202020204" pitchFamily="34" charset="0"/>
              </a:rPr>
              <a:t>] = k</a:t>
            </a:r>
          </a:p>
          <a:p>
            <a:pPr marL="0" indent="0">
              <a:buNone/>
            </a:pPr>
            <a:endParaRPr lang="en-IN" sz="2400" dirty="0"/>
          </a:p>
        </p:txBody>
      </p:sp>
    </p:spTree>
    <p:extLst>
      <p:ext uri="{BB962C8B-B14F-4D97-AF65-F5344CB8AC3E}">
        <p14:creationId xmlns:p14="http://schemas.microsoft.com/office/powerpoint/2010/main" val="41074090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15BB4-AA3A-6B6B-0EED-BA5B76F4F2D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4667E60-47E1-0F5E-F9CD-E7ECD2E0D232}"/>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E6859A3A-32DF-94EC-0562-12CD1724B79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676EE32-2E10-300C-957D-FA7167ED7B20}"/>
              </a:ext>
            </a:extLst>
          </p:cNvPr>
          <p:cNvSpPr>
            <a:spLocks noGrp="1"/>
          </p:cNvSpPr>
          <p:nvPr>
            <p:ph type="sldNum" sz="quarter" idx="12"/>
          </p:nvPr>
        </p:nvSpPr>
        <p:spPr/>
        <p:txBody>
          <a:bodyPr/>
          <a:lstStyle/>
          <a:p>
            <a:fld id="{B41E2F89-97C2-4B18-A593-8150592B5005}" type="slidenum">
              <a:rPr lang="en-US" smtClean="0"/>
              <a:t>57</a:t>
            </a:fld>
            <a:endParaRPr lang="en-US" dirty="0"/>
          </a:p>
        </p:txBody>
      </p:sp>
      <p:sp>
        <p:nvSpPr>
          <p:cNvPr id="7" name="Title 1">
            <a:extLst>
              <a:ext uri="{FF2B5EF4-FFF2-40B4-BE49-F238E27FC236}">
                <a16:creationId xmlns:a16="http://schemas.microsoft.com/office/drawing/2014/main" id="{C25FF2D9-2A85-E0B1-D78C-22E91330063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02146FE4-00A7-58E0-A68D-81A703E407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145F71B7-2EFF-6F14-2123-EB0066B85555}"/>
              </a:ext>
            </a:extLst>
          </p:cNvPr>
          <p:cNvSpPr>
            <a:spLocks noGrp="1"/>
          </p:cNvSpPr>
          <p:nvPr>
            <p:ph idx="1"/>
          </p:nvPr>
        </p:nvSpPr>
        <p:spPr/>
        <p:txBody>
          <a:bodyPr/>
          <a:lstStyle/>
          <a:p>
            <a:pPr marL="0" indent="0">
              <a:buNone/>
            </a:pPr>
            <a:r>
              <a:rPr lang="en-US" sz="3200" dirty="0"/>
              <a:t>Pseudocode to print the optimal output </a:t>
            </a:r>
            <a:r>
              <a:rPr lang="en-US" sz="3200" dirty="0" err="1"/>
              <a:t>parenthesization</a:t>
            </a:r>
            <a:r>
              <a:rPr lang="en-US" sz="3200" dirty="0"/>
              <a:t> −</a:t>
            </a:r>
          </a:p>
          <a:p>
            <a:pPr marL="0" indent="0">
              <a:buNone/>
            </a:pPr>
            <a:endParaRPr lang="en-US" sz="2400" dirty="0"/>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PRINT-OPTIMAL-OUTPUT(s, </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 if </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 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 “A”I</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 else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 “(” PRINT-OPTIMAL-OUTPUT(s, </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s[</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PRINT-OPTIMAL-OUTPUT(s, s[</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j] + 1, j) print “)”</a:t>
            </a:r>
            <a:r>
              <a:rPr lang="en-US" altLang="en-US" sz="2400" dirty="0">
                <a:latin typeface="Arial" panose="020B0604020202020204" pitchFamily="34" charset="0"/>
                <a:cs typeface="Arial" panose="020B0604020202020204" pitchFamily="34" charset="0"/>
              </a:rPr>
              <a:t> </a:t>
            </a:r>
          </a:p>
          <a:p>
            <a:pPr marL="0" indent="0">
              <a:buNone/>
            </a:pPr>
            <a:endParaRPr lang="en-US" dirty="0"/>
          </a:p>
        </p:txBody>
      </p:sp>
    </p:spTree>
    <p:extLst>
      <p:ext uri="{BB962C8B-B14F-4D97-AF65-F5344CB8AC3E}">
        <p14:creationId xmlns:p14="http://schemas.microsoft.com/office/powerpoint/2010/main" val="39260001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D8DF-4A97-20E4-DB8F-98297D36516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1751990-5D31-2CB0-F066-DECF35F95524}"/>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9CB269CE-40D4-6478-F92C-AAB4ACC699F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F3DB2AF-64ED-CE3E-F2A7-04632DBB76D7}"/>
              </a:ext>
            </a:extLst>
          </p:cNvPr>
          <p:cNvSpPr>
            <a:spLocks noGrp="1"/>
          </p:cNvSpPr>
          <p:nvPr>
            <p:ph type="sldNum" sz="quarter" idx="12"/>
          </p:nvPr>
        </p:nvSpPr>
        <p:spPr/>
        <p:txBody>
          <a:bodyPr/>
          <a:lstStyle/>
          <a:p>
            <a:fld id="{B41E2F89-97C2-4B18-A593-8150592B5005}" type="slidenum">
              <a:rPr lang="en-US" smtClean="0"/>
              <a:t>58</a:t>
            </a:fld>
            <a:endParaRPr lang="en-US" dirty="0"/>
          </a:p>
        </p:txBody>
      </p:sp>
      <p:sp>
        <p:nvSpPr>
          <p:cNvPr id="7" name="Title 1">
            <a:extLst>
              <a:ext uri="{FF2B5EF4-FFF2-40B4-BE49-F238E27FC236}">
                <a16:creationId xmlns:a16="http://schemas.microsoft.com/office/drawing/2014/main" id="{26F7B9D9-3A5A-6254-8FC9-66495FDEDE9D}"/>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9193D174-8A41-95BF-019B-2B14482F4D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8861AB54-BF9F-C2D4-C4B5-A08B7C8469DB}"/>
              </a:ext>
            </a:extLst>
          </p:cNvPr>
          <p:cNvSpPr>
            <a:spLocks noGrp="1"/>
          </p:cNvSpPr>
          <p:nvPr>
            <p:ph idx="1"/>
          </p:nvPr>
        </p:nvSpPr>
        <p:spPr>
          <a:xfrm>
            <a:off x="457199" y="986319"/>
            <a:ext cx="11080679" cy="5455578"/>
          </a:xfrm>
        </p:spPr>
        <p:txBody>
          <a:bodyPr>
            <a:normAutofit/>
          </a:bodyPr>
          <a:lstStyle/>
          <a:p>
            <a:pPr marL="0" indent="0">
              <a:buNone/>
            </a:pPr>
            <a:r>
              <a:rPr lang="en-US" sz="2200" b="1" dirty="0"/>
              <a:t>Topic link:</a:t>
            </a:r>
          </a:p>
          <a:p>
            <a:r>
              <a:rPr lang="en-US" sz="2400" dirty="0">
                <a:hlinkClick r:id="rId3"/>
              </a:rPr>
              <a:t>4.9 Longest Common Subsequence (LCS) - Recursion and Dynamic Programming – YouTube</a:t>
            </a:r>
            <a:endParaRPr lang="en-US" sz="2400" dirty="0"/>
          </a:p>
          <a:p>
            <a:endParaRPr lang="en-US" sz="2200" dirty="0"/>
          </a:p>
        </p:txBody>
      </p:sp>
    </p:spTree>
    <p:extLst>
      <p:ext uri="{BB962C8B-B14F-4D97-AF65-F5344CB8AC3E}">
        <p14:creationId xmlns:p14="http://schemas.microsoft.com/office/powerpoint/2010/main" val="33373009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6E805-BC4D-B23D-8408-77A5CBC7E45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00CD11-1869-27F0-BC44-5A7A752AAEE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AF797407-BAF8-A93C-05FC-FE413998683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1D5FCE0-3008-5F8D-D37D-F0705C6C6E18}"/>
              </a:ext>
            </a:extLst>
          </p:cNvPr>
          <p:cNvSpPr>
            <a:spLocks noGrp="1"/>
          </p:cNvSpPr>
          <p:nvPr>
            <p:ph type="sldNum" sz="quarter" idx="12"/>
          </p:nvPr>
        </p:nvSpPr>
        <p:spPr/>
        <p:txBody>
          <a:bodyPr/>
          <a:lstStyle/>
          <a:p>
            <a:fld id="{B41E2F89-97C2-4B18-A593-8150592B5005}" type="slidenum">
              <a:rPr lang="en-US" smtClean="0"/>
              <a:t>59</a:t>
            </a:fld>
            <a:endParaRPr lang="en-US" dirty="0"/>
          </a:p>
        </p:txBody>
      </p:sp>
      <p:sp>
        <p:nvSpPr>
          <p:cNvPr id="7" name="Title 1">
            <a:extLst>
              <a:ext uri="{FF2B5EF4-FFF2-40B4-BE49-F238E27FC236}">
                <a16:creationId xmlns:a16="http://schemas.microsoft.com/office/drawing/2014/main" id="{1CF50988-8CB8-9A23-CE70-E9E55C91941F}"/>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2CABCA51-2101-CA30-00D7-331539AA1F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2ADE6504-1E6C-3CB6-6F7D-609D7B6217B1}"/>
              </a:ext>
            </a:extLst>
          </p:cNvPr>
          <p:cNvSpPr>
            <a:spLocks noGrp="1"/>
          </p:cNvSpPr>
          <p:nvPr>
            <p:ph idx="1"/>
          </p:nvPr>
        </p:nvSpPr>
        <p:spPr>
          <a:xfrm>
            <a:off x="457199" y="986319"/>
            <a:ext cx="11080679" cy="5455578"/>
          </a:xfrm>
        </p:spPr>
        <p:txBody>
          <a:bodyPr>
            <a:normAutofit lnSpcReduction="10000"/>
          </a:bodyPr>
          <a:lstStyle/>
          <a:p>
            <a:pPr marL="0" indent="0">
              <a:buNone/>
            </a:pPr>
            <a:r>
              <a:rPr lang="en-US" sz="2200" b="1" dirty="0"/>
              <a:t>Daily Quiz</a:t>
            </a:r>
          </a:p>
          <a:p>
            <a:pPr marL="457200" indent="-457200">
              <a:buFont typeface="+mj-lt"/>
              <a:buAutoNum type="arabicPeriod"/>
            </a:pPr>
            <a:r>
              <a:rPr lang="pt-BR" sz="2000" dirty="0"/>
              <a:t>Number of unique subproblems in MCM for n matrices:</a:t>
            </a:r>
          </a:p>
          <a:p>
            <a:pPr marL="457200" lvl="1" indent="0">
              <a:buNone/>
            </a:pPr>
            <a:r>
              <a:rPr lang="pt-BR" sz="2000" dirty="0"/>
              <a:t>	A. O(n)</a:t>
            </a:r>
          </a:p>
          <a:p>
            <a:pPr marL="457200" lvl="1" indent="0">
              <a:buNone/>
            </a:pPr>
            <a:r>
              <a:rPr lang="pt-BR" sz="2000" dirty="0"/>
              <a:t>	B. O(n²)</a:t>
            </a:r>
          </a:p>
          <a:p>
            <a:pPr marL="457200" lvl="1" indent="0">
              <a:buNone/>
            </a:pPr>
            <a:r>
              <a:rPr lang="pt-BR" sz="2000" dirty="0"/>
              <a:t>	C. O(n³)</a:t>
            </a:r>
          </a:p>
          <a:p>
            <a:pPr marL="457200" lvl="1" indent="0">
              <a:buNone/>
            </a:pPr>
            <a:r>
              <a:rPr lang="pt-BR" sz="2000" dirty="0"/>
              <a:t>	D. O(2ⁿ)</a:t>
            </a:r>
          </a:p>
          <a:p>
            <a:pPr marL="457200" indent="-457200">
              <a:buFont typeface="+mj-lt"/>
              <a:buAutoNum type="arabicPeriod"/>
            </a:pPr>
            <a:r>
              <a:rPr lang="en-US" sz="2000" dirty="0"/>
              <a:t>Matrix Chain Multiplication for 4 matrices uses DP because:</a:t>
            </a:r>
          </a:p>
          <a:p>
            <a:pPr marL="0" indent="0">
              <a:buNone/>
            </a:pPr>
            <a:r>
              <a:rPr lang="en-US" sz="2000" dirty="0"/>
              <a:t>	A. Subproblems repeat</a:t>
            </a:r>
          </a:p>
          <a:p>
            <a:pPr marL="0" indent="0">
              <a:buNone/>
            </a:pPr>
            <a:r>
              <a:rPr lang="en-US" sz="2000" dirty="0"/>
              <a:t>	B. Greedy gives optimal</a:t>
            </a:r>
          </a:p>
          <a:p>
            <a:pPr marL="0" indent="0">
              <a:buNone/>
            </a:pPr>
            <a:r>
              <a:rPr lang="en-US" sz="2000" dirty="0"/>
              <a:t>	C. It's a sorting problem</a:t>
            </a:r>
          </a:p>
          <a:p>
            <a:pPr marL="0" indent="0">
              <a:buNone/>
            </a:pPr>
            <a:r>
              <a:rPr lang="en-US" sz="2000" dirty="0"/>
              <a:t>	D. No optimal substructure</a:t>
            </a:r>
          </a:p>
          <a:p>
            <a:pPr marL="457200" indent="-457200">
              <a:buAutoNum type="arabicPeriod" startAt="3"/>
            </a:pPr>
            <a:r>
              <a:rPr lang="en-US" sz="2000" dirty="0"/>
              <a:t>Matrix Chain Multiplication is solved using which technique?</a:t>
            </a:r>
          </a:p>
          <a:p>
            <a:pPr marL="1257300" lvl="2" indent="-342900">
              <a:buAutoNum type="alphaUcPeriod"/>
            </a:pPr>
            <a:r>
              <a:rPr lang="en-US" dirty="0"/>
              <a:t>Greedy Algorithm</a:t>
            </a:r>
          </a:p>
          <a:p>
            <a:pPr marL="1257300" lvl="2" indent="-342900">
              <a:buAutoNum type="alphaUcPeriod"/>
            </a:pPr>
            <a:r>
              <a:rPr lang="en-US" dirty="0"/>
              <a:t>Divide and Conquer</a:t>
            </a:r>
          </a:p>
          <a:p>
            <a:pPr marL="1257300" lvl="2" indent="-342900">
              <a:buAutoNum type="alphaUcPeriod"/>
            </a:pPr>
            <a:r>
              <a:rPr lang="en-US" sz="2000" dirty="0"/>
              <a:t>Dynamic Programming</a:t>
            </a:r>
          </a:p>
          <a:p>
            <a:pPr marL="1257300" lvl="2" indent="-342900">
              <a:buAutoNum type="alphaUcPeriod"/>
            </a:pPr>
            <a:r>
              <a:rPr lang="en-US" sz="2000" dirty="0"/>
              <a:t>Backtracking</a:t>
            </a:r>
            <a:endParaRPr lang="pt-BR" sz="2000" dirty="0"/>
          </a:p>
        </p:txBody>
      </p:sp>
    </p:spTree>
    <p:extLst>
      <p:ext uri="{BB962C8B-B14F-4D97-AF65-F5344CB8AC3E}">
        <p14:creationId xmlns:p14="http://schemas.microsoft.com/office/powerpoint/2010/main" val="4474068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F79B5-C09A-A3AC-EAB9-FABC20E299B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91F5CB8-D70F-79E8-AEC5-C17A616DDFF6}"/>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244D1E3-91E3-9DBF-F327-7325D82ECBB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8124C59-864A-7DAE-5102-4941436DD9AB}"/>
              </a:ext>
            </a:extLst>
          </p:cNvPr>
          <p:cNvSpPr>
            <a:spLocks noGrp="1"/>
          </p:cNvSpPr>
          <p:nvPr>
            <p:ph type="sldNum" sz="quarter" idx="12"/>
          </p:nvPr>
        </p:nvSpPr>
        <p:spPr/>
        <p:txBody>
          <a:bodyPr/>
          <a:lstStyle/>
          <a:p>
            <a:fld id="{B41E2F89-97C2-4B18-A593-8150592B5005}" type="slidenum">
              <a:rPr lang="en-US" smtClean="0"/>
              <a:t>60</a:t>
            </a:fld>
            <a:endParaRPr lang="en-US" dirty="0"/>
          </a:p>
        </p:txBody>
      </p:sp>
      <p:sp>
        <p:nvSpPr>
          <p:cNvPr id="7" name="Title 1">
            <a:extLst>
              <a:ext uri="{FF2B5EF4-FFF2-40B4-BE49-F238E27FC236}">
                <a16:creationId xmlns:a16="http://schemas.microsoft.com/office/drawing/2014/main" id="{F248F16E-62F5-2AE5-85B8-9F87BAFD76D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D19D0079-3597-4356-52E4-AE21591EA8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D56AE24F-8F8D-2C19-75C0-9482CB1B3744}"/>
              </a:ext>
            </a:extLst>
          </p:cNvPr>
          <p:cNvSpPr>
            <a:spLocks noGrp="1"/>
          </p:cNvSpPr>
          <p:nvPr>
            <p:ph idx="1"/>
          </p:nvPr>
        </p:nvSpPr>
        <p:spPr>
          <a:xfrm>
            <a:off x="457199" y="986319"/>
            <a:ext cx="11080679" cy="5455578"/>
          </a:xfrm>
        </p:spPr>
        <p:txBody>
          <a:bodyPr>
            <a:normAutofit/>
          </a:bodyPr>
          <a:lstStyle/>
          <a:p>
            <a:pPr marL="0" indent="0">
              <a:buNone/>
            </a:pPr>
            <a:r>
              <a:rPr lang="en-US" sz="2200" b="1" dirty="0"/>
              <a:t>Daily Quiz</a:t>
            </a:r>
          </a:p>
          <a:p>
            <a:pPr marL="457200" indent="-457200">
              <a:lnSpc>
                <a:spcPct val="100000"/>
              </a:lnSpc>
              <a:spcBef>
                <a:spcPts val="0"/>
              </a:spcBef>
              <a:buAutoNum type="arabicPeriod" startAt="4"/>
            </a:pPr>
            <a:r>
              <a:rPr lang="en-US" sz="2000" dirty="0"/>
              <a:t>What does </a:t>
            </a:r>
            <a:r>
              <a:rPr lang="en-US" sz="2000" dirty="0" err="1"/>
              <a:t>dp</a:t>
            </a:r>
            <a:r>
              <a:rPr lang="en-US" sz="2000" dirty="0"/>
              <a:t>[</a:t>
            </a:r>
            <a:r>
              <a:rPr lang="en-US" sz="2000" dirty="0" err="1"/>
              <a:t>i</a:t>
            </a:r>
            <a:r>
              <a:rPr lang="en-US" sz="2000" dirty="0"/>
              <a:t>][j] represent in MCM?</a:t>
            </a:r>
          </a:p>
          <a:p>
            <a:pPr marL="0" indent="0">
              <a:lnSpc>
                <a:spcPct val="100000"/>
              </a:lnSpc>
              <a:spcBef>
                <a:spcPts val="0"/>
              </a:spcBef>
              <a:buNone/>
            </a:pPr>
            <a:r>
              <a:rPr lang="en-US" sz="2000" dirty="0"/>
              <a:t>	A. Minimum cost to multiply matrices from </a:t>
            </a:r>
            <a:r>
              <a:rPr lang="en-US" sz="2000" dirty="0" err="1"/>
              <a:t>i</a:t>
            </a:r>
            <a:r>
              <a:rPr lang="en-US" sz="2000" dirty="0"/>
              <a:t> to j</a:t>
            </a:r>
          </a:p>
          <a:p>
            <a:pPr marL="0" indent="0">
              <a:lnSpc>
                <a:spcPct val="100000"/>
              </a:lnSpc>
              <a:spcBef>
                <a:spcPts val="0"/>
              </a:spcBef>
              <a:buNone/>
            </a:pPr>
            <a:r>
              <a:rPr lang="en-US" sz="2000" dirty="0"/>
              <a:t>	B. Maximum cost to multiply matrices from </a:t>
            </a:r>
            <a:r>
              <a:rPr lang="en-US" sz="2000" dirty="0" err="1"/>
              <a:t>i</a:t>
            </a:r>
            <a:r>
              <a:rPr lang="en-US" sz="2000" dirty="0"/>
              <a:t> to j</a:t>
            </a:r>
          </a:p>
          <a:p>
            <a:pPr marL="0" indent="0">
              <a:lnSpc>
                <a:spcPct val="100000"/>
              </a:lnSpc>
              <a:spcBef>
                <a:spcPts val="0"/>
              </a:spcBef>
              <a:buNone/>
            </a:pPr>
            <a:r>
              <a:rPr lang="en-US" sz="2000" dirty="0"/>
              <a:t>	C. Number of matrices from </a:t>
            </a:r>
            <a:r>
              <a:rPr lang="en-US" sz="2000" dirty="0" err="1"/>
              <a:t>i</a:t>
            </a:r>
            <a:r>
              <a:rPr lang="en-US" sz="2000" dirty="0"/>
              <a:t> to j</a:t>
            </a:r>
          </a:p>
          <a:p>
            <a:pPr marL="0" indent="0">
              <a:lnSpc>
                <a:spcPct val="100000"/>
              </a:lnSpc>
              <a:spcBef>
                <a:spcPts val="0"/>
              </a:spcBef>
              <a:buNone/>
            </a:pPr>
            <a:r>
              <a:rPr lang="en-US" sz="2000" dirty="0"/>
              <a:t>	D. Dimensions of matrix I</a:t>
            </a:r>
          </a:p>
          <a:p>
            <a:pPr marL="457200" indent="-457200">
              <a:lnSpc>
                <a:spcPct val="100000"/>
              </a:lnSpc>
              <a:spcBef>
                <a:spcPts val="0"/>
              </a:spcBef>
              <a:buAutoNum type="arabicPeriod" startAt="5"/>
            </a:pPr>
            <a:r>
              <a:rPr lang="en-US" sz="2000" dirty="0"/>
              <a:t>For matrices A(10×20), B(20×30), C(30×40). Minimum multiplications for (AB)C is:</a:t>
            </a:r>
          </a:p>
          <a:p>
            <a:pPr marL="0" indent="0">
              <a:lnSpc>
                <a:spcPct val="100000"/>
              </a:lnSpc>
              <a:spcBef>
                <a:spcPts val="0"/>
              </a:spcBef>
              <a:buNone/>
            </a:pPr>
            <a:r>
              <a:rPr lang="en-US" sz="2000" dirty="0"/>
              <a:t>	A. 18000</a:t>
            </a:r>
          </a:p>
          <a:p>
            <a:pPr marL="0" indent="0">
              <a:lnSpc>
                <a:spcPct val="100000"/>
              </a:lnSpc>
              <a:spcBef>
                <a:spcPts val="0"/>
              </a:spcBef>
              <a:buNone/>
            </a:pPr>
            <a:r>
              <a:rPr lang="en-US" sz="2000" dirty="0"/>
              <a:t>	B. 24000</a:t>
            </a:r>
          </a:p>
          <a:p>
            <a:pPr marL="0" indent="0">
              <a:lnSpc>
                <a:spcPct val="100000"/>
              </a:lnSpc>
              <a:spcBef>
                <a:spcPts val="0"/>
              </a:spcBef>
              <a:buNone/>
            </a:pPr>
            <a:r>
              <a:rPr lang="en-US" sz="2000" dirty="0"/>
              <a:t>	C. 32000</a:t>
            </a:r>
          </a:p>
          <a:p>
            <a:pPr marL="0" indent="0">
              <a:lnSpc>
                <a:spcPct val="100000"/>
              </a:lnSpc>
              <a:spcBef>
                <a:spcPts val="0"/>
              </a:spcBef>
              <a:buNone/>
            </a:pPr>
            <a:r>
              <a:rPr lang="en-US" sz="2000" dirty="0"/>
              <a:t>	D. 6000</a:t>
            </a:r>
          </a:p>
          <a:p>
            <a:pPr marL="0" indent="0">
              <a:lnSpc>
                <a:spcPct val="100000"/>
              </a:lnSpc>
              <a:spcBef>
                <a:spcPts val="0"/>
              </a:spcBef>
              <a:buNone/>
            </a:pPr>
            <a:endParaRPr lang="pt-BR" sz="2000" dirty="0"/>
          </a:p>
        </p:txBody>
      </p:sp>
    </p:spTree>
    <p:extLst>
      <p:ext uri="{BB962C8B-B14F-4D97-AF65-F5344CB8AC3E}">
        <p14:creationId xmlns:p14="http://schemas.microsoft.com/office/powerpoint/2010/main" val="37496418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F9DAD-DE72-6570-18F6-838F6DCB850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03443B6-F5B0-E46E-6AC7-57E6075BC07E}"/>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E857AAB6-3E56-DCB8-5C6A-C1AE53FF91A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D70AB0F-D4B3-6A3B-13EC-6C040FF86692}"/>
              </a:ext>
            </a:extLst>
          </p:cNvPr>
          <p:cNvSpPr>
            <a:spLocks noGrp="1"/>
          </p:cNvSpPr>
          <p:nvPr>
            <p:ph type="sldNum" sz="quarter" idx="12"/>
          </p:nvPr>
        </p:nvSpPr>
        <p:spPr/>
        <p:txBody>
          <a:bodyPr/>
          <a:lstStyle/>
          <a:p>
            <a:fld id="{B41E2F89-97C2-4B18-A593-8150592B5005}" type="slidenum">
              <a:rPr lang="en-US" smtClean="0"/>
              <a:t>61</a:t>
            </a:fld>
            <a:endParaRPr lang="en-US" dirty="0"/>
          </a:p>
        </p:txBody>
      </p:sp>
      <p:sp>
        <p:nvSpPr>
          <p:cNvPr id="7" name="Title 1">
            <a:extLst>
              <a:ext uri="{FF2B5EF4-FFF2-40B4-BE49-F238E27FC236}">
                <a16:creationId xmlns:a16="http://schemas.microsoft.com/office/drawing/2014/main" id="{3F899A42-6A1D-8A69-1C55-48B67DD920E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6BAA51B3-DD5E-02A0-E168-916782F0F2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C2562107-ADDF-2980-D6D5-1D782EE68971}"/>
              </a:ext>
            </a:extLst>
          </p:cNvPr>
          <p:cNvSpPr>
            <a:spLocks noGrp="1"/>
          </p:cNvSpPr>
          <p:nvPr>
            <p:ph idx="1"/>
          </p:nvPr>
        </p:nvSpPr>
        <p:spPr>
          <a:xfrm>
            <a:off x="838200" y="1130157"/>
            <a:ext cx="10515600" cy="5046806"/>
          </a:xfrm>
        </p:spPr>
        <p:txBody>
          <a:bodyPr>
            <a:normAutofit/>
          </a:bodyPr>
          <a:lstStyle/>
          <a:p>
            <a:pPr marL="0" indent="0" algn="ctr">
              <a:buNone/>
            </a:pPr>
            <a:r>
              <a:rPr lang="en-US" sz="3200" b="1" dirty="0"/>
              <a:t>(Assembly Line Scheduling)</a:t>
            </a:r>
          </a:p>
          <a:p>
            <a:pPr algn="just"/>
            <a:r>
              <a:rPr lang="en-US" dirty="0">
                <a:solidFill>
                  <a:srgbClr val="000000"/>
                </a:solidFill>
              </a:rPr>
              <a:t>In resource allocation problems, dynamic programming helps determine the optimal distribution of limited resources among competing entities. Whether it’s allocating bandwidth in a network, assigning tasks to processors, or optimizing production schedules, dynamic programming techniques enable efficient resource allocation.</a:t>
            </a:r>
          </a:p>
          <a:p>
            <a:pPr algn="just"/>
            <a:endParaRPr lang="en-US" dirty="0">
              <a:solidFill>
                <a:srgbClr val="000000"/>
              </a:solidFill>
            </a:endParaRPr>
          </a:p>
          <a:p>
            <a:pPr algn="just"/>
            <a:r>
              <a:rPr lang="en-US" dirty="0">
                <a:solidFill>
                  <a:srgbClr val="000000"/>
                </a:solidFill>
              </a:rPr>
              <a:t>Which station are chosen from line 1 or line 2 so that we can minimize the time for finished product through the factory. </a:t>
            </a:r>
          </a:p>
          <a:p>
            <a:pPr marL="0" indent="0">
              <a:buNone/>
            </a:pPr>
            <a:endParaRPr lang="en-US" dirty="0"/>
          </a:p>
        </p:txBody>
      </p:sp>
    </p:spTree>
    <p:extLst>
      <p:ext uri="{BB962C8B-B14F-4D97-AF65-F5344CB8AC3E}">
        <p14:creationId xmlns:p14="http://schemas.microsoft.com/office/powerpoint/2010/main" val="127327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F2EA-3C97-BBF9-2AA4-E4F3A1243EE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103F498-567B-A6BA-8466-F7C618D4793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7EEB57A4-D2F7-1B9A-E1D3-87B8E2C32F2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2EF06D4-EFA8-6565-E0B9-6EF87754386A}"/>
              </a:ext>
            </a:extLst>
          </p:cNvPr>
          <p:cNvSpPr>
            <a:spLocks noGrp="1"/>
          </p:cNvSpPr>
          <p:nvPr>
            <p:ph type="sldNum" sz="quarter" idx="12"/>
          </p:nvPr>
        </p:nvSpPr>
        <p:spPr/>
        <p:txBody>
          <a:bodyPr/>
          <a:lstStyle/>
          <a:p>
            <a:fld id="{B41E2F89-97C2-4B18-A593-8150592B5005}" type="slidenum">
              <a:rPr lang="en-US" smtClean="0"/>
              <a:t>62</a:t>
            </a:fld>
            <a:endParaRPr lang="en-US" dirty="0"/>
          </a:p>
        </p:txBody>
      </p:sp>
      <p:sp>
        <p:nvSpPr>
          <p:cNvPr id="7" name="Title 1">
            <a:extLst>
              <a:ext uri="{FF2B5EF4-FFF2-40B4-BE49-F238E27FC236}">
                <a16:creationId xmlns:a16="http://schemas.microsoft.com/office/drawing/2014/main" id="{ED789743-303D-0F10-2B19-5073B247A09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BAE57BEB-A191-3623-F336-64AF71A75C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2" name="Picture 2" descr="See the source image">
            <a:extLst>
              <a:ext uri="{FF2B5EF4-FFF2-40B4-BE49-F238E27FC236}">
                <a16:creationId xmlns:a16="http://schemas.microsoft.com/office/drawing/2014/main" id="{F215A36A-E1A9-9703-609A-906EC3AA4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573" y="1543040"/>
            <a:ext cx="10274854" cy="434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13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1CBE-D906-F540-E659-FD5E851B599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776E56D-E5B5-6653-3789-4524674FA497}"/>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17E487B7-B1FB-6290-DB6C-02ECCC1C7FA4}"/>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B74FDD1-BDF4-B6CC-9EB5-FD012377675E}"/>
              </a:ext>
            </a:extLst>
          </p:cNvPr>
          <p:cNvSpPr>
            <a:spLocks noGrp="1"/>
          </p:cNvSpPr>
          <p:nvPr>
            <p:ph type="sldNum" sz="quarter" idx="12"/>
          </p:nvPr>
        </p:nvSpPr>
        <p:spPr/>
        <p:txBody>
          <a:bodyPr/>
          <a:lstStyle/>
          <a:p>
            <a:fld id="{B41E2F89-97C2-4B18-A593-8150592B5005}" type="slidenum">
              <a:rPr lang="en-US" smtClean="0"/>
              <a:t>63</a:t>
            </a:fld>
            <a:endParaRPr lang="en-US" dirty="0"/>
          </a:p>
        </p:txBody>
      </p:sp>
      <p:sp>
        <p:nvSpPr>
          <p:cNvPr id="7" name="Title 1">
            <a:extLst>
              <a:ext uri="{FF2B5EF4-FFF2-40B4-BE49-F238E27FC236}">
                <a16:creationId xmlns:a16="http://schemas.microsoft.com/office/drawing/2014/main" id="{6A625F72-0418-A69D-B5CB-F288673A32C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682CE833-4CC6-F971-C162-A6CDC9A91F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2" name="Picture 1" descr="A group of circles with numbers&#10;&#10;Description automatically generated">
            <a:extLst>
              <a:ext uri="{FF2B5EF4-FFF2-40B4-BE49-F238E27FC236}">
                <a16:creationId xmlns:a16="http://schemas.microsoft.com/office/drawing/2014/main" id="{ACF00DE4-312E-DF2E-C07E-9F3EC2289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429" y="872521"/>
            <a:ext cx="11613223" cy="3997867"/>
          </a:xfrm>
          <a:prstGeom prst="rect">
            <a:avLst/>
          </a:prstGeom>
        </p:spPr>
      </p:pic>
      <p:graphicFrame>
        <p:nvGraphicFramePr>
          <p:cNvPr id="9" name="Table 8">
            <a:extLst>
              <a:ext uri="{FF2B5EF4-FFF2-40B4-BE49-F238E27FC236}">
                <a16:creationId xmlns:a16="http://schemas.microsoft.com/office/drawing/2014/main" id="{5BCC243A-CFA2-52D7-B917-D6A0AF2F8E27}"/>
              </a:ext>
            </a:extLst>
          </p:cNvPr>
          <p:cNvGraphicFramePr>
            <a:graphicFrameLocks noGrp="1"/>
          </p:cNvGraphicFramePr>
          <p:nvPr>
            <p:extLst>
              <p:ext uri="{D42A27DB-BD31-4B8C-83A1-F6EECF244321}">
                <p14:modId xmlns:p14="http://schemas.microsoft.com/office/powerpoint/2010/main" val="1999850295"/>
              </p:ext>
            </p:extLst>
          </p:nvPr>
        </p:nvGraphicFramePr>
        <p:xfrm>
          <a:off x="253429" y="5057109"/>
          <a:ext cx="6257797" cy="1112520"/>
        </p:xfrm>
        <a:graphic>
          <a:graphicData uri="http://schemas.openxmlformats.org/drawingml/2006/table">
            <a:tbl>
              <a:tblPr firstRow="1" bandRow="1">
                <a:tableStyleId>{5C22544A-7EE6-4342-B048-85BDC9FD1C3A}</a:tableStyleId>
              </a:tblPr>
              <a:tblGrid>
                <a:gridCol w="893971">
                  <a:extLst>
                    <a:ext uri="{9D8B030D-6E8A-4147-A177-3AD203B41FA5}">
                      <a16:colId xmlns:a16="http://schemas.microsoft.com/office/drawing/2014/main" val="3649983185"/>
                    </a:ext>
                  </a:extLst>
                </a:gridCol>
                <a:gridCol w="893971">
                  <a:extLst>
                    <a:ext uri="{9D8B030D-6E8A-4147-A177-3AD203B41FA5}">
                      <a16:colId xmlns:a16="http://schemas.microsoft.com/office/drawing/2014/main" val="408457364"/>
                    </a:ext>
                  </a:extLst>
                </a:gridCol>
                <a:gridCol w="893971">
                  <a:extLst>
                    <a:ext uri="{9D8B030D-6E8A-4147-A177-3AD203B41FA5}">
                      <a16:colId xmlns:a16="http://schemas.microsoft.com/office/drawing/2014/main" val="42426009"/>
                    </a:ext>
                  </a:extLst>
                </a:gridCol>
                <a:gridCol w="893971">
                  <a:extLst>
                    <a:ext uri="{9D8B030D-6E8A-4147-A177-3AD203B41FA5}">
                      <a16:colId xmlns:a16="http://schemas.microsoft.com/office/drawing/2014/main" val="3011090532"/>
                    </a:ext>
                  </a:extLst>
                </a:gridCol>
                <a:gridCol w="893971">
                  <a:extLst>
                    <a:ext uri="{9D8B030D-6E8A-4147-A177-3AD203B41FA5}">
                      <a16:colId xmlns:a16="http://schemas.microsoft.com/office/drawing/2014/main" val="1922556764"/>
                    </a:ext>
                  </a:extLst>
                </a:gridCol>
                <a:gridCol w="893971">
                  <a:extLst>
                    <a:ext uri="{9D8B030D-6E8A-4147-A177-3AD203B41FA5}">
                      <a16:colId xmlns:a16="http://schemas.microsoft.com/office/drawing/2014/main" val="1090446740"/>
                    </a:ext>
                  </a:extLst>
                </a:gridCol>
                <a:gridCol w="893971">
                  <a:extLst>
                    <a:ext uri="{9D8B030D-6E8A-4147-A177-3AD203B41FA5}">
                      <a16:colId xmlns:a16="http://schemas.microsoft.com/office/drawing/2014/main" val="8253680"/>
                    </a:ext>
                  </a:extLst>
                </a:gridCol>
              </a:tblGrid>
              <a:tr h="370840">
                <a:tc>
                  <a:txBody>
                    <a:bodyPr/>
                    <a:lstStyle/>
                    <a:p>
                      <a:endParaRPr lang="en-US" dirty="0"/>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1389076999"/>
                  </a:ext>
                </a:extLst>
              </a:tr>
              <a:tr h="370840">
                <a:tc>
                  <a:txBody>
                    <a:bodyPr/>
                    <a:lstStyle/>
                    <a:p>
                      <a:r>
                        <a:rPr lang="en-US" dirty="0"/>
                        <a:t>1</a:t>
                      </a:r>
                    </a:p>
                  </a:txBody>
                  <a:tcPr/>
                </a:tc>
                <a:tc>
                  <a:txBody>
                    <a:bodyPr/>
                    <a:lstStyle/>
                    <a:p>
                      <a:r>
                        <a:rPr lang="en-US" dirty="0"/>
                        <a:t>9</a:t>
                      </a:r>
                    </a:p>
                  </a:txBody>
                  <a:tcPr/>
                </a:tc>
                <a:tc>
                  <a:txBody>
                    <a:bodyPr/>
                    <a:lstStyle/>
                    <a:p>
                      <a:r>
                        <a:rPr lang="en-US" dirty="0"/>
                        <a:t>18</a:t>
                      </a:r>
                    </a:p>
                  </a:txBody>
                  <a:tcPr/>
                </a:tc>
                <a:tc>
                  <a:txBody>
                    <a:bodyPr/>
                    <a:lstStyle/>
                    <a:p>
                      <a:r>
                        <a:rPr lang="en-US" dirty="0"/>
                        <a:t>20</a:t>
                      </a:r>
                    </a:p>
                  </a:txBody>
                  <a:tcPr/>
                </a:tc>
                <a:tc>
                  <a:txBody>
                    <a:bodyPr/>
                    <a:lstStyle/>
                    <a:p>
                      <a:r>
                        <a:rPr lang="en-US" dirty="0"/>
                        <a:t>24</a:t>
                      </a:r>
                    </a:p>
                  </a:txBody>
                  <a:tcPr/>
                </a:tc>
                <a:tc>
                  <a:txBody>
                    <a:bodyPr/>
                    <a:lstStyle/>
                    <a:p>
                      <a:r>
                        <a:rPr lang="en-US" dirty="0"/>
                        <a:t>32</a:t>
                      </a:r>
                    </a:p>
                  </a:txBody>
                  <a:tcPr/>
                </a:tc>
                <a:tc>
                  <a:txBody>
                    <a:bodyPr/>
                    <a:lstStyle/>
                    <a:p>
                      <a:r>
                        <a:rPr lang="en-US" dirty="0"/>
                        <a:t>35</a:t>
                      </a:r>
                    </a:p>
                  </a:txBody>
                  <a:tcPr/>
                </a:tc>
                <a:extLst>
                  <a:ext uri="{0D108BD9-81ED-4DB2-BD59-A6C34878D82A}">
                    <a16:rowId xmlns:a16="http://schemas.microsoft.com/office/drawing/2014/main" val="2834731515"/>
                  </a:ext>
                </a:extLst>
              </a:tr>
              <a:tr h="370840">
                <a:tc>
                  <a:txBody>
                    <a:bodyPr/>
                    <a:lstStyle/>
                    <a:p>
                      <a:r>
                        <a:rPr lang="en-US" dirty="0"/>
                        <a:t>2</a:t>
                      </a:r>
                    </a:p>
                  </a:txBody>
                  <a:tcPr/>
                </a:tc>
                <a:tc>
                  <a:txBody>
                    <a:bodyPr/>
                    <a:lstStyle/>
                    <a:p>
                      <a:r>
                        <a:rPr lang="en-US" dirty="0"/>
                        <a:t>12</a:t>
                      </a:r>
                    </a:p>
                  </a:txBody>
                  <a:tcPr/>
                </a:tc>
                <a:tc>
                  <a:txBody>
                    <a:bodyPr/>
                    <a:lstStyle/>
                    <a:p>
                      <a:r>
                        <a:rPr lang="en-US" dirty="0"/>
                        <a:t>16</a:t>
                      </a:r>
                    </a:p>
                  </a:txBody>
                  <a:tcPr/>
                </a:tc>
                <a:tc>
                  <a:txBody>
                    <a:bodyPr/>
                    <a:lstStyle/>
                    <a:p>
                      <a:r>
                        <a:rPr lang="en-US" dirty="0"/>
                        <a:t>22</a:t>
                      </a:r>
                    </a:p>
                  </a:txBody>
                  <a:tcPr/>
                </a:tc>
                <a:tc>
                  <a:txBody>
                    <a:bodyPr/>
                    <a:lstStyle/>
                    <a:p>
                      <a:r>
                        <a:rPr lang="en-US" dirty="0"/>
                        <a:t>25</a:t>
                      </a:r>
                    </a:p>
                  </a:txBody>
                  <a:tcPr/>
                </a:tc>
                <a:tc>
                  <a:txBody>
                    <a:bodyPr/>
                    <a:lstStyle/>
                    <a:p>
                      <a:r>
                        <a:rPr lang="en-US" dirty="0"/>
                        <a:t>30</a:t>
                      </a:r>
                    </a:p>
                  </a:txBody>
                  <a:tcPr/>
                </a:tc>
                <a:tc>
                  <a:txBody>
                    <a:bodyPr/>
                    <a:lstStyle/>
                    <a:p>
                      <a:r>
                        <a:rPr lang="en-US" dirty="0"/>
                        <a:t>37</a:t>
                      </a:r>
                    </a:p>
                  </a:txBody>
                  <a:tcPr/>
                </a:tc>
                <a:extLst>
                  <a:ext uri="{0D108BD9-81ED-4DB2-BD59-A6C34878D82A}">
                    <a16:rowId xmlns:a16="http://schemas.microsoft.com/office/drawing/2014/main" val="4078894667"/>
                  </a:ext>
                </a:extLst>
              </a:tr>
            </a:tbl>
          </a:graphicData>
        </a:graphic>
      </p:graphicFrame>
      <p:graphicFrame>
        <p:nvGraphicFramePr>
          <p:cNvPr id="10" name="Table 9">
            <a:extLst>
              <a:ext uri="{FF2B5EF4-FFF2-40B4-BE49-F238E27FC236}">
                <a16:creationId xmlns:a16="http://schemas.microsoft.com/office/drawing/2014/main" id="{D2956BED-1A7C-6704-F71C-C56F65939337}"/>
              </a:ext>
            </a:extLst>
          </p:cNvPr>
          <p:cNvGraphicFramePr>
            <a:graphicFrameLocks noGrp="1"/>
          </p:cNvGraphicFramePr>
          <p:nvPr>
            <p:extLst>
              <p:ext uri="{D42A27DB-BD31-4B8C-83A1-F6EECF244321}">
                <p14:modId xmlns:p14="http://schemas.microsoft.com/office/powerpoint/2010/main" val="194285798"/>
              </p:ext>
            </p:extLst>
          </p:nvPr>
        </p:nvGraphicFramePr>
        <p:xfrm>
          <a:off x="6669601" y="5057109"/>
          <a:ext cx="5268970" cy="1112520"/>
        </p:xfrm>
        <a:graphic>
          <a:graphicData uri="http://schemas.openxmlformats.org/drawingml/2006/table">
            <a:tbl>
              <a:tblPr firstRow="1" bandRow="1">
                <a:tableStyleId>{5C22544A-7EE6-4342-B048-85BDC9FD1C3A}</a:tableStyleId>
              </a:tblPr>
              <a:tblGrid>
                <a:gridCol w="752710">
                  <a:extLst>
                    <a:ext uri="{9D8B030D-6E8A-4147-A177-3AD203B41FA5}">
                      <a16:colId xmlns:a16="http://schemas.microsoft.com/office/drawing/2014/main" val="408457364"/>
                    </a:ext>
                  </a:extLst>
                </a:gridCol>
                <a:gridCol w="752710">
                  <a:extLst>
                    <a:ext uri="{9D8B030D-6E8A-4147-A177-3AD203B41FA5}">
                      <a16:colId xmlns:a16="http://schemas.microsoft.com/office/drawing/2014/main" val="42426009"/>
                    </a:ext>
                  </a:extLst>
                </a:gridCol>
                <a:gridCol w="752710">
                  <a:extLst>
                    <a:ext uri="{9D8B030D-6E8A-4147-A177-3AD203B41FA5}">
                      <a16:colId xmlns:a16="http://schemas.microsoft.com/office/drawing/2014/main" val="3011090532"/>
                    </a:ext>
                  </a:extLst>
                </a:gridCol>
                <a:gridCol w="752710">
                  <a:extLst>
                    <a:ext uri="{9D8B030D-6E8A-4147-A177-3AD203B41FA5}">
                      <a16:colId xmlns:a16="http://schemas.microsoft.com/office/drawing/2014/main" val="700640895"/>
                    </a:ext>
                  </a:extLst>
                </a:gridCol>
                <a:gridCol w="752710">
                  <a:extLst>
                    <a:ext uri="{9D8B030D-6E8A-4147-A177-3AD203B41FA5}">
                      <a16:colId xmlns:a16="http://schemas.microsoft.com/office/drawing/2014/main" val="1922556764"/>
                    </a:ext>
                  </a:extLst>
                </a:gridCol>
                <a:gridCol w="752710">
                  <a:extLst>
                    <a:ext uri="{9D8B030D-6E8A-4147-A177-3AD203B41FA5}">
                      <a16:colId xmlns:a16="http://schemas.microsoft.com/office/drawing/2014/main" val="1090446740"/>
                    </a:ext>
                  </a:extLst>
                </a:gridCol>
                <a:gridCol w="752710">
                  <a:extLst>
                    <a:ext uri="{9D8B030D-6E8A-4147-A177-3AD203B41FA5}">
                      <a16:colId xmlns:a16="http://schemas.microsoft.com/office/drawing/2014/main" val="8253680"/>
                    </a:ext>
                  </a:extLst>
                </a:gridCol>
              </a:tblGrid>
              <a:tr h="370840">
                <a:tc>
                  <a:txBody>
                    <a:bodyPr/>
                    <a:lstStyle/>
                    <a:p>
                      <a:endParaRPr lang="en-US" dirty="0"/>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1389076999"/>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834731515"/>
                  </a:ext>
                </a:extLst>
              </a:tr>
              <a:tr h="370840">
                <a:tc>
                  <a:txBody>
                    <a:bodyPr/>
                    <a:lstStyle/>
                    <a:p>
                      <a:r>
                        <a:rPr lang="en-US" dirty="0"/>
                        <a:t>2</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tc>
                  <a:txBody>
                    <a:bodyPr/>
                    <a:lstStyle/>
                    <a:p>
                      <a:r>
                        <a:rPr lang="en-US" dirty="0"/>
                        <a:t>2</a:t>
                      </a:r>
                    </a:p>
                  </a:txBody>
                  <a:tcPr/>
                </a:tc>
                <a:extLst>
                  <a:ext uri="{0D108BD9-81ED-4DB2-BD59-A6C34878D82A}">
                    <a16:rowId xmlns:a16="http://schemas.microsoft.com/office/drawing/2014/main" val="4078894667"/>
                  </a:ext>
                </a:extLst>
              </a:tr>
            </a:tbl>
          </a:graphicData>
        </a:graphic>
      </p:graphicFrame>
    </p:spTree>
    <p:extLst>
      <p:ext uri="{BB962C8B-B14F-4D97-AF65-F5344CB8AC3E}">
        <p14:creationId xmlns:p14="http://schemas.microsoft.com/office/powerpoint/2010/main" val="997027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0A610-5E20-6725-05E3-C05B14D37B2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92B4FBF-1216-B414-5A53-CF30A425FF0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0DFCA92A-62BA-99E6-50A1-B8397863FDB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D509CB8-A388-27D9-3FDA-963E2EC27A5D}"/>
              </a:ext>
            </a:extLst>
          </p:cNvPr>
          <p:cNvSpPr>
            <a:spLocks noGrp="1"/>
          </p:cNvSpPr>
          <p:nvPr>
            <p:ph type="sldNum" sz="quarter" idx="12"/>
          </p:nvPr>
        </p:nvSpPr>
        <p:spPr/>
        <p:txBody>
          <a:bodyPr/>
          <a:lstStyle/>
          <a:p>
            <a:fld id="{B41E2F89-97C2-4B18-A593-8150592B5005}" type="slidenum">
              <a:rPr lang="en-US" smtClean="0"/>
              <a:t>64</a:t>
            </a:fld>
            <a:endParaRPr lang="en-US" dirty="0"/>
          </a:p>
        </p:txBody>
      </p:sp>
      <p:sp>
        <p:nvSpPr>
          <p:cNvPr id="7" name="Title 1">
            <a:extLst>
              <a:ext uri="{FF2B5EF4-FFF2-40B4-BE49-F238E27FC236}">
                <a16:creationId xmlns:a16="http://schemas.microsoft.com/office/drawing/2014/main" id="{D4A441D1-9832-F46C-F7D6-DE2E0A17F36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4C6C6497-E5D8-5631-B533-7ECF6CF30B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72F08B-496C-F0D8-2274-DF8FC7A5CFD7}"/>
                  </a:ext>
                </a:extLst>
              </p:cNvPr>
              <p:cNvSpPr>
                <a:spLocks noGrp="1"/>
              </p:cNvSpPr>
              <p:nvPr>
                <p:ph idx="1"/>
              </p:nvPr>
            </p:nvSpPr>
            <p:spPr>
              <a:xfrm>
                <a:off x="838200" y="996594"/>
                <a:ext cx="10515600" cy="5353828"/>
              </a:xfrm>
            </p:spPr>
            <p:txBody>
              <a:bodyPr>
                <a:normAutofit lnSpcReduction="10000"/>
              </a:bodyPr>
              <a:lstStyle/>
              <a:p>
                <a:pPr marL="0" indent="0" algn="just">
                  <a:buNone/>
                </a:pPr>
                <a:r>
                  <a:rPr lang="en-US" dirty="0">
                    <a:solidFill>
                      <a:srgbClr val="000000"/>
                    </a:solidFill>
                  </a:rPr>
                  <a:t>S </a:t>
                </a:r>
                <a:r>
                  <a:rPr lang="en-US" dirty="0" err="1">
                    <a:solidFill>
                      <a:srgbClr val="000000"/>
                    </a:solidFill>
                  </a:rPr>
                  <a:t>i,j</a:t>
                </a:r>
                <a:r>
                  <a:rPr lang="en-US" dirty="0">
                    <a:solidFill>
                      <a:srgbClr val="000000"/>
                    </a:solidFill>
                  </a:rPr>
                  <a:t> : Station j on assembly line I</a:t>
                </a:r>
              </a:p>
              <a:p>
                <a:pPr marL="0" indent="0" algn="just">
                  <a:buNone/>
                </a:pPr>
                <a:r>
                  <a:rPr lang="en-US" dirty="0">
                    <a:solidFill>
                      <a:srgbClr val="000000"/>
                    </a:solidFill>
                  </a:rPr>
                  <a:t>e1: Time to enter in assembly line 1</a:t>
                </a:r>
              </a:p>
              <a:p>
                <a:pPr marL="0" indent="0" algn="just">
                  <a:buNone/>
                </a:pPr>
                <a:r>
                  <a:rPr lang="en-US" dirty="0">
                    <a:solidFill>
                      <a:srgbClr val="000000"/>
                    </a:solidFill>
                  </a:rPr>
                  <a:t>e2: Time to enter in assembly line 2</a:t>
                </a:r>
              </a:p>
              <a:p>
                <a:pPr marL="0" indent="0" algn="just">
                  <a:buNone/>
                </a:pPr>
                <a:r>
                  <a:rPr lang="en-US" dirty="0">
                    <a:solidFill>
                      <a:srgbClr val="000000"/>
                    </a:solidFill>
                  </a:rPr>
                  <a:t>x1: Time to exit from assembly line 1</a:t>
                </a:r>
              </a:p>
              <a:p>
                <a:pPr marL="0" indent="0" algn="just">
                  <a:buNone/>
                </a:pPr>
                <a:r>
                  <a:rPr lang="en-US" dirty="0">
                    <a:solidFill>
                      <a:srgbClr val="000000"/>
                    </a:solidFill>
                  </a:rPr>
                  <a:t>x2: Time to exit from assembly line 2</a:t>
                </a:r>
              </a:p>
              <a:p>
                <a:pPr marL="0" indent="0" algn="just">
                  <a:buNone/>
                </a:pPr>
                <a:r>
                  <a:rPr lang="en-US" dirty="0" err="1">
                    <a:solidFill>
                      <a:srgbClr val="000000"/>
                    </a:solidFill>
                  </a:rPr>
                  <a:t>ti,j</a:t>
                </a:r>
                <a:r>
                  <a:rPr lang="en-US" dirty="0">
                    <a:solidFill>
                      <a:srgbClr val="000000"/>
                    </a:solidFill>
                  </a:rPr>
                  <a:t> : Transfer time from station j on assembly line one to another.</a:t>
                </a:r>
              </a:p>
              <a:p>
                <a:pPr marL="0" indent="0" algn="just">
                  <a:buNone/>
                </a:pPr>
                <a:endParaRPr lang="en-US" dirty="0">
                  <a:solidFill>
                    <a:srgbClr val="000000"/>
                  </a:solidFill>
                </a:endParaRPr>
              </a:p>
              <a:p>
                <a:pPr marL="0" indent="0" algn="just">
                  <a:buNone/>
                </a:pPr>
                <a:r>
                  <a:rPr lang="en-US" dirty="0">
                    <a:solidFill>
                      <a:srgbClr val="000000"/>
                    </a:solidFill>
                  </a:rPr>
                  <a:t>Fastest way through station S[2, j] can be calculated as</a:t>
                </a:r>
              </a:p>
              <a:p>
                <a:pPr marL="0" indent="0" algn="just">
                  <a:buNone/>
                </a:pPr>
                <a:endParaRPr lang="en-US" dirty="0">
                  <a:solidFill>
                    <a:srgbClr val="000000"/>
                  </a:solidFill>
                </a:endParaRPr>
              </a:p>
              <a:p>
                <a:pPr marL="0" indent="0" algn="just">
                  <a:buNone/>
                </a:pPr>
                <a14:m>
                  <m:oMathPara xmlns:m="http://schemas.openxmlformats.org/officeDocument/2006/math">
                    <m:o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e>
                      </m:d>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eqArr>
                            <m:eqArrPr>
                              <m:ctrlPr>
                                <a:rPr lang="en-US" i="1">
                                  <a:solidFill>
                                    <a:srgbClr val="000000"/>
                                  </a:solidFill>
                                  <a:latin typeface="Cambria Math" panose="02040503050406030204" pitchFamily="18" charset="0"/>
                                </a:rPr>
                              </m:ctrlPr>
                            </m:eqArrPr>
                            <m:e>
                              <m:r>
                                <a:rPr lang="en-US" i="1">
                                  <a:solidFill>
                                    <a:srgbClr val="000000"/>
                                  </a:solidFill>
                                  <a:latin typeface="Cambria Math" panose="02040503050406030204" pitchFamily="18" charset="0"/>
                                </a:rPr>
                                <m:t>𝑒</m:t>
                              </m:r>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2,1</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e>
                              <m:func>
                                <m:funcPr>
                                  <m:ctrlPr>
                                    <a:rPr lang="en-US">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min</m:t>
                                  </m:r>
                                </m:fName>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sub>
                                  </m:sSub>
                                </m:e>
                              </m:func>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≥2</m:t>
                              </m:r>
                            </m:e>
                          </m:eqArr>
                        </m:e>
                      </m:d>
                    </m:oMath>
                  </m:oMathPara>
                </a14:m>
                <a:endParaRPr lang="en-US" dirty="0"/>
              </a:p>
            </p:txBody>
          </p:sp>
        </mc:Choice>
        <mc:Fallback xmlns="">
          <p:sp>
            <p:nvSpPr>
              <p:cNvPr id="3" name="Content Placeholder 2">
                <a:extLst>
                  <a:ext uri="{FF2B5EF4-FFF2-40B4-BE49-F238E27FC236}">
                    <a16:creationId xmlns:a16="http://schemas.microsoft.com/office/drawing/2014/main" id="{2B72F08B-496C-F0D8-2274-DF8FC7A5CFD7}"/>
                  </a:ext>
                </a:extLst>
              </p:cNvPr>
              <p:cNvSpPr>
                <a:spLocks noGrp="1" noRot="1" noChangeAspect="1" noMove="1" noResize="1" noEditPoints="1" noAdjustHandles="1" noChangeArrowheads="1" noChangeShapeType="1" noTextEdit="1"/>
              </p:cNvSpPr>
              <p:nvPr>
                <p:ph idx="1"/>
              </p:nvPr>
            </p:nvSpPr>
            <p:spPr>
              <a:xfrm>
                <a:off x="838200" y="996594"/>
                <a:ext cx="10515600" cy="5353828"/>
              </a:xfrm>
              <a:blipFill>
                <a:blip r:embed="rId3"/>
                <a:stretch>
                  <a:fillRect l="-1217" t="-2503"/>
                </a:stretch>
              </a:blipFill>
            </p:spPr>
            <p:txBody>
              <a:bodyPr/>
              <a:lstStyle/>
              <a:p>
                <a:r>
                  <a:rPr lang="en-US">
                    <a:noFill/>
                  </a:rPr>
                  <a:t> </a:t>
                </a:r>
              </a:p>
            </p:txBody>
          </p:sp>
        </mc:Fallback>
      </mc:AlternateContent>
    </p:spTree>
    <p:extLst>
      <p:ext uri="{BB962C8B-B14F-4D97-AF65-F5344CB8AC3E}">
        <p14:creationId xmlns:p14="http://schemas.microsoft.com/office/powerpoint/2010/main" val="6529643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0F2C7-3A9B-6D57-3FDE-42DA57FB299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169C932-7C81-D5A2-E84E-D714AE54BDD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0EA7B391-8303-C5DC-8E60-C40706BE395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B372BC9-E4DB-FB69-9ADE-864DBA80735C}"/>
              </a:ext>
            </a:extLst>
          </p:cNvPr>
          <p:cNvSpPr>
            <a:spLocks noGrp="1"/>
          </p:cNvSpPr>
          <p:nvPr>
            <p:ph type="sldNum" sz="quarter" idx="12"/>
          </p:nvPr>
        </p:nvSpPr>
        <p:spPr/>
        <p:txBody>
          <a:bodyPr/>
          <a:lstStyle/>
          <a:p>
            <a:fld id="{B41E2F89-97C2-4B18-A593-8150592B5005}" type="slidenum">
              <a:rPr lang="en-US" smtClean="0"/>
              <a:t>65</a:t>
            </a:fld>
            <a:endParaRPr lang="en-US" dirty="0"/>
          </a:p>
        </p:txBody>
      </p:sp>
      <p:sp>
        <p:nvSpPr>
          <p:cNvPr id="7" name="Title 1">
            <a:extLst>
              <a:ext uri="{FF2B5EF4-FFF2-40B4-BE49-F238E27FC236}">
                <a16:creationId xmlns:a16="http://schemas.microsoft.com/office/drawing/2014/main" id="{011963DD-C92D-7086-2206-0553C6B9650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FC843079-594C-2B66-A6F5-FE7B474DDB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399866-BEA0-9713-3CD9-E310AA152BA3}"/>
                  </a:ext>
                </a:extLst>
              </p:cNvPr>
              <p:cNvSpPr>
                <a:spLocks noGrp="1"/>
              </p:cNvSpPr>
              <p:nvPr>
                <p:ph idx="1"/>
              </p:nvPr>
            </p:nvSpPr>
            <p:spPr>
              <a:xfrm>
                <a:off x="838200" y="893852"/>
                <a:ext cx="10515600" cy="5456569"/>
              </a:xfrm>
            </p:spPr>
            <p:txBody>
              <a:bodyPr>
                <a:normAutofit fontScale="77500" lnSpcReduction="20000"/>
              </a:bodyPr>
              <a:lstStyle/>
              <a:p>
                <a:pPr marL="0" indent="0">
                  <a:buNone/>
                </a:pPr>
                <a:r>
                  <a:rPr lang="en-US" b="1" dirty="0"/>
                  <a:t>Pseudocode:</a:t>
                </a:r>
              </a:p>
              <a:p>
                <a:pPr marL="0" indent="0">
                  <a:buNone/>
                </a:pPr>
                <a:endParaRPr lang="en-US" dirty="0"/>
              </a:p>
              <a:p>
                <a:pPr marL="0" indent="0">
                  <a:buNone/>
                </a:pPr>
                <a:r>
                  <a:rPr lang="en-US" sz="2400" dirty="0">
                    <a:solidFill>
                      <a:srgbClr val="000000"/>
                    </a:solidFill>
                  </a:rPr>
                  <a:t>Fastest_Time(</a:t>
                </a:r>
                <a:r>
                  <a:rPr lang="en-US" sz="2400" dirty="0" err="1">
                    <a:solidFill>
                      <a:srgbClr val="000000"/>
                    </a:solidFill>
                  </a:rPr>
                  <a:t>a,e,x,t,n</a:t>
                </a:r>
                <a:r>
                  <a:rPr lang="en-US" sz="2400" dirty="0">
                    <a:solidFill>
                      <a:srgbClr val="000000"/>
                    </a:solidFill>
                  </a:rPr>
                  <a:t>)</a:t>
                </a:r>
              </a:p>
              <a:p>
                <a:pPr marL="0" indent="0">
                  <a:buNone/>
                </a:pPr>
                <a:r>
                  <a:rPr lang="en-US" sz="2400" dirty="0">
                    <a:solidFill>
                      <a:srgbClr val="000000"/>
                    </a:solidFill>
                  </a:rPr>
                  <a:t>{</a:t>
                </a:r>
              </a:p>
              <a:p>
                <a:pPr marL="0" indent="0">
                  <a:buNone/>
                </a:pPr>
                <a:r>
                  <a:rPr lang="en-US" sz="2400" dirty="0">
                    <a:solidFill>
                      <a:srgbClr val="000000"/>
                    </a:solidFill>
                  </a:rPr>
                  <a:t>	f1[1] = e</a:t>
                </a:r>
                <a:r>
                  <a:rPr lang="en-US" sz="2400" baseline="-25000" dirty="0">
                    <a:solidFill>
                      <a:srgbClr val="000000"/>
                    </a:solidFill>
                  </a:rPr>
                  <a:t>1</a:t>
                </a:r>
                <a:r>
                  <a:rPr lang="en-US" sz="2400" dirty="0">
                    <a:solidFill>
                      <a:srgbClr val="000000"/>
                    </a:solidFill>
                  </a:rPr>
                  <a:t> + a</a:t>
                </a:r>
                <a:r>
                  <a:rPr lang="en-US" sz="2400" baseline="-25000" dirty="0">
                    <a:solidFill>
                      <a:srgbClr val="000000"/>
                    </a:solidFill>
                  </a:rPr>
                  <a:t>1,1</a:t>
                </a:r>
              </a:p>
              <a:p>
                <a:pPr marL="0" indent="0">
                  <a:buNone/>
                </a:pPr>
                <a:r>
                  <a:rPr lang="en-US" sz="2400" dirty="0">
                    <a:solidFill>
                      <a:srgbClr val="000000"/>
                    </a:solidFill>
                  </a:rPr>
                  <a:t>f2[1] =    e</a:t>
                </a:r>
                <a:r>
                  <a:rPr lang="en-US" sz="2400" baseline="-25000" dirty="0">
                    <a:solidFill>
                      <a:srgbClr val="000000"/>
                    </a:solidFill>
                  </a:rPr>
                  <a:t>2</a:t>
                </a:r>
                <a:r>
                  <a:rPr lang="en-US" sz="2400" dirty="0">
                    <a:solidFill>
                      <a:srgbClr val="000000"/>
                    </a:solidFill>
                  </a:rPr>
                  <a:t> + a</a:t>
                </a:r>
                <a:r>
                  <a:rPr lang="en-US" sz="2400" baseline="-25000" dirty="0">
                    <a:solidFill>
                      <a:srgbClr val="000000"/>
                    </a:solidFill>
                  </a:rPr>
                  <a:t>2,1</a:t>
                </a:r>
              </a:p>
              <a:p>
                <a:pPr marL="0" indent="0">
                  <a:buNone/>
                </a:pPr>
                <a:r>
                  <a:rPr lang="en-US" sz="2400" dirty="0">
                    <a:solidFill>
                      <a:srgbClr val="000000"/>
                    </a:solidFill>
                  </a:rPr>
                  <a:t>for j =2 to n</a:t>
                </a:r>
              </a:p>
              <a:p>
                <a:pPr marL="0" indent="0">
                  <a:buNone/>
                </a:pPr>
                <a:r>
                  <a:rPr lang="en-US" sz="2400" dirty="0">
                    <a:solidFill>
                      <a:srgbClr val="000000"/>
                    </a:solidFill>
                  </a:rPr>
                  <a:t>	{</a:t>
                </a:r>
              </a:p>
              <a:p>
                <a:pPr marL="0" indent="0">
                  <a:buNone/>
                </a:pPr>
                <a:r>
                  <a:rPr lang="en-US" sz="2400" dirty="0">
                    <a:solidFill>
                      <a:srgbClr val="000000"/>
                    </a:solidFill>
                  </a:rPr>
                  <a:t>		if </a:t>
                </a:r>
                <a14:m>
                  <m:oMath xmlns:m="http://schemas.openxmlformats.org/officeDocument/2006/math">
                    <m:func>
                      <m:funcPr>
                        <m:ctrlPr>
                          <a:rPr lang="en-US" i="1">
                            <a:solidFill>
                              <a:srgbClr val="000000"/>
                            </a:solidFill>
                            <a:latin typeface="Cambria Math" panose="02040503050406030204" pitchFamily="18" charset="0"/>
                          </a:rPr>
                        </m:ctrlPr>
                      </m:funcPr>
                      <m:fName>
                        <m:r>
                          <a:rPr lang="en-US" i="1">
                            <a:solidFill>
                              <a:srgbClr val="000000"/>
                            </a:solidFill>
                            <a:latin typeface="Cambria Math" panose="02040503050406030204" pitchFamily="18" charset="0"/>
                          </a:rPr>
                          <m:t> </m:t>
                        </m:r>
                      </m:fName>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e>
                    </m:fun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oMath>
                </a14:m>
                <a:r>
                  <a:rPr lang="en-US" sz="2400" dirty="0">
                    <a:solidFill>
                      <a:srgbClr val="000000"/>
                    </a:solidFill>
                  </a:rPr>
                  <a:t>)</a:t>
                </a:r>
              </a:p>
              <a:p>
                <a:pPr marL="0" indent="0">
                  <a:buNone/>
                </a:pPr>
                <a:r>
                  <a:rPr lang="en-US" sz="2400" dirty="0">
                    <a:solidFill>
                      <a:srgbClr val="000000"/>
                    </a:solidFill>
                  </a:rPr>
                  <a:t>		{	f1[j] =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oMath>
                </a14:m>
                <a:endParaRPr lang="en-US" sz="2400" dirty="0">
                  <a:solidFill>
                    <a:srgbClr val="000000"/>
                  </a:solidFill>
                </a:endParaRPr>
              </a:p>
              <a:p>
                <a:pPr marL="0" indent="0">
                  <a:buNone/>
                </a:pPr>
                <a:r>
                  <a:rPr lang="en-US" sz="2400" dirty="0">
                    <a:solidFill>
                      <a:srgbClr val="000000"/>
                    </a:solidFill>
                  </a:rPr>
                  <a:t>			l1[j] = 1</a:t>
                </a:r>
              </a:p>
              <a:p>
                <a:pPr marL="0" indent="0">
                  <a:buNone/>
                </a:pPr>
                <a:r>
                  <a:rPr lang="en-US" sz="2400" dirty="0">
                    <a:solidFill>
                      <a:srgbClr val="000000"/>
                    </a:solidFill>
                  </a:rPr>
                  <a:t>		}</a:t>
                </a:r>
              </a:p>
              <a:p>
                <a:pPr marL="0" indent="0">
                  <a:buNone/>
                </a:pPr>
                <a:r>
                  <a:rPr lang="en-US" sz="2400" dirty="0">
                    <a:solidFill>
                      <a:srgbClr val="000000"/>
                    </a:solidFill>
                  </a:rPr>
                  <a:t>		else</a:t>
                </a:r>
              </a:p>
              <a:p>
                <a:pPr marL="0" indent="0">
                  <a:buNone/>
                </a:pPr>
                <a:r>
                  <a:rPr lang="en-US" sz="2400" dirty="0">
                    <a:solidFill>
                      <a:srgbClr val="000000"/>
                    </a:solidFill>
                  </a:rPr>
                  <a:t>		{	f1[j]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oMath>
                </a14:m>
                <a:endParaRPr lang="en-US" sz="2400" dirty="0">
                  <a:solidFill>
                    <a:srgbClr val="000000"/>
                  </a:solidFill>
                </a:endParaRPr>
              </a:p>
              <a:p>
                <a:pPr marL="0" indent="0">
                  <a:buNone/>
                </a:pPr>
                <a:r>
                  <a:rPr lang="en-US" sz="2400" dirty="0">
                    <a:solidFill>
                      <a:srgbClr val="000000"/>
                    </a:solidFill>
                  </a:rPr>
                  <a:t>			l1[j] = 2</a:t>
                </a:r>
              </a:p>
              <a:p>
                <a:pPr marL="0" indent="0">
                  <a:buNone/>
                </a:pPr>
                <a:r>
                  <a:rPr lang="en-US" sz="2400" dirty="0">
                    <a:solidFill>
                      <a:srgbClr val="000000"/>
                    </a:solidFill>
                  </a:rPr>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F399866-BEA0-9713-3CD9-E310AA152BA3}"/>
                  </a:ext>
                </a:extLst>
              </p:cNvPr>
              <p:cNvSpPr>
                <a:spLocks noGrp="1" noRot="1" noChangeAspect="1" noMove="1" noResize="1" noEditPoints="1" noAdjustHandles="1" noChangeArrowheads="1" noChangeShapeType="1" noTextEdit="1"/>
              </p:cNvSpPr>
              <p:nvPr>
                <p:ph idx="1"/>
              </p:nvPr>
            </p:nvSpPr>
            <p:spPr>
              <a:xfrm>
                <a:off x="838200" y="893852"/>
                <a:ext cx="10515600" cy="5456569"/>
              </a:xfrm>
              <a:blipFill>
                <a:blip r:embed="rId3"/>
                <a:stretch>
                  <a:fillRect l="-754" t="-2346" b="-2235"/>
                </a:stretch>
              </a:blipFill>
            </p:spPr>
            <p:txBody>
              <a:bodyPr/>
              <a:lstStyle/>
              <a:p>
                <a:r>
                  <a:rPr lang="en-US">
                    <a:noFill/>
                  </a:rPr>
                  <a:t> </a:t>
                </a:r>
              </a:p>
            </p:txBody>
          </p:sp>
        </mc:Fallback>
      </mc:AlternateContent>
    </p:spTree>
    <p:extLst>
      <p:ext uri="{BB962C8B-B14F-4D97-AF65-F5344CB8AC3E}">
        <p14:creationId xmlns:p14="http://schemas.microsoft.com/office/powerpoint/2010/main" val="33675444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6C380-34E4-806C-C47A-A4E89463BCB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F06C60-14B2-5238-BBB9-52AD181ED7F2}"/>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3E2A9761-226A-643E-17A3-04704ACB1B8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9367937-5013-D3E7-A4C2-6C0B605E12D7}"/>
              </a:ext>
            </a:extLst>
          </p:cNvPr>
          <p:cNvSpPr>
            <a:spLocks noGrp="1"/>
          </p:cNvSpPr>
          <p:nvPr>
            <p:ph type="sldNum" sz="quarter" idx="12"/>
          </p:nvPr>
        </p:nvSpPr>
        <p:spPr/>
        <p:txBody>
          <a:bodyPr/>
          <a:lstStyle/>
          <a:p>
            <a:fld id="{B41E2F89-97C2-4B18-A593-8150592B5005}" type="slidenum">
              <a:rPr lang="en-US" smtClean="0"/>
              <a:t>66</a:t>
            </a:fld>
            <a:endParaRPr lang="en-US" dirty="0"/>
          </a:p>
        </p:txBody>
      </p:sp>
      <p:sp>
        <p:nvSpPr>
          <p:cNvPr id="7" name="Title 1">
            <a:extLst>
              <a:ext uri="{FF2B5EF4-FFF2-40B4-BE49-F238E27FC236}">
                <a16:creationId xmlns:a16="http://schemas.microsoft.com/office/drawing/2014/main" id="{14C052F9-7C85-9F33-5891-5594A84FF00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BCB44855-B264-C2F8-B27B-2CC4DCB3B7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763BE7-0058-C4A1-F2CF-BB9DF2D85ADB}"/>
                  </a:ext>
                </a:extLst>
              </p:cNvPr>
              <p:cNvSpPr>
                <a:spLocks noGrp="1"/>
              </p:cNvSpPr>
              <p:nvPr>
                <p:ph idx="1"/>
              </p:nvPr>
            </p:nvSpPr>
            <p:spPr>
              <a:xfrm>
                <a:off x="838200" y="893852"/>
                <a:ext cx="10515600" cy="5456569"/>
              </a:xfrm>
            </p:spPr>
            <p:txBody>
              <a:bodyPr>
                <a:normAutofit fontScale="70000" lnSpcReduction="20000"/>
              </a:bodyPr>
              <a:lstStyle/>
              <a:p>
                <a:pPr marL="0" indent="0">
                  <a:buNone/>
                </a:pPr>
                <a:r>
                  <a:rPr lang="en-US" dirty="0">
                    <a:solidFill>
                      <a:srgbClr val="000000"/>
                    </a:solidFill>
                  </a:rPr>
                  <a:t>if </a:t>
                </a:r>
                <a14:m>
                  <m:oMath xmlns:m="http://schemas.openxmlformats.org/officeDocument/2006/math">
                    <m:func>
                      <m:funcPr>
                        <m:ctrlPr>
                          <a:rPr lang="en-US" i="1">
                            <a:solidFill>
                              <a:srgbClr val="000000"/>
                            </a:solidFill>
                            <a:latin typeface="Cambria Math" panose="02040503050406030204" pitchFamily="18" charset="0"/>
                          </a:rPr>
                        </m:ctrlPr>
                      </m:funcPr>
                      <m:fName>
                        <m:r>
                          <a:rPr lang="en-US" i="1">
                            <a:solidFill>
                              <a:srgbClr val="000000"/>
                            </a:solidFill>
                            <a:latin typeface="Cambria Math" panose="02040503050406030204" pitchFamily="18" charset="0"/>
                          </a:rPr>
                          <m:t> </m:t>
                        </m:r>
                      </m:fName>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e>
                    </m:fun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oMath>
                </a14:m>
                <a:r>
                  <a:rPr lang="en-US" dirty="0">
                    <a:solidFill>
                      <a:srgbClr val="000000"/>
                    </a:solidFill>
                  </a:rPr>
                  <a:t>)</a:t>
                </a:r>
              </a:p>
              <a:p>
                <a:pPr marL="0" indent="0">
                  <a:buNone/>
                </a:pPr>
                <a:r>
                  <a:rPr lang="en-US" dirty="0">
                    <a:solidFill>
                      <a:srgbClr val="000000"/>
                    </a:solidFill>
                  </a:rPr>
                  <a:t>		{	f2[j] =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oMath>
                </a14:m>
                <a:endParaRPr lang="en-US" dirty="0">
                  <a:solidFill>
                    <a:srgbClr val="000000"/>
                  </a:solidFill>
                </a:endParaRPr>
              </a:p>
              <a:p>
                <a:pPr marL="0" indent="0">
                  <a:buNone/>
                </a:pPr>
                <a:r>
                  <a:rPr lang="en-US" dirty="0">
                    <a:solidFill>
                      <a:srgbClr val="000000"/>
                    </a:solidFill>
                  </a:rPr>
                  <a:t>			l2[j] = 2</a:t>
                </a:r>
              </a:p>
              <a:p>
                <a:pPr marL="0" indent="0">
                  <a:buNone/>
                </a:pPr>
                <a:r>
                  <a:rPr lang="en-US" dirty="0">
                    <a:solidFill>
                      <a:srgbClr val="000000"/>
                    </a:solidFill>
                  </a:rPr>
                  <a:t>		}</a:t>
                </a:r>
              </a:p>
              <a:p>
                <a:pPr marL="0" indent="0">
                  <a:buNone/>
                </a:pPr>
                <a:r>
                  <a:rPr lang="en-US" dirty="0">
                    <a:solidFill>
                      <a:srgbClr val="000000"/>
                    </a:solidFill>
                  </a:rPr>
                  <a:t>		else</a:t>
                </a:r>
              </a:p>
              <a:p>
                <a:pPr marL="0" indent="0">
                  <a:buNone/>
                </a:pPr>
                <a:r>
                  <a:rPr lang="en-US" dirty="0">
                    <a:solidFill>
                      <a:srgbClr val="000000"/>
                    </a:solidFill>
                  </a:rPr>
                  <a:t>		{	f2[j]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oMath>
                </a14:m>
                <a:endParaRPr lang="en-US" dirty="0">
                  <a:solidFill>
                    <a:srgbClr val="000000"/>
                  </a:solidFill>
                </a:endParaRPr>
              </a:p>
              <a:p>
                <a:pPr marL="0" indent="0">
                  <a:buNone/>
                </a:pPr>
                <a:r>
                  <a:rPr lang="en-US" dirty="0">
                    <a:solidFill>
                      <a:srgbClr val="000000"/>
                    </a:solidFill>
                  </a:rPr>
                  <a:t>			l2[j] = </a:t>
                </a:r>
              </a:p>
              <a:p>
                <a:pPr marL="0" indent="0">
                  <a:buNone/>
                </a:pPr>
                <a:r>
                  <a:rPr lang="en-US" dirty="0">
                    <a:solidFill>
                      <a:srgbClr val="000000"/>
                    </a:solidFill>
                  </a:rPr>
                  <a:t>		}</a:t>
                </a:r>
              </a:p>
              <a:p>
                <a:pPr marL="0" indent="0">
                  <a:buNone/>
                </a:pPr>
                <a:r>
                  <a:rPr lang="en-US" dirty="0">
                    <a:solidFill>
                      <a:srgbClr val="000000"/>
                    </a:solidFill>
                  </a:rPr>
                  <a:t>	}</a:t>
                </a:r>
              </a:p>
              <a:p>
                <a:pPr marL="0" indent="0">
                  <a:buNone/>
                </a:pPr>
                <a:r>
                  <a:rPr lang="en-US" dirty="0">
                    <a:solidFill>
                      <a:srgbClr val="000000"/>
                    </a:solidFill>
                  </a:rPr>
                  <a:t>	if f1[n]+x1 </a:t>
                </a:r>
                <a14:m>
                  <m:oMath xmlns:m="http://schemas.openxmlformats.org/officeDocument/2006/math">
                    <m:r>
                      <a:rPr lang="en-US" i="1">
                        <a:solidFill>
                          <a:srgbClr val="000000"/>
                        </a:solidFill>
                        <a:latin typeface="Cambria Math" panose="02040503050406030204" pitchFamily="18" charset="0"/>
                      </a:rPr>
                      <m:t>≤</m:t>
                    </m:r>
                  </m:oMath>
                </a14:m>
                <a:r>
                  <a:rPr lang="en-US" dirty="0">
                    <a:solidFill>
                      <a:srgbClr val="000000"/>
                    </a:solidFill>
                  </a:rPr>
                  <a:t> f2[n] + x2</a:t>
                </a:r>
              </a:p>
              <a:p>
                <a:pPr marL="0" indent="0">
                  <a:buNone/>
                </a:pPr>
                <a:r>
                  <a:rPr lang="en-US" dirty="0">
                    <a:solidFill>
                      <a:srgbClr val="000000"/>
                    </a:solidFill>
                  </a:rPr>
                  <a:t>		f’ = f1[n] + x1</a:t>
                </a:r>
              </a:p>
              <a:p>
                <a:pPr marL="0" indent="0">
                  <a:buNone/>
                </a:pPr>
                <a:r>
                  <a:rPr lang="en-US" dirty="0">
                    <a:solidFill>
                      <a:srgbClr val="000000"/>
                    </a:solidFill>
                  </a:rPr>
                  <a:t>		l’ = 1</a:t>
                </a:r>
              </a:p>
              <a:p>
                <a:pPr marL="0" indent="0">
                  <a:buNone/>
                </a:pPr>
                <a:r>
                  <a:rPr lang="en-US" dirty="0">
                    <a:solidFill>
                      <a:srgbClr val="000000"/>
                    </a:solidFill>
                  </a:rPr>
                  <a:t>	else</a:t>
                </a:r>
              </a:p>
              <a:p>
                <a:pPr marL="0" indent="0">
                  <a:buNone/>
                </a:pPr>
                <a:r>
                  <a:rPr lang="en-US" dirty="0">
                    <a:solidFill>
                      <a:srgbClr val="000000"/>
                    </a:solidFill>
                  </a:rPr>
                  <a:t>		f’ = f2[n] + x2</a:t>
                </a:r>
              </a:p>
              <a:p>
                <a:pPr marL="0" indent="0">
                  <a:buNone/>
                </a:pPr>
                <a:r>
                  <a:rPr lang="en-US" dirty="0">
                    <a:solidFill>
                      <a:srgbClr val="000000"/>
                    </a:solidFill>
                  </a:rPr>
                  <a:t>		l’ = 2</a:t>
                </a:r>
              </a:p>
              <a:p>
                <a:pPr marL="0" indent="0">
                  <a:buNone/>
                </a:pPr>
                <a:r>
                  <a:rPr lang="en-US" sz="2000" dirty="0">
                    <a:solidFill>
                      <a:srgbClr val="000000"/>
                    </a:solidFill>
                  </a:rPr>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B763BE7-0058-C4A1-F2CF-BB9DF2D85ADB}"/>
                  </a:ext>
                </a:extLst>
              </p:cNvPr>
              <p:cNvSpPr>
                <a:spLocks noGrp="1" noRot="1" noChangeAspect="1" noMove="1" noResize="1" noEditPoints="1" noAdjustHandles="1" noChangeArrowheads="1" noChangeShapeType="1" noTextEdit="1"/>
              </p:cNvSpPr>
              <p:nvPr>
                <p:ph idx="1"/>
              </p:nvPr>
            </p:nvSpPr>
            <p:spPr>
              <a:xfrm>
                <a:off x="838200" y="893852"/>
                <a:ext cx="10515600" cy="5456569"/>
              </a:xfrm>
              <a:blipFill>
                <a:blip r:embed="rId3"/>
                <a:stretch>
                  <a:fillRect l="-638" t="-2011" b="-223"/>
                </a:stretch>
              </a:blipFill>
            </p:spPr>
            <p:txBody>
              <a:bodyPr/>
              <a:lstStyle/>
              <a:p>
                <a:r>
                  <a:rPr lang="en-US">
                    <a:noFill/>
                  </a:rPr>
                  <a:t> </a:t>
                </a:r>
              </a:p>
            </p:txBody>
          </p:sp>
        </mc:Fallback>
      </mc:AlternateContent>
    </p:spTree>
    <p:extLst>
      <p:ext uri="{BB962C8B-B14F-4D97-AF65-F5344CB8AC3E}">
        <p14:creationId xmlns:p14="http://schemas.microsoft.com/office/powerpoint/2010/main" val="17004553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A6931-ACEC-EF54-A146-50D4C468BE9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94E065-FDED-8109-F032-3688487BA37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62873E2-2516-2382-488E-A24CD4E44E9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0382A9A-6849-CEAF-5A74-AADB8BE6284E}"/>
              </a:ext>
            </a:extLst>
          </p:cNvPr>
          <p:cNvSpPr>
            <a:spLocks noGrp="1"/>
          </p:cNvSpPr>
          <p:nvPr>
            <p:ph type="sldNum" sz="quarter" idx="12"/>
          </p:nvPr>
        </p:nvSpPr>
        <p:spPr/>
        <p:txBody>
          <a:bodyPr/>
          <a:lstStyle/>
          <a:p>
            <a:fld id="{B41E2F89-97C2-4B18-A593-8150592B5005}" type="slidenum">
              <a:rPr lang="en-US" smtClean="0"/>
              <a:t>67</a:t>
            </a:fld>
            <a:endParaRPr lang="en-US" dirty="0"/>
          </a:p>
        </p:txBody>
      </p:sp>
      <p:sp>
        <p:nvSpPr>
          <p:cNvPr id="7" name="Title 1">
            <a:extLst>
              <a:ext uri="{FF2B5EF4-FFF2-40B4-BE49-F238E27FC236}">
                <a16:creationId xmlns:a16="http://schemas.microsoft.com/office/drawing/2014/main" id="{E92C4051-F652-A916-F18C-11978684CCE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0ECDFEBE-EB50-1B8F-DCF8-FC17A67065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29640494-58E1-8CFE-7C46-6E52DC3E59C8}"/>
              </a:ext>
            </a:extLst>
          </p:cNvPr>
          <p:cNvSpPr>
            <a:spLocks noGrp="1"/>
          </p:cNvSpPr>
          <p:nvPr>
            <p:ph idx="1"/>
          </p:nvPr>
        </p:nvSpPr>
        <p:spPr>
          <a:xfrm>
            <a:off x="838200" y="893852"/>
            <a:ext cx="10515600" cy="5456569"/>
          </a:xfrm>
        </p:spPr>
        <p:txBody>
          <a:bodyPr>
            <a:normAutofit/>
          </a:bodyPr>
          <a:lstStyle/>
          <a:p>
            <a:pPr marL="0" indent="0">
              <a:buNone/>
            </a:pPr>
            <a:r>
              <a:rPr lang="en-US" dirty="0"/>
              <a:t>Topic Link:</a:t>
            </a:r>
          </a:p>
          <a:p>
            <a:r>
              <a:rPr lang="en-US" dirty="0">
                <a:hlinkClick r:id="rId3"/>
              </a:rPr>
              <a:t>DAA79: Resource Allocation Problem Multistage Graph Solution | Dynamic Programming</a:t>
            </a:r>
            <a:endParaRPr lang="en-US" dirty="0"/>
          </a:p>
          <a:p>
            <a:r>
              <a:rPr lang="fr-FR" dirty="0">
                <a:hlinkClick r:id="rId4"/>
              </a:rPr>
              <a:t>Resource Allocation </a:t>
            </a:r>
            <a:r>
              <a:rPr lang="fr-FR" dirty="0" err="1">
                <a:hlinkClick r:id="rId4"/>
              </a:rPr>
              <a:t>Problem</a:t>
            </a:r>
            <a:r>
              <a:rPr lang="fr-FR" dirty="0">
                <a:hlinkClick r:id="rId4"/>
              </a:rPr>
              <a:t> | AKTU DAA</a:t>
            </a:r>
            <a:endParaRPr lang="en-US" dirty="0"/>
          </a:p>
        </p:txBody>
      </p:sp>
    </p:spTree>
    <p:extLst>
      <p:ext uri="{BB962C8B-B14F-4D97-AF65-F5344CB8AC3E}">
        <p14:creationId xmlns:p14="http://schemas.microsoft.com/office/powerpoint/2010/main" val="34268635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CD64A-8533-2DC8-FE70-6AD526F2FC3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0BD8573-1DBD-7509-F513-DF0785CAEBC2}"/>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834DEA22-30C5-7AD8-2CEB-B75ADAA5028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C6CEBA6-D234-6417-1AD9-A22F93F3647B}"/>
              </a:ext>
            </a:extLst>
          </p:cNvPr>
          <p:cNvSpPr>
            <a:spLocks noGrp="1"/>
          </p:cNvSpPr>
          <p:nvPr>
            <p:ph type="sldNum" sz="quarter" idx="12"/>
          </p:nvPr>
        </p:nvSpPr>
        <p:spPr/>
        <p:txBody>
          <a:bodyPr/>
          <a:lstStyle/>
          <a:p>
            <a:fld id="{B41E2F89-97C2-4B18-A593-8150592B5005}" type="slidenum">
              <a:rPr lang="en-US" smtClean="0"/>
              <a:t>68</a:t>
            </a:fld>
            <a:endParaRPr lang="en-US" dirty="0"/>
          </a:p>
        </p:txBody>
      </p:sp>
      <p:sp>
        <p:nvSpPr>
          <p:cNvPr id="7" name="Title 1">
            <a:extLst>
              <a:ext uri="{FF2B5EF4-FFF2-40B4-BE49-F238E27FC236}">
                <a16:creationId xmlns:a16="http://schemas.microsoft.com/office/drawing/2014/main" id="{A4E08171-20B3-4490-ACC1-BF177862CD5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2CC459B2-B7A3-D3F0-266D-6773778552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DC8B75AF-5BF7-737C-F41D-02CFAD5C56B2}"/>
              </a:ext>
            </a:extLst>
          </p:cNvPr>
          <p:cNvSpPr>
            <a:spLocks noGrp="1"/>
          </p:cNvSpPr>
          <p:nvPr>
            <p:ph idx="1"/>
          </p:nvPr>
        </p:nvSpPr>
        <p:spPr>
          <a:xfrm>
            <a:off x="838200" y="893852"/>
            <a:ext cx="10515600" cy="5456569"/>
          </a:xfrm>
        </p:spPr>
        <p:txBody>
          <a:bodyPr>
            <a:normAutofit fontScale="70000" lnSpcReduction="20000"/>
          </a:bodyPr>
          <a:lstStyle/>
          <a:p>
            <a:pPr marL="0" indent="0">
              <a:buNone/>
            </a:pPr>
            <a:r>
              <a:rPr lang="en-US" dirty="0"/>
              <a:t>Daily Quiz:</a:t>
            </a:r>
          </a:p>
          <a:p>
            <a:pPr marL="514350" indent="-514350">
              <a:buFont typeface="+mj-lt"/>
              <a:buAutoNum type="arabicPeriod"/>
            </a:pPr>
            <a:r>
              <a:rPr lang="en-US" dirty="0"/>
              <a:t>Resource Allocation problem is solved using:</a:t>
            </a:r>
          </a:p>
          <a:p>
            <a:pPr marL="0" indent="0">
              <a:buNone/>
            </a:pPr>
            <a:r>
              <a:rPr lang="en-US" dirty="0"/>
              <a:t>	A. Greedy Algorithm</a:t>
            </a:r>
          </a:p>
          <a:p>
            <a:pPr marL="0" indent="0">
              <a:buNone/>
            </a:pPr>
            <a:r>
              <a:rPr lang="en-US" dirty="0"/>
              <a:t>	B. Divide and Conquer</a:t>
            </a:r>
          </a:p>
          <a:p>
            <a:pPr marL="0" indent="0">
              <a:buNone/>
            </a:pPr>
            <a:r>
              <a:rPr lang="en-US" dirty="0"/>
              <a:t>	C. Dynamic Programming</a:t>
            </a:r>
          </a:p>
          <a:p>
            <a:pPr marL="0" indent="0">
              <a:buNone/>
            </a:pPr>
            <a:r>
              <a:rPr lang="en-US" dirty="0"/>
              <a:t>	D. Backtracking</a:t>
            </a:r>
          </a:p>
          <a:p>
            <a:pPr marL="0" indent="0">
              <a:buNone/>
            </a:pPr>
            <a:r>
              <a:rPr lang="en-US" dirty="0"/>
              <a:t> 2.  In </a:t>
            </a:r>
            <a:r>
              <a:rPr lang="en-US" dirty="0" err="1"/>
              <a:t>dp</a:t>
            </a:r>
            <a:r>
              <a:rPr lang="en-US" dirty="0"/>
              <a:t>[</a:t>
            </a:r>
            <a:r>
              <a:rPr lang="en-US" dirty="0" err="1"/>
              <a:t>i</a:t>
            </a:r>
            <a:r>
              <a:rPr lang="en-US" dirty="0"/>
              <a:t>][j], what does j represent?</a:t>
            </a:r>
          </a:p>
          <a:p>
            <a:pPr marL="0" indent="0">
              <a:buNone/>
            </a:pPr>
            <a:r>
              <a:rPr lang="en-US" dirty="0"/>
              <a:t>	A. Number of projects</a:t>
            </a:r>
          </a:p>
          <a:p>
            <a:pPr marL="0" indent="0">
              <a:buNone/>
            </a:pPr>
            <a:r>
              <a:rPr lang="en-US" dirty="0"/>
              <a:t>	B. Total resources available</a:t>
            </a:r>
          </a:p>
          <a:p>
            <a:pPr marL="0" indent="0">
              <a:buNone/>
            </a:pPr>
            <a:r>
              <a:rPr lang="en-US" dirty="0"/>
              <a:t>	C. Profit</a:t>
            </a:r>
          </a:p>
          <a:p>
            <a:pPr marL="0" indent="0">
              <a:buNone/>
            </a:pPr>
            <a:r>
              <a:rPr lang="en-US" dirty="0"/>
              <a:t>	D. Index of resource</a:t>
            </a:r>
          </a:p>
          <a:p>
            <a:pPr marL="514350" indent="-514350">
              <a:buAutoNum type="arabicPeriod" startAt="3"/>
            </a:pPr>
            <a:r>
              <a:rPr lang="en-US" dirty="0"/>
              <a:t>What is the base case for Resource Allocation?</a:t>
            </a:r>
          </a:p>
          <a:p>
            <a:pPr marL="0" indent="0">
              <a:buNone/>
            </a:pPr>
            <a:r>
              <a:rPr lang="en-US" dirty="0"/>
              <a:t>	A. </a:t>
            </a:r>
            <a:r>
              <a:rPr lang="en-US" dirty="0" err="1"/>
              <a:t>dp</a:t>
            </a:r>
            <a:r>
              <a:rPr lang="en-US" dirty="0"/>
              <a:t>[0][j] = 0 for all j</a:t>
            </a:r>
          </a:p>
          <a:p>
            <a:pPr marL="0" indent="0">
              <a:buNone/>
            </a:pPr>
            <a:r>
              <a:rPr lang="en-US" dirty="0"/>
              <a:t>	B. </a:t>
            </a:r>
            <a:r>
              <a:rPr lang="en-US" dirty="0" err="1"/>
              <a:t>dp</a:t>
            </a:r>
            <a:r>
              <a:rPr lang="en-US" dirty="0"/>
              <a:t>[</a:t>
            </a:r>
            <a:r>
              <a:rPr lang="en-US" dirty="0" err="1"/>
              <a:t>i</a:t>
            </a:r>
            <a:r>
              <a:rPr lang="en-US" dirty="0"/>
              <a:t>][0] = 0 for all I</a:t>
            </a:r>
          </a:p>
          <a:p>
            <a:pPr marL="0" indent="0">
              <a:buNone/>
            </a:pPr>
            <a:r>
              <a:rPr lang="en-US" dirty="0"/>
              <a:t>	C. Both A and B</a:t>
            </a:r>
          </a:p>
          <a:p>
            <a:pPr marL="0" indent="0">
              <a:buNone/>
            </a:pPr>
            <a:r>
              <a:rPr lang="en-US" dirty="0"/>
              <a:t>	D. </a:t>
            </a:r>
            <a:r>
              <a:rPr lang="en-US" dirty="0" err="1"/>
              <a:t>dp</a:t>
            </a:r>
            <a:r>
              <a:rPr lang="en-US" dirty="0"/>
              <a:t>[0][0] = 1</a:t>
            </a:r>
          </a:p>
        </p:txBody>
      </p:sp>
    </p:spTree>
    <p:extLst>
      <p:ext uri="{BB962C8B-B14F-4D97-AF65-F5344CB8AC3E}">
        <p14:creationId xmlns:p14="http://schemas.microsoft.com/office/powerpoint/2010/main" val="1248349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12BB7-8156-B2C1-FAC9-3154851CDD5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B788918-91BA-5774-1D5F-DBF04730A4AE}"/>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12EE5046-F6CA-3E69-E3CC-30D48594054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E38059D-BB34-E148-CB5B-23665B719BDA}"/>
              </a:ext>
            </a:extLst>
          </p:cNvPr>
          <p:cNvSpPr>
            <a:spLocks noGrp="1"/>
          </p:cNvSpPr>
          <p:nvPr>
            <p:ph type="sldNum" sz="quarter" idx="12"/>
          </p:nvPr>
        </p:nvSpPr>
        <p:spPr/>
        <p:txBody>
          <a:bodyPr/>
          <a:lstStyle/>
          <a:p>
            <a:fld id="{B41E2F89-97C2-4B18-A593-8150592B5005}" type="slidenum">
              <a:rPr lang="en-US" smtClean="0"/>
              <a:t>69</a:t>
            </a:fld>
            <a:endParaRPr lang="en-US" dirty="0"/>
          </a:p>
        </p:txBody>
      </p:sp>
      <p:sp>
        <p:nvSpPr>
          <p:cNvPr id="7" name="Title 1">
            <a:extLst>
              <a:ext uri="{FF2B5EF4-FFF2-40B4-BE49-F238E27FC236}">
                <a16:creationId xmlns:a16="http://schemas.microsoft.com/office/drawing/2014/main" id="{3A746ECE-652B-8D48-832B-2E3DEE5F7A9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605391F7-85A6-4F5C-EB2F-585571543B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2D24F756-8C32-6C5A-A2FE-926CD6C63D9C}"/>
              </a:ext>
            </a:extLst>
          </p:cNvPr>
          <p:cNvSpPr>
            <a:spLocks noGrp="1"/>
          </p:cNvSpPr>
          <p:nvPr>
            <p:ph idx="1"/>
          </p:nvPr>
        </p:nvSpPr>
        <p:spPr>
          <a:xfrm>
            <a:off x="838200" y="893852"/>
            <a:ext cx="10515600" cy="5456569"/>
          </a:xfrm>
        </p:spPr>
        <p:txBody>
          <a:bodyPr>
            <a:normAutofit fontScale="92500"/>
          </a:bodyPr>
          <a:lstStyle/>
          <a:p>
            <a:pPr marL="0" indent="0">
              <a:buNone/>
            </a:pPr>
            <a:r>
              <a:rPr lang="en-US" dirty="0"/>
              <a:t>Daily Quiz:</a:t>
            </a:r>
          </a:p>
          <a:p>
            <a:pPr marL="514350" indent="-514350">
              <a:buAutoNum type="arabicPeriod" startAt="4"/>
            </a:pPr>
            <a:r>
              <a:rPr lang="pt-BR" dirty="0"/>
              <a:t>Time complexity of standard Resource Allocation DP:</a:t>
            </a:r>
          </a:p>
          <a:p>
            <a:pPr marL="0" indent="0">
              <a:buNone/>
            </a:pPr>
            <a:r>
              <a:rPr lang="pt-BR" dirty="0"/>
              <a:t>	A. O(M × N)</a:t>
            </a:r>
          </a:p>
          <a:p>
            <a:pPr marL="0" indent="0">
              <a:buNone/>
            </a:pPr>
            <a:r>
              <a:rPr lang="pt-BR" dirty="0"/>
              <a:t>	B. O(M × N²)</a:t>
            </a:r>
          </a:p>
          <a:p>
            <a:pPr marL="0" indent="0">
              <a:buNone/>
            </a:pPr>
            <a:r>
              <a:rPr lang="pt-BR" dirty="0"/>
              <a:t>	C. O(N³)</a:t>
            </a:r>
          </a:p>
          <a:p>
            <a:pPr marL="0" indent="0">
              <a:buNone/>
            </a:pPr>
            <a:r>
              <a:rPr lang="pt-BR" dirty="0"/>
              <a:t>	D. O(2^N)</a:t>
            </a:r>
          </a:p>
          <a:p>
            <a:pPr marL="514350" indent="-514350">
              <a:buAutoNum type="arabicPeriod" startAt="5"/>
            </a:pPr>
            <a:r>
              <a:rPr lang="en-US" dirty="0"/>
              <a:t>If profit[</a:t>
            </a:r>
            <a:r>
              <a:rPr lang="en-US" dirty="0" err="1"/>
              <a:t>i</a:t>
            </a:r>
            <a:r>
              <a:rPr lang="en-US" dirty="0"/>
              <a:t>][k] is not given, we cannot solve Resource Allocation because:</a:t>
            </a:r>
          </a:p>
          <a:p>
            <a:pPr marL="0" indent="0">
              <a:buNone/>
            </a:pPr>
            <a:r>
              <a:rPr lang="en-US" dirty="0"/>
              <a:t>	A. We don't know optimal substructure</a:t>
            </a:r>
          </a:p>
          <a:p>
            <a:pPr marL="0" indent="0">
              <a:buNone/>
            </a:pPr>
            <a:r>
              <a:rPr lang="en-US" dirty="0"/>
              <a:t>	B. We don't know profit for k resources to project I</a:t>
            </a:r>
          </a:p>
          <a:p>
            <a:pPr marL="0" indent="0">
              <a:buNone/>
            </a:pPr>
            <a:r>
              <a:rPr lang="en-US" dirty="0"/>
              <a:t>	C. DP table will be empty</a:t>
            </a:r>
          </a:p>
          <a:p>
            <a:pPr marL="0" indent="0">
              <a:buNone/>
            </a:pPr>
            <a:r>
              <a:rPr lang="en-US" dirty="0"/>
              <a:t>	D. Problem becomes NP-Complete</a:t>
            </a:r>
          </a:p>
        </p:txBody>
      </p:sp>
    </p:spTree>
    <p:extLst>
      <p:ext uri="{BB962C8B-B14F-4D97-AF65-F5344CB8AC3E}">
        <p14:creationId xmlns:p14="http://schemas.microsoft.com/office/powerpoint/2010/main" val="7141571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A615-6D33-DB6C-9012-6498EFE71D8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FAE756B-9F54-3901-C9BE-AA82784E7ED8}"/>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05625F63-92AF-2FF1-2AEE-1910CA80B9E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E918904A-411C-3628-1854-FF4B817B1CF3}"/>
              </a:ext>
            </a:extLst>
          </p:cNvPr>
          <p:cNvSpPr>
            <a:spLocks noGrp="1"/>
          </p:cNvSpPr>
          <p:nvPr>
            <p:ph type="sldNum" sz="quarter" idx="12"/>
          </p:nvPr>
        </p:nvSpPr>
        <p:spPr/>
        <p:txBody>
          <a:bodyPr/>
          <a:lstStyle/>
          <a:p>
            <a:fld id="{B41E2F89-97C2-4B18-A593-8150592B5005}" type="slidenum">
              <a:rPr lang="en-US" smtClean="0"/>
              <a:t>70</a:t>
            </a:fld>
            <a:endParaRPr lang="en-US" dirty="0"/>
          </a:p>
        </p:txBody>
      </p:sp>
      <p:sp>
        <p:nvSpPr>
          <p:cNvPr id="7" name="Title 1">
            <a:extLst>
              <a:ext uri="{FF2B5EF4-FFF2-40B4-BE49-F238E27FC236}">
                <a16:creationId xmlns:a16="http://schemas.microsoft.com/office/drawing/2014/main" id="{68C09AB6-9825-8F65-CFF8-08972F276CC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err="1"/>
              <a:t>Refrences</a:t>
            </a:r>
            <a:endParaRPr lang="en-US" sz="2400" dirty="0"/>
          </a:p>
        </p:txBody>
      </p:sp>
      <p:pic>
        <p:nvPicPr>
          <p:cNvPr id="8" name="Picture 7" descr="A black and red logo&#10;&#10;Description automatically generated">
            <a:extLst>
              <a:ext uri="{FF2B5EF4-FFF2-40B4-BE49-F238E27FC236}">
                <a16:creationId xmlns:a16="http://schemas.microsoft.com/office/drawing/2014/main" id="{34D5B692-780F-59D3-731B-060E51080F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FF2B562F-0F67-55BF-478C-6A4B716E5CB5}"/>
              </a:ext>
            </a:extLst>
          </p:cNvPr>
          <p:cNvSpPr>
            <a:spLocks noGrp="1"/>
          </p:cNvSpPr>
          <p:nvPr>
            <p:ph idx="1"/>
          </p:nvPr>
        </p:nvSpPr>
        <p:spPr>
          <a:xfrm>
            <a:off x="328773" y="893852"/>
            <a:ext cx="11527605" cy="5456569"/>
          </a:xfrm>
        </p:spPr>
        <p:txBody>
          <a:bodyPr>
            <a:normAutofit/>
          </a:bodyPr>
          <a:lstStyle/>
          <a:p>
            <a:pPr lvl="0">
              <a:lnSpc>
                <a:spcPct val="115000"/>
              </a:lnSpc>
            </a:pPr>
            <a:r>
              <a:rPr lang="en-US" dirty="0">
                <a:ea typeface="Calibri" panose="020F0502020204030204" pitchFamily="34" charset="0"/>
                <a:cs typeface="Times New Roman" panose="02020603050405020304" pitchFamily="18" charset="0"/>
              </a:rPr>
              <a:t>Thomas H. </a:t>
            </a:r>
            <a:r>
              <a:rPr lang="en-US" dirty="0" err="1">
                <a:ea typeface="Calibri" panose="020F0502020204030204" pitchFamily="34" charset="0"/>
                <a:cs typeface="Times New Roman" panose="02020603050405020304" pitchFamily="18" charset="0"/>
              </a:rPr>
              <a:t>Coreman</a:t>
            </a:r>
            <a:r>
              <a:rPr lang="en-US" dirty="0">
                <a:ea typeface="Calibri" panose="020F0502020204030204" pitchFamily="34" charset="0"/>
                <a:cs typeface="Times New Roman" panose="02020603050405020304" pitchFamily="18" charset="0"/>
              </a:rPr>
              <a:t>, Charles E. </a:t>
            </a:r>
            <a:r>
              <a:rPr lang="en-US" dirty="0" err="1">
                <a:ea typeface="Calibri" panose="020F0502020204030204" pitchFamily="34" charset="0"/>
                <a:cs typeface="Times New Roman" panose="02020603050405020304" pitchFamily="18" charset="0"/>
              </a:rPr>
              <a:t>Leiserson</a:t>
            </a:r>
            <a:r>
              <a:rPr lang="en-US" dirty="0">
                <a:ea typeface="Calibri" panose="020F0502020204030204" pitchFamily="34" charset="0"/>
                <a:cs typeface="Times New Roman" panose="02020603050405020304" pitchFamily="18" charset="0"/>
              </a:rPr>
              <a:t> and Ronald L. Rivest, “Introduction to Algorithms”, Printice Hall of India.</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E. Horowitz &amp; S Sahni, "Fundamentals of Computer Algorithms", </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Aho, Hopcraft, Ullman, “The Design and Analysis of Computer Algorithms” Pearson Education, 2008.</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LEE “Design &amp; Analysis of Algorithms(POD)”, McGraw Hill</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Richard </a:t>
            </a:r>
            <a:r>
              <a:rPr lang="en-US" dirty="0" err="1">
                <a:ea typeface="Calibri" panose="020F0502020204030204" pitchFamily="34" charset="0"/>
                <a:cs typeface="Times New Roman" panose="02020603050405020304" pitchFamily="18" charset="0"/>
              </a:rPr>
              <a:t>E.Neopolitan</a:t>
            </a:r>
            <a:r>
              <a:rPr lang="en-US" dirty="0">
                <a:ea typeface="Calibri" panose="020F0502020204030204" pitchFamily="34" charset="0"/>
                <a:cs typeface="Times New Roman" panose="02020603050405020304" pitchFamily="18" charset="0"/>
              </a:rPr>
              <a:t> ‘Foundations of Algorithms” Jones &amp; Bartlett Learning.</a:t>
            </a:r>
            <a:endParaRPr lang="en-IN" dirty="0">
              <a:ea typeface="Calibri" panose="020F0502020204030204" pitchFamily="34" charset="0"/>
              <a:cs typeface="Times New Roman" panose="02020603050405020304" pitchFamily="18" charset="0"/>
            </a:endParaRPr>
          </a:p>
          <a:p>
            <a:pPr lvl="0">
              <a:lnSpc>
                <a:spcPct val="115000"/>
              </a:lnSpc>
              <a:spcAft>
                <a:spcPts val="1000"/>
              </a:spcAft>
            </a:pPr>
            <a:r>
              <a:rPr lang="en-US" dirty="0">
                <a:ea typeface="Calibri" panose="020F0502020204030204" pitchFamily="34" charset="0"/>
                <a:cs typeface="Times New Roman" panose="02020603050405020304" pitchFamily="18" charset="0"/>
              </a:rPr>
              <a:t>Gilles Brassard and Paul Bratley, Algorithmics: Theory and Practice, Prentice Hall, 1995.</a:t>
            </a:r>
            <a:endParaRPr lang="en-IN"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71877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5C58F-11AF-5387-507F-B675DB7F0AC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BDD585-B980-CADD-E0A3-D05E08F7756F}"/>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7C05A876-A238-C4CA-92F2-666688DDD74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4854F55-F759-3289-89A1-E2F713EF7A54}"/>
              </a:ext>
            </a:extLst>
          </p:cNvPr>
          <p:cNvSpPr>
            <a:spLocks noGrp="1"/>
          </p:cNvSpPr>
          <p:nvPr>
            <p:ph type="sldNum" sz="quarter" idx="12"/>
          </p:nvPr>
        </p:nvSpPr>
        <p:spPr/>
        <p:txBody>
          <a:bodyPr/>
          <a:lstStyle/>
          <a:p>
            <a:fld id="{B41E2F89-97C2-4B18-A593-8150592B5005}" type="slidenum">
              <a:rPr lang="en-US" smtClean="0"/>
              <a:t>71</a:t>
            </a:fld>
            <a:endParaRPr lang="en-US" dirty="0"/>
          </a:p>
        </p:txBody>
      </p:sp>
      <p:sp>
        <p:nvSpPr>
          <p:cNvPr id="7" name="Title 1">
            <a:extLst>
              <a:ext uri="{FF2B5EF4-FFF2-40B4-BE49-F238E27FC236}">
                <a16:creationId xmlns:a16="http://schemas.microsoft.com/office/drawing/2014/main" id="{3101D7D0-225B-157D-80CE-6C2EE29388B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7A71A750-7A4F-0378-A76D-069523DF2A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12" name="Picture 11">
            <a:extLst>
              <a:ext uri="{FF2B5EF4-FFF2-40B4-BE49-F238E27FC236}">
                <a16:creationId xmlns:a16="http://schemas.microsoft.com/office/drawing/2014/main" id="{839AD481-AA5D-05F3-3F9A-D662A75F5198}"/>
              </a:ext>
            </a:extLst>
          </p:cNvPr>
          <p:cNvPicPr>
            <a:picLocks noChangeAspect="1"/>
          </p:cNvPicPr>
          <p:nvPr/>
        </p:nvPicPr>
        <p:blipFill>
          <a:blip r:embed="rId3"/>
          <a:stretch>
            <a:fillRect/>
          </a:stretch>
        </p:blipFill>
        <p:spPr>
          <a:xfrm>
            <a:off x="1921266" y="842481"/>
            <a:ext cx="8496729" cy="5513869"/>
          </a:xfrm>
          <a:prstGeom prst="rect">
            <a:avLst/>
          </a:prstGeom>
        </p:spPr>
      </p:pic>
    </p:spTree>
    <p:extLst>
      <p:ext uri="{BB962C8B-B14F-4D97-AF65-F5344CB8AC3E}">
        <p14:creationId xmlns:p14="http://schemas.microsoft.com/office/powerpoint/2010/main" val="2506958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4831C-C2A2-9EDF-0CBA-2AF4097DBE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46A5D0A-FE70-FAB6-508C-A45454979162}"/>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0727F1D5-5F7B-6DC7-AB23-8F0E13F18F9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DA24118-7985-138E-B644-569804C60990}"/>
              </a:ext>
            </a:extLst>
          </p:cNvPr>
          <p:cNvSpPr>
            <a:spLocks noGrp="1"/>
          </p:cNvSpPr>
          <p:nvPr>
            <p:ph type="sldNum" sz="quarter" idx="12"/>
          </p:nvPr>
        </p:nvSpPr>
        <p:spPr/>
        <p:txBody>
          <a:bodyPr/>
          <a:lstStyle/>
          <a:p>
            <a:fld id="{B41E2F89-97C2-4B18-A593-8150592B5005}" type="slidenum">
              <a:rPr lang="en-US" smtClean="0"/>
              <a:t>72</a:t>
            </a:fld>
            <a:endParaRPr lang="en-US" dirty="0"/>
          </a:p>
        </p:txBody>
      </p:sp>
      <p:sp>
        <p:nvSpPr>
          <p:cNvPr id="7" name="Title 1">
            <a:extLst>
              <a:ext uri="{FF2B5EF4-FFF2-40B4-BE49-F238E27FC236}">
                <a16:creationId xmlns:a16="http://schemas.microsoft.com/office/drawing/2014/main" id="{6CADEC15-7FA6-5AFB-EB8E-F78C1F7D142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E58679EA-E6E3-AB16-96D4-C4FB8D79BB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3" name="Picture 2">
            <a:extLst>
              <a:ext uri="{FF2B5EF4-FFF2-40B4-BE49-F238E27FC236}">
                <a16:creationId xmlns:a16="http://schemas.microsoft.com/office/drawing/2014/main" id="{760E71EE-E64E-7D5E-B4DB-2E1A5FA1E8C3}"/>
              </a:ext>
            </a:extLst>
          </p:cNvPr>
          <p:cNvPicPr>
            <a:picLocks noChangeAspect="1"/>
          </p:cNvPicPr>
          <p:nvPr/>
        </p:nvPicPr>
        <p:blipFill>
          <a:blip r:embed="rId3"/>
          <a:stretch>
            <a:fillRect/>
          </a:stretch>
        </p:blipFill>
        <p:spPr>
          <a:xfrm>
            <a:off x="2630184" y="685801"/>
            <a:ext cx="7181636" cy="5670550"/>
          </a:xfrm>
          <a:prstGeom prst="rect">
            <a:avLst/>
          </a:prstGeom>
        </p:spPr>
      </p:pic>
    </p:spTree>
    <p:extLst>
      <p:ext uri="{BB962C8B-B14F-4D97-AF65-F5344CB8AC3E}">
        <p14:creationId xmlns:p14="http://schemas.microsoft.com/office/powerpoint/2010/main" val="24485011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0658-3652-718C-9D91-FA95CC6EB3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600C9A7-07AF-64B0-13F4-411D1E103420}"/>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B47BADEB-3DB4-C5DB-6B99-31F6B6D1C08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EE69EC4-C8AB-BB35-7AFB-5E77088435BB}"/>
              </a:ext>
            </a:extLst>
          </p:cNvPr>
          <p:cNvSpPr>
            <a:spLocks noGrp="1"/>
          </p:cNvSpPr>
          <p:nvPr>
            <p:ph type="sldNum" sz="quarter" idx="12"/>
          </p:nvPr>
        </p:nvSpPr>
        <p:spPr/>
        <p:txBody>
          <a:bodyPr/>
          <a:lstStyle/>
          <a:p>
            <a:fld id="{B41E2F89-97C2-4B18-A593-8150592B5005}" type="slidenum">
              <a:rPr lang="en-US" smtClean="0"/>
              <a:t>73</a:t>
            </a:fld>
            <a:endParaRPr lang="en-US" dirty="0"/>
          </a:p>
        </p:txBody>
      </p:sp>
      <p:sp>
        <p:nvSpPr>
          <p:cNvPr id="7" name="Title 1">
            <a:extLst>
              <a:ext uri="{FF2B5EF4-FFF2-40B4-BE49-F238E27FC236}">
                <a16:creationId xmlns:a16="http://schemas.microsoft.com/office/drawing/2014/main" id="{0AE71C7B-4EDE-738F-EE4A-B08DE240DC4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0665B16D-9634-BD3A-B62C-1654ED8784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9" name="Picture 8">
            <a:extLst>
              <a:ext uri="{FF2B5EF4-FFF2-40B4-BE49-F238E27FC236}">
                <a16:creationId xmlns:a16="http://schemas.microsoft.com/office/drawing/2014/main" id="{995002BD-7011-CD9D-1DBD-B5162DD32FA8}"/>
              </a:ext>
            </a:extLst>
          </p:cNvPr>
          <p:cNvPicPr>
            <a:picLocks noChangeAspect="1"/>
          </p:cNvPicPr>
          <p:nvPr/>
        </p:nvPicPr>
        <p:blipFill>
          <a:blip r:embed="rId3"/>
          <a:stretch>
            <a:fillRect/>
          </a:stretch>
        </p:blipFill>
        <p:spPr>
          <a:xfrm>
            <a:off x="2640459" y="685800"/>
            <a:ext cx="7623424" cy="5670550"/>
          </a:xfrm>
          <a:prstGeom prst="rect">
            <a:avLst/>
          </a:prstGeom>
        </p:spPr>
      </p:pic>
    </p:spTree>
    <p:extLst>
      <p:ext uri="{BB962C8B-B14F-4D97-AF65-F5344CB8AC3E}">
        <p14:creationId xmlns:p14="http://schemas.microsoft.com/office/powerpoint/2010/main" val="15244160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8E5B0-C73C-CB0B-F6A7-E67FACC2386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369F314-CBF7-8B6E-E1A8-280808E62D83}"/>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E8C7355A-D997-0063-D969-6C7CC06B0185}"/>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D8802C9-F235-9A77-BFA2-95AFD08060CD}"/>
              </a:ext>
            </a:extLst>
          </p:cNvPr>
          <p:cNvSpPr>
            <a:spLocks noGrp="1"/>
          </p:cNvSpPr>
          <p:nvPr>
            <p:ph type="sldNum" sz="quarter" idx="12"/>
          </p:nvPr>
        </p:nvSpPr>
        <p:spPr/>
        <p:txBody>
          <a:bodyPr/>
          <a:lstStyle/>
          <a:p>
            <a:fld id="{B41E2F89-97C2-4B18-A593-8150592B5005}" type="slidenum">
              <a:rPr lang="en-US" smtClean="0"/>
              <a:t>74</a:t>
            </a:fld>
            <a:endParaRPr lang="en-US" dirty="0"/>
          </a:p>
        </p:txBody>
      </p:sp>
      <p:sp>
        <p:nvSpPr>
          <p:cNvPr id="7" name="Title 1">
            <a:extLst>
              <a:ext uri="{FF2B5EF4-FFF2-40B4-BE49-F238E27FC236}">
                <a16:creationId xmlns:a16="http://schemas.microsoft.com/office/drawing/2014/main" id="{A2FD133B-E710-2D86-C7CA-F41FFCC07EF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15197AC3-9C8D-D549-5A79-2F92C24DB1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9" name="Picture 8">
            <a:extLst>
              <a:ext uri="{FF2B5EF4-FFF2-40B4-BE49-F238E27FC236}">
                <a16:creationId xmlns:a16="http://schemas.microsoft.com/office/drawing/2014/main" id="{CE1D0496-FDA7-BDFD-977F-C08F03992DE1}"/>
              </a:ext>
            </a:extLst>
          </p:cNvPr>
          <p:cNvPicPr>
            <a:picLocks noChangeAspect="1"/>
          </p:cNvPicPr>
          <p:nvPr/>
        </p:nvPicPr>
        <p:blipFill>
          <a:blip r:embed="rId3"/>
          <a:stretch>
            <a:fillRect/>
          </a:stretch>
        </p:blipFill>
        <p:spPr>
          <a:xfrm>
            <a:off x="2311685" y="770561"/>
            <a:ext cx="7407668" cy="5681609"/>
          </a:xfrm>
          <a:prstGeom prst="rect">
            <a:avLst/>
          </a:prstGeom>
        </p:spPr>
      </p:pic>
    </p:spTree>
    <p:extLst>
      <p:ext uri="{BB962C8B-B14F-4D97-AF65-F5344CB8AC3E}">
        <p14:creationId xmlns:p14="http://schemas.microsoft.com/office/powerpoint/2010/main" val="23110683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46F64-6658-FB81-DD83-5EFD413FCDA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B25C3EF-8A44-12E8-057C-2E4C33BE186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6FE35CF7-6B6E-3E6F-D762-3B9620F6173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70BC318-817D-A9B8-2F03-43515CAF7054}"/>
              </a:ext>
            </a:extLst>
          </p:cNvPr>
          <p:cNvSpPr>
            <a:spLocks noGrp="1"/>
          </p:cNvSpPr>
          <p:nvPr>
            <p:ph type="sldNum" sz="quarter" idx="12"/>
          </p:nvPr>
        </p:nvSpPr>
        <p:spPr/>
        <p:txBody>
          <a:bodyPr/>
          <a:lstStyle/>
          <a:p>
            <a:fld id="{B41E2F89-97C2-4B18-A593-8150592B5005}" type="slidenum">
              <a:rPr lang="en-US" smtClean="0"/>
              <a:t>75</a:t>
            </a:fld>
            <a:endParaRPr lang="en-US" dirty="0"/>
          </a:p>
        </p:txBody>
      </p:sp>
      <p:sp>
        <p:nvSpPr>
          <p:cNvPr id="7" name="Title 1">
            <a:extLst>
              <a:ext uri="{FF2B5EF4-FFF2-40B4-BE49-F238E27FC236}">
                <a16:creationId xmlns:a16="http://schemas.microsoft.com/office/drawing/2014/main" id="{EDD48521-6197-7676-29CB-231D22530C2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Expected Questions for University Exam</a:t>
            </a:r>
          </a:p>
        </p:txBody>
      </p:sp>
      <p:pic>
        <p:nvPicPr>
          <p:cNvPr id="8" name="Picture 7" descr="A black and red logo&#10;&#10;Description automatically generated">
            <a:extLst>
              <a:ext uri="{FF2B5EF4-FFF2-40B4-BE49-F238E27FC236}">
                <a16:creationId xmlns:a16="http://schemas.microsoft.com/office/drawing/2014/main" id="{ED8F7FA7-61E0-65DA-8D9A-E151034014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TextBox 10">
            <a:extLst>
              <a:ext uri="{FF2B5EF4-FFF2-40B4-BE49-F238E27FC236}">
                <a16:creationId xmlns:a16="http://schemas.microsoft.com/office/drawing/2014/main" id="{BD75EB99-F646-701E-0F19-5F88D20364D0}"/>
              </a:ext>
            </a:extLst>
          </p:cNvPr>
          <p:cNvSpPr txBox="1"/>
          <p:nvPr/>
        </p:nvSpPr>
        <p:spPr>
          <a:xfrm>
            <a:off x="838200" y="1212351"/>
            <a:ext cx="10668856" cy="4832092"/>
          </a:xfrm>
          <a:prstGeom prst="rect">
            <a:avLst/>
          </a:prstGeom>
          <a:noFill/>
        </p:spPr>
        <p:txBody>
          <a:bodyPr wrap="square" rtlCol="0">
            <a:spAutoFit/>
          </a:bodyPr>
          <a:lstStyle/>
          <a:p>
            <a:pPr marL="342900" indent="-342900">
              <a:buFont typeface="+mj-lt"/>
              <a:buAutoNum type="arabicPeriod"/>
            </a:pPr>
            <a:r>
              <a:rPr lang="en-US" sz="2800" dirty="0"/>
              <a:t>Find LCS of "STONE" and "LONGEST". Show DP table and backtrack one LCS.</a:t>
            </a:r>
          </a:p>
          <a:p>
            <a:pPr marL="342900" indent="-342900">
              <a:buFont typeface="+mj-lt"/>
              <a:buAutoNum type="arabicPeriod"/>
            </a:pPr>
            <a:r>
              <a:rPr lang="en-US" sz="2800" dirty="0"/>
              <a:t>Find min multiplications for A(5×4), B(4×6), C(6×2), D(2×7). Show k values.</a:t>
            </a:r>
          </a:p>
          <a:p>
            <a:pPr marL="342900" indent="-342900">
              <a:buFont typeface="+mj-lt"/>
              <a:buAutoNum type="arabicPeriod"/>
            </a:pPr>
            <a:r>
              <a:rPr lang="en-US" sz="2800" dirty="0"/>
              <a:t>Modify LCS code to print all longest common subsequences for "AGGTAB" and "GXTXAYB".</a:t>
            </a:r>
          </a:p>
          <a:p>
            <a:pPr marL="342900" indent="-342900">
              <a:buFont typeface="+mj-lt"/>
              <a:buAutoNum type="arabicPeriod"/>
            </a:pPr>
            <a:r>
              <a:rPr lang="en-US" sz="2800" dirty="0"/>
              <a:t>If a problem can be solved by DP, it can always be solved by greedy." Justify.</a:t>
            </a:r>
          </a:p>
          <a:p>
            <a:pPr marL="342900" indent="-342900">
              <a:buFont typeface="+mj-lt"/>
              <a:buAutoNum type="arabicPeriod"/>
            </a:pPr>
            <a:r>
              <a:rPr lang="en-US" sz="2800" dirty="0"/>
              <a:t>3 projects, 5 resources. Profit table:   P = 0,2,4,6,7,8; P = 0,1,3,5,6,7; P = 0,3,5,6,7,9. Find max profit.</a:t>
            </a:r>
          </a:p>
          <a:p>
            <a:pPr marL="342900" indent="-342900">
              <a:buFont typeface="+mj-lt"/>
              <a:buAutoNum type="arabicPeriod"/>
            </a:pPr>
            <a:endParaRPr lang="en-US" sz="2800" dirty="0"/>
          </a:p>
        </p:txBody>
      </p:sp>
    </p:spTree>
    <p:extLst>
      <p:ext uri="{BB962C8B-B14F-4D97-AF65-F5344CB8AC3E}">
        <p14:creationId xmlns:p14="http://schemas.microsoft.com/office/powerpoint/2010/main" val="23341547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F0272-7DE0-F922-1AAD-A61C5BCAF86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D7BEAD4-B4AE-AD0D-0DEE-2757F951353E}"/>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63EE011A-B34C-4295-0E62-671402EC6D2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F9666AB-252C-D123-C2BC-9614CA844CEF}"/>
              </a:ext>
            </a:extLst>
          </p:cNvPr>
          <p:cNvSpPr>
            <a:spLocks noGrp="1"/>
          </p:cNvSpPr>
          <p:nvPr>
            <p:ph type="sldNum" sz="quarter" idx="12"/>
          </p:nvPr>
        </p:nvSpPr>
        <p:spPr/>
        <p:txBody>
          <a:bodyPr/>
          <a:lstStyle/>
          <a:p>
            <a:fld id="{B41E2F89-97C2-4B18-A593-8150592B5005}" type="slidenum">
              <a:rPr lang="en-US" smtClean="0"/>
              <a:t>76</a:t>
            </a:fld>
            <a:endParaRPr lang="en-US" dirty="0"/>
          </a:p>
        </p:txBody>
      </p:sp>
      <p:sp>
        <p:nvSpPr>
          <p:cNvPr id="7" name="Title 1">
            <a:extLst>
              <a:ext uri="{FF2B5EF4-FFF2-40B4-BE49-F238E27FC236}">
                <a16:creationId xmlns:a16="http://schemas.microsoft.com/office/drawing/2014/main" id="{647C1762-C7F2-7C89-472D-1661EFE043C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0C9F94DE-A776-ABA6-F0E8-99D20BDE4E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TextBox 2">
            <a:extLst>
              <a:ext uri="{FF2B5EF4-FFF2-40B4-BE49-F238E27FC236}">
                <a16:creationId xmlns:a16="http://schemas.microsoft.com/office/drawing/2014/main" id="{DA88CF34-33E3-E6A2-F55E-FB209ED9F8C5}"/>
              </a:ext>
            </a:extLst>
          </p:cNvPr>
          <p:cNvSpPr txBox="1"/>
          <p:nvPr/>
        </p:nvSpPr>
        <p:spPr>
          <a:xfrm>
            <a:off x="838200" y="1104942"/>
            <a:ext cx="10820400" cy="1815882"/>
          </a:xfrm>
          <a:prstGeom prst="rect">
            <a:avLst/>
          </a:prstGeom>
          <a:noFill/>
        </p:spPr>
        <p:txBody>
          <a:bodyPr wrap="square">
            <a:spAutoFit/>
          </a:bodyPr>
          <a:lstStyle/>
          <a:p>
            <a:r>
              <a:rPr lang="en-US" sz="2800" dirty="0"/>
              <a:t>6. W = 8, Items: (</a:t>
            </a:r>
            <a:r>
              <a:rPr lang="en-US" sz="2800" dirty="0" err="1"/>
              <a:t>wt,val</a:t>
            </a:r>
            <a:r>
              <a:rPr lang="en-US" sz="2800" dirty="0"/>
              <a:t>) = (2,3), (3,4), (4,5), (5,6). Fill DP table and find max value.</a:t>
            </a:r>
          </a:p>
          <a:p>
            <a:r>
              <a:rPr lang="en-US" sz="2800" dirty="0"/>
              <a:t>7. Find min multiplications for A(5×4), B(4×6), C(6×2), D(2×7). Show k values.</a:t>
            </a:r>
          </a:p>
        </p:txBody>
      </p:sp>
    </p:spTree>
    <p:extLst>
      <p:ext uri="{BB962C8B-B14F-4D97-AF65-F5344CB8AC3E}">
        <p14:creationId xmlns:p14="http://schemas.microsoft.com/office/powerpoint/2010/main" val="1794692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3303-17D8-7B61-2854-71B85158E1F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D6BB41E-02C8-4109-33A6-0D9B73D7B8F5}"/>
              </a:ext>
            </a:extLst>
          </p:cNvPr>
          <p:cNvSpPr>
            <a:spLocks noGrp="1"/>
          </p:cNvSpPr>
          <p:nvPr>
            <p:ph type="dt" sz="half" idx="10"/>
          </p:nvPr>
        </p:nvSpPr>
        <p:spPr/>
        <p:txBody>
          <a:bodyPr/>
          <a:lstStyle/>
          <a:p>
            <a:fld id="{4704D232-BE3F-41B3-996A-CC023BB6317F}" type="datetime1">
              <a:rPr lang="en-US" smtClean="0"/>
              <a:t>9/28/2026</a:t>
            </a:fld>
            <a:endParaRPr lang="en-US"/>
          </a:p>
        </p:txBody>
      </p:sp>
      <p:sp>
        <p:nvSpPr>
          <p:cNvPr id="5" name="Footer Placeholder 4">
            <a:extLst>
              <a:ext uri="{FF2B5EF4-FFF2-40B4-BE49-F238E27FC236}">
                <a16:creationId xmlns:a16="http://schemas.microsoft.com/office/drawing/2014/main" id="{72054A16-F7C7-872A-0A50-4B2ECDA7885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7E103E9-EFDE-4C66-EAC0-C4B140A83350}"/>
              </a:ext>
            </a:extLst>
          </p:cNvPr>
          <p:cNvSpPr>
            <a:spLocks noGrp="1"/>
          </p:cNvSpPr>
          <p:nvPr>
            <p:ph type="sldNum" sz="quarter" idx="12"/>
          </p:nvPr>
        </p:nvSpPr>
        <p:spPr/>
        <p:txBody>
          <a:bodyPr/>
          <a:lstStyle/>
          <a:p>
            <a:fld id="{B41E2F89-97C2-4B18-A593-8150592B5005}" type="slidenum">
              <a:rPr lang="en-US" smtClean="0"/>
              <a:t>77</a:t>
            </a:fld>
            <a:endParaRPr lang="en-US" dirty="0"/>
          </a:p>
        </p:txBody>
      </p:sp>
      <p:sp>
        <p:nvSpPr>
          <p:cNvPr id="7" name="Title 1">
            <a:extLst>
              <a:ext uri="{FF2B5EF4-FFF2-40B4-BE49-F238E27FC236}">
                <a16:creationId xmlns:a16="http://schemas.microsoft.com/office/drawing/2014/main" id="{94C42E06-B409-8A0A-FCB9-83A2DD6E0C1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lang="en-US" sz="2400" dirty="0"/>
          </a:p>
        </p:txBody>
      </p:sp>
      <p:pic>
        <p:nvPicPr>
          <p:cNvPr id="8" name="Picture 7" descr="A black and red logo&#10;&#10;Description automatically generated">
            <a:extLst>
              <a:ext uri="{FF2B5EF4-FFF2-40B4-BE49-F238E27FC236}">
                <a16:creationId xmlns:a16="http://schemas.microsoft.com/office/drawing/2014/main" id="{CA7B03C4-F595-58A4-5179-F642ABA2F6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TextBox 2">
            <a:extLst>
              <a:ext uri="{FF2B5EF4-FFF2-40B4-BE49-F238E27FC236}">
                <a16:creationId xmlns:a16="http://schemas.microsoft.com/office/drawing/2014/main" id="{B6CE230A-B3FE-5E03-5765-B6F2A93121B9}"/>
              </a:ext>
            </a:extLst>
          </p:cNvPr>
          <p:cNvSpPr txBox="1"/>
          <p:nvPr/>
        </p:nvSpPr>
        <p:spPr>
          <a:xfrm>
            <a:off x="427233" y="2733281"/>
            <a:ext cx="10820400" cy="769441"/>
          </a:xfrm>
          <a:prstGeom prst="rect">
            <a:avLst/>
          </a:prstGeom>
          <a:noFill/>
        </p:spPr>
        <p:txBody>
          <a:bodyPr wrap="square">
            <a:spAutoFit/>
          </a:bodyPr>
          <a:lstStyle/>
          <a:p>
            <a:pPr algn="ctr"/>
            <a:r>
              <a:rPr lang="en-US" sz="4400" dirty="0">
                <a:solidFill>
                  <a:srgbClr val="FF0000"/>
                </a:solidFill>
                <a:latin typeface="Algerian" panose="04020705040A02060702" pitchFamily="82" charset="0"/>
              </a:rPr>
              <a:t>Thank You</a:t>
            </a:r>
          </a:p>
        </p:txBody>
      </p:sp>
    </p:spTree>
    <p:extLst>
      <p:ext uri="{BB962C8B-B14F-4D97-AF65-F5344CB8AC3E}">
        <p14:creationId xmlns:p14="http://schemas.microsoft.com/office/powerpoint/2010/main" val="2928528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TotalTime>
  <Words>6625</Words>
  <Application>Microsoft Office PowerPoint</Application>
  <PresentationFormat>Widescreen</PresentationFormat>
  <Paragraphs>1118</Paragraphs>
  <Slides>77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Algerian</vt:lpstr>
      <vt:lpstr>Arial</vt:lpstr>
      <vt:lpstr>Calibri</vt:lpstr>
      <vt:lpstr>Calibri Light</vt:lpstr>
      <vt:lpstr>Cambria Math</vt:lpstr>
      <vt:lpstr>inherit</vt:lpstr>
      <vt:lpstr>Noto Serif</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Amba</dc:creator>
  <cp:lastModifiedBy>TRIPTI VERMA</cp:lastModifiedBy>
  <cp:revision>71</cp:revision>
  <dcterms:created xsi:type="dcterms:W3CDTF">2026-07-02T06:55:04Z</dcterms:created>
  <dcterms:modified xsi:type="dcterms:W3CDTF">2026-09-28T14:40:59Z</dcterms:modified>
</cp:coreProperties>
</file>